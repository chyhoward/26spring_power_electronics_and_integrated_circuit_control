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7"/>
  </p:notesMasterIdLst>
  <p:sldIdLst>
    <p:sldId id="256" r:id="rId2"/>
    <p:sldId id="258" r:id="rId3"/>
    <p:sldId id="259" r:id="rId4"/>
    <p:sldId id="271" r:id="rId5"/>
    <p:sldId id="280" r:id="rId6"/>
    <p:sldId id="286" r:id="rId7"/>
    <p:sldId id="287" r:id="rId8"/>
    <p:sldId id="277" r:id="rId9"/>
    <p:sldId id="289" r:id="rId10"/>
    <p:sldId id="290" r:id="rId11"/>
    <p:sldId id="279" r:id="rId12"/>
    <p:sldId id="282" r:id="rId13"/>
    <p:sldId id="283" r:id="rId14"/>
    <p:sldId id="262" r:id="rId15"/>
    <p:sldId id="284" r:id="rId1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enson.Liu 劉展佑" initials="B劉" lastIdx="1" clrIdx="0">
    <p:extLst>
      <p:ext uri="{19B8F6BF-5375-455C-9EA6-DF929625EA0E}">
        <p15:presenceInfo xmlns:p15="http://schemas.microsoft.com/office/powerpoint/2012/main" userId="Benson.Liu 劉展佑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01E3"/>
    <a:srgbClr val="6600FF"/>
    <a:srgbClr val="2ACA1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47021D-AF3E-2DCA-FFF8-2FA66E939F0A}" v="1" dt="2026-05-20T05:29:57.186"/>
    <p1510:client id="{E9D5C69D-0287-12B8-CC81-058D22025AC1}" v="76" dt="2026-05-20T07:24:58.97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333" autoAdjust="0"/>
    <p:restoredTop sz="92191" autoAdjust="0"/>
  </p:normalViewPr>
  <p:slideViewPr>
    <p:cSldViewPr snapToGrid="0">
      <p:cViewPr varScale="1">
        <p:scale>
          <a:sx n="102" d="100"/>
          <a:sy n="102" d="100"/>
        </p:scale>
        <p:origin x="73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nson.Liu 劉展佑" userId="S::benson.liu@powerforest.com::b91776e8-4c5a-43b1-a733-626c908ed86f" providerId="AD" clId="Web-{E9D5C69D-0287-12B8-CC81-058D22025AC1}"/>
    <pc:docChg chg="addSld delSld modSld">
      <pc:chgData name="Benson.Liu 劉展佑" userId="S::benson.liu@powerforest.com::b91776e8-4c5a-43b1-a733-626c908ed86f" providerId="AD" clId="Web-{E9D5C69D-0287-12B8-CC81-058D22025AC1}" dt="2026-05-20T07:24:58.979" v="71" actId="1076"/>
      <pc:docMkLst>
        <pc:docMk/>
      </pc:docMkLst>
      <pc:sldChg chg="modSp">
        <pc:chgData name="Benson.Liu 劉展佑" userId="S::benson.liu@powerforest.com::b91776e8-4c5a-43b1-a733-626c908ed86f" providerId="AD" clId="Web-{E9D5C69D-0287-12B8-CC81-058D22025AC1}" dt="2026-05-20T05:47:42.035" v="23"/>
        <pc:sldMkLst>
          <pc:docMk/>
          <pc:sldMk cId="1955254817" sldId="271"/>
        </pc:sldMkLst>
        <pc:graphicFrameChg chg="modGraphic">
          <ac:chgData name="Benson.Liu 劉展佑" userId="S::benson.liu@powerforest.com::b91776e8-4c5a-43b1-a733-626c908ed86f" providerId="AD" clId="Web-{E9D5C69D-0287-12B8-CC81-058D22025AC1}" dt="2026-05-20T05:47:42.035" v="23"/>
          <ac:graphicFrameMkLst>
            <pc:docMk/>
            <pc:sldMk cId="1955254817" sldId="271"/>
            <ac:graphicFrameMk id="7" creationId="{056928A8-A4F0-4364-934D-6B2C90E852AE}"/>
          </ac:graphicFrameMkLst>
        </pc:graphicFrameChg>
        <pc:graphicFrameChg chg="mod modGraphic">
          <ac:chgData name="Benson.Liu 劉展佑" userId="S::benson.liu@powerforest.com::b91776e8-4c5a-43b1-a733-626c908ed86f" providerId="AD" clId="Web-{E9D5C69D-0287-12B8-CC81-058D22025AC1}" dt="2026-05-20T05:47:36.519" v="22"/>
          <ac:graphicFrameMkLst>
            <pc:docMk/>
            <pc:sldMk cId="1955254817" sldId="271"/>
            <ac:graphicFrameMk id="8" creationId="{5C00B23D-FAE7-4449-97BE-131B97ABF3E7}"/>
          </ac:graphicFrameMkLst>
        </pc:graphicFrameChg>
      </pc:sldChg>
      <pc:sldChg chg="addSp delSp modSp">
        <pc:chgData name="Benson.Liu 劉展佑" userId="S::benson.liu@powerforest.com::b91776e8-4c5a-43b1-a733-626c908ed86f" providerId="AD" clId="Web-{E9D5C69D-0287-12B8-CC81-058D22025AC1}" dt="2026-05-20T07:24:58.979" v="71" actId="1076"/>
        <pc:sldMkLst>
          <pc:docMk/>
          <pc:sldMk cId="2222968213" sldId="285"/>
        </pc:sldMkLst>
        <pc:spChg chg="del">
          <ac:chgData name="Benson.Liu 劉展佑" userId="S::benson.liu@powerforest.com::b91776e8-4c5a-43b1-a733-626c908ed86f" providerId="AD" clId="Web-{E9D5C69D-0287-12B8-CC81-058D22025AC1}" dt="2026-05-20T07:22:06.957" v="24"/>
          <ac:spMkLst>
            <pc:docMk/>
            <pc:sldMk cId="2222968213" sldId="285"/>
            <ac:spMk id="3" creationId="{6B36907F-38F5-CD8D-DD01-F19860063840}"/>
          </ac:spMkLst>
        </pc:spChg>
        <pc:spChg chg="add del">
          <ac:chgData name="Benson.Liu 劉展佑" userId="S::benson.liu@powerforest.com::b91776e8-4c5a-43b1-a733-626c908ed86f" providerId="AD" clId="Web-{E9D5C69D-0287-12B8-CC81-058D22025AC1}" dt="2026-05-20T07:22:42.536" v="48"/>
          <ac:spMkLst>
            <pc:docMk/>
            <pc:sldMk cId="2222968213" sldId="285"/>
            <ac:spMk id="9" creationId="{5E8B0A35-3FF8-D9E8-A539-3A86FEE8D212}"/>
          </ac:spMkLst>
        </pc:spChg>
        <pc:spChg chg="add del">
          <ac:chgData name="Benson.Liu 劉展佑" userId="S::benson.liu@powerforest.com::b91776e8-4c5a-43b1-a733-626c908ed86f" providerId="AD" clId="Web-{E9D5C69D-0287-12B8-CC81-058D22025AC1}" dt="2026-05-20T07:22:42.536" v="47"/>
          <ac:spMkLst>
            <pc:docMk/>
            <pc:sldMk cId="2222968213" sldId="285"/>
            <ac:spMk id="11" creationId="{A3548ADE-E751-13E0-8910-752C15DB23AB}"/>
          </ac:spMkLst>
        </pc:spChg>
        <pc:spChg chg="add del">
          <ac:chgData name="Benson.Liu 劉展佑" userId="S::benson.liu@powerforest.com::b91776e8-4c5a-43b1-a733-626c908ed86f" providerId="AD" clId="Web-{E9D5C69D-0287-12B8-CC81-058D22025AC1}" dt="2026-05-20T07:22:42.536" v="46"/>
          <ac:spMkLst>
            <pc:docMk/>
            <pc:sldMk cId="2222968213" sldId="285"/>
            <ac:spMk id="13" creationId="{48BBE204-2774-84EE-B7F2-FA53FA8C6A86}"/>
          </ac:spMkLst>
        </pc:spChg>
        <pc:spChg chg="add del">
          <ac:chgData name="Benson.Liu 劉展佑" userId="S::benson.liu@powerforest.com::b91776e8-4c5a-43b1-a733-626c908ed86f" providerId="AD" clId="Web-{E9D5C69D-0287-12B8-CC81-058D22025AC1}" dt="2026-05-20T07:22:42.536" v="45"/>
          <ac:spMkLst>
            <pc:docMk/>
            <pc:sldMk cId="2222968213" sldId="285"/>
            <ac:spMk id="15" creationId="{EF026C9E-5587-A545-336F-043E22247785}"/>
          </ac:spMkLst>
        </pc:spChg>
        <pc:spChg chg="add del">
          <ac:chgData name="Benson.Liu 劉展佑" userId="S::benson.liu@powerforest.com::b91776e8-4c5a-43b1-a733-626c908ed86f" providerId="AD" clId="Web-{E9D5C69D-0287-12B8-CC81-058D22025AC1}" dt="2026-05-20T07:22:42.536" v="44"/>
          <ac:spMkLst>
            <pc:docMk/>
            <pc:sldMk cId="2222968213" sldId="285"/>
            <ac:spMk id="17" creationId="{AD5C9AAC-2DA8-A09B-3F02-401ECB8318B4}"/>
          </ac:spMkLst>
        </pc:spChg>
        <pc:spChg chg="add del">
          <ac:chgData name="Benson.Liu 劉展佑" userId="S::benson.liu@powerforest.com::b91776e8-4c5a-43b1-a733-626c908ed86f" providerId="AD" clId="Web-{E9D5C69D-0287-12B8-CC81-058D22025AC1}" dt="2026-05-20T07:22:42.536" v="43"/>
          <ac:spMkLst>
            <pc:docMk/>
            <pc:sldMk cId="2222968213" sldId="285"/>
            <ac:spMk id="19" creationId="{E82DC0E0-7D66-7376-ED9C-FA616DB74AB7}"/>
          </ac:spMkLst>
        </pc:spChg>
        <pc:spChg chg="add del mod">
          <ac:chgData name="Benson.Liu 劉展佑" userId="S::benson.liu@powerforest.com::b91776e8-4c5a-43b1-a733-626c908ed86f" providerId="AD" clId="Web-{E9D5C69D-0287-12B8-CC81-058D22025AC1}" dt="2026-05-20T07:23:17.350" v="66"/>
          <ac:spMkLst>
            <pc:docMk/>
            <pc:sldMk cId="2222968213" sldId="285"/>
            <ac:spMk id="21" creationId="{4E60D716-9361-F966-AF04-4F17CD2A572A}"/>
          </ac:spMkLst>
        </pc:spChg>
        <pc:spChg chg="add del mod">
          <ac:chgData name="Benson.Liu 劉展佑" userId="S::benson.liu@powerforest.com::b91776e8-4c5a-43b1-a733-626c908ed86f" providerId="AD" clId="Web-{E9D5C69D-0287-12B8-CC81-058D22025AC1}" dt="2026-05-20T07:23:10.006" v="64"/>
          <ac:spMkLst>
            <pc:docMk/>
            <pc:sldMk cId="2222968213" sldId="285"/>
            <ac:spMk id="23" creationId="{1A11AF41-E845-1D59-4705-142CC5BBBD46}"/>
          </ac:spMkLst>
        </pc:spChg>
        <pc:spChg chg="add mod">
          <ac:chgData name="Benson.Liu 劉展佑" userId="S::benson.liu@powerforest.com::b91776e8-4c5a-43b1-a733-626c908ed86f" providerId="AD" clId="Web-{E9D5C69D-0287-12B8-CC81-058D22025AC1}" dt="2026-05-20T07:23:16.194" v="65" actId="1076"/>
          <ac:spMkLst>
            <pc:docMk/>
            <pc:sldMk cId="2222968213" sldId="285"/>
            <ac:spMk id="25" creationId="{E60AB0E0-29C7-CBA1-5A86-3F01139035AA}"/>
          </ac:spMkLst>
        </pc:spChg>
        <pc:spChg chg="add mod">
          <ac:chgData name="Benson.Liu 劉展佑" userId="S::benson.liu@powerforest.com::b91776e8-4c5a-43b1-a733-626c908ed86f" providerId="AD" clId="Web-{E9D5C69D-0287-12B8-CC81-058D22025AC1}" dt="2026-05-20T07:23:22.413" v="67" actId="1076"/>
          <ac:spMkLst>
            <pc:docMk/>
            <pc:sldMk cId="2222968213" sldId="285"/>
            <ac:spMk id="27" creationId="{44AC43F3-296D-AFB3-97A7-A0FE1B596E19}"/>
          </ac:spMkLst>
        </pc:spChg>
        <pc:spChg chg="add mod">
          <ac:chgData name="Benson.Liu 劉展佑" userId="S::benson.liu@powerforest.com::b91776e8-4c5a-43b1-a733-626c908ed86f" providerId="AD" clId="Web-{E9D5C69D-0287-12B8-CC81-058D22025AC1}" dt="2026-05-20T07:23:31.585" v="70" actId="1076"/>
          <ac:spMkLst>
            <pc:docMk/>
            <pc:sldMk cId="2222968213" sldId="285"/>
            <ac:spMk id="29" creationId="{79C9B6D3-C765-34CA-93BB-128B9D4B5B7C}"/>
          </ac:spMkLst>
        </pc:spChg>
        <pc:spChg chg="add mod">
          <ac:chgData name="Benson.Liu 劉展佑" userId="S::benson.liu@powerforest.com::b91776e8-4c5a-43b1-a733-626c908ed86f" providerId="AD" clId="Web-{E9D5C69D-0287-12B8-CC81-058D22025AC1}" dt="2026-05-20T07:24:58.979" v="71" actId="1076"/>
          <ac:spMkLst>
            <pc:docMk/>
            <pc:sldMk cId="2222968213" sldId="285"/>
            <ac:spMk id="31" creationId="{C101E21E-185D-9686-9F2B-0EB8DB55157E}"/>
          </ac:spMkLst>
        </pc:spChg>
        <pc:picChg chg="add mod ord">
          <ac:chgData name="Benson.Liu 劉展佑" userId="S::benson.liu@powerforest.com::b91776e8-4c5a-43b1-a733-626c908ed86f" providerId="AD" clId="Web-{E9D5C69D-0287-12B8-CC81-058D22025AC1}" dt="2026-05-20T07:22:32.301" v="35" actId="1076"/>
          <ac:picMkLst>
            <pc:docMk/>
            <pc:sldMk cId="2222968213" sldId="285"/>
            <ac:picMk id="2" creationId="{1BEB2A60-9420-98AF-DFE8-1B59772BB907}"/>
          </ac:picMkLst>
        </pc:picChg>
        <pc:picChg chg="add del">
          <ac:chgData name="Benson.Liu 劉展佑" userId="S::benson.liu@powerforest.com::b91776e8-4c5a-43b1-a733-626c908ed86f" providerId="AD" clId="Web-{E9D5C69D-0287-12B8-CC81-058D22025AC1}" dt="2026-05-20T07:22:42.536" v="49"/>
          <ac:picMkLst>
            <pc:docMk/>
            <pc:sldMk cId="2222968213" sldId="285"/>
            <ac:picMk id="7" creationId="{686206E1-6537-7D03-24B2-A86F153C79F0}"/>
          </ac:picMkLst>
        </pc:picChg>
      </pc:sldChg>
      <pc:sldChg chg="add del">
        <pc:chgData name="Benson.Liu 劉展佑" userId="S::benson.liu@powerforest.com::b91776e8-4c5a-43b1-a733-626c908ed86f" providerId="AD" clId="Web-{E9D5C69D-0287-12B8-CC81-058D22025AC1}" dt="2026-05-20T07:22:49.646" v="51"/>
        <pc:sldMkLst>
          <pc:docMk/>
          <pc:sldMk cId="3037639399" sldId="286"/>
        </pc:sldMkLst>
      </pc:sldChg>
    </pc:docChg>
  </pc:docChgLst>
  <pc:docChgLst>
    <pc:chgData name="Benson.Liu 劉展佑" userId="S::benson.liu@powerforest.com::b91776e8-4c5a-43b1-a733-626c908ed86f" providerId="AD" clId="Web-{0447021D-AF3E-2DCA-FFF8-2FA66E939F0A}"/>
    <pc:docChg chg="delSld">
      <pc:chgData name="Benson.Liu 劉展佑" userId="S::benson.liu@powerforest.com::b91776e8-4c5a-43b1-a733-626c908ed86f" providerId="AD" clId="Web-{0447021D-AF3E-2DCA-FFF8-2FA66E939F0A}" dt="2026-05-20T05:29:57.186" v="0"/>
      <pc:docMkLst>
        <pc:docMk/>
      </pc:docMkLst>
      <pc:sldChg chg="del">
        <pc:chgData name="Benson.Liu 劉展佑" userId="S::benson.liu@powerforest.com::b91776e8-4c5a-43b1-a733-626c908ed86f" providerId="AD" clId="Web-{0447021D-AF3E-2DCA-FFF8-2FA66E939F0A}" dt="2026-05-20T05:29:57.186" v="0"/>
        <pc:sldMkLst>
          <pc:docMk/>
          <pc:sldMk cId="2519298699" sldId="28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35779F-1EFE-4485-A906-EA001590265A}" type="datetimeFigureOut">
              <a:rPr lang="zh-TW" altLang="en-US" smtClean="0"/>
              <a:t>2026/6/6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02100C-E61B-46DE-8874-8E13D526CEC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196195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02100C-E61B-46DE-8874-8E13D526CECF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323155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02100C-E61B-46DE-8874-8E13D526CECF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05933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163E31C6-1C2A-4845-89E3-6FEE68952421}" type="datetime1">
              <a:rPr lang="en-US" altLang="zh-TW" smtClean="0">
                <a:solidFill>
                  <a:prstClr val="black">
                    <a:tint val="75000"/>
                  </a:prstClr>
                </a:solidFill>
                <a:latin typeface="Arial" charset="0"/>
              </a:rPr>
              <a:t>6/6/2026</a:t>
            </a:fld>
            <a:endParaRPr lang="en-US" dirty="0">
              <a:solidFill>
                <a:prstClr val="black">
                  <a:tint val="75000"/>
                </a:prstClr>
              </a:solidFill>
              <a:latin typeface="Arial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dirty="0">
              <a:solidFill>
                <a:prstClr val="black">
                  <a:tint val="75000"/>
                </a:prstClr>
              </a:solidFill>
              <a:latin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圖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37243" y="6128125"/>
            <a:ext cx="3129441" cy="604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486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653" y="63178"/>
            <a:ext cx="11764694" cy="629595"/>
          </a:xfrm>
        </p:spPr>
        <p:txBody>
          <a:bodyPr>
            <a:noAutofit/>
          </a:bodyPr>
          <a:lstStyle>
            <a:lvl1pPr>
              <a:defRPr sz="3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06017" y="924414"/>
            <a:ext cx="11579966" cy="5358590"/>
          </a:xfrm>
        </p:spPr>
        <p:txBody>
          <a:bodyPr/>
          <a:lstStyle>
            <a:lvl1pPr>
              <a:defRPr>
                <a:latin typeface="+mn-lt"/>
                <a:ea typeface="+mn-ea"/>
              </a:defRPr>
            </a:lvl1pPr>
            <a:lvl2pPr>
              <a:defRPr>
                <a:latin typeface="+mn-lt"/>
                <a:ea typeface="+mn-ea"/>
              </a:defRPr>
            </a:lvl2pPr>
            <a:lvl3pPr>
              <a:defRPr>
                <a:latin typeface="+mn-lt"/>
                <a:ea typeface="+mn-ea"/>
              </a:defRPr>
            </a:lvl3pPr>
            <a:lvl4pPr>
              <a:defRPr>
                <a:latin typeface="+mn-lt"/>
                <a:ea typeface="+mn-ea"/>
              </a:defRPr>
            </a:lvl4pPr>
            <a:lvl5pPr>
              <a:defRPr>
                <a:latin typeface="+mn-lt"/>
                <a:ea typeface="+mn-ea"/>
              </a:defRPr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83B36FF9-F2FD-472F-9F28-9BAB14879814}" type="datetime1">
              <a:rPr lang="en-US" altLang="zh-TW" smtClean="0">
                <a:solidFill>
                  <a:prstClr val="black">
                    <a:tint val="75000"/>
                  </a:prstClr>
                </a:solidFill>
                <a:latin typeface="Arial" charset="0"/>
              </a:rPr>
              <a:t>6/6/2026</a:t>
            </a:fld>
            <a:endParaRPr lang="en-US" dirty="0">
              <a:solidFill>
                <a:prstClr val="black">
                  <a:tint val="75000"/>
                </a:prstClr>
              </a:solidFill>
              <a:latin typeface="Arial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31491" y="6356352"/>
            <a:ext cx="5449453" cy="365125"/>
          </a:xfrm>
        </p:spPr>
        <p:txBody>
          <a:bodyPr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dirty="0">
              <a:solidFill>
                <a:prstClr val="black">
                  <a:tint val="75000"/>
                </a:prstClr>
              </a:solidFill>
              <a:latin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344733" y="6472171"/>
            <a:ext cx="2743200" cy="365125"/>
          </a:xfrm>
        </p:spPr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7" name="直線接點 6"/>
          <p:cNvCxnSpPr/>
          <p:nvPr userDrawn="1"/>
        </p:nvCxnSpPr>
        <p:spPr>
          <a:xfrm>
            <a:off x="65908" y="766119"/>
            <a:ext cx="1201282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圖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905" y="6514646"/>
            <a:ext cx="1449859" cy="280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641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514350">
              <a:defRPr/>
            </a:pPr>
            <a:fld id="{F11803AF-592B-4257-A081-034C072C49E3}" type="datetime1">
              <a:rPr lang="en-US" altLang="zh-TW" smtClean="0">
                <a:solidFill>
                  <a:prstClr val="black">
                    <a:tint val="75000"/>
                  </a:prstClr>
                </a:solidFill>
              </a:rPr>
              <a:t>6/6/2026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514350"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0033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514350">
              <a:defRPr/>
            </a:pPr>
            <a:fld id="{0A936868-B880-4C54-94E9-9D2CBD5F131E}" type="datetime1">
              <a:rPr lang="en-US" altLang="zh-TW" smtClean="0">
                <a:solidFill>
                  <a:prstClr val="black">
                    <a:tint val="75000"/>
                  </a:prstClr>
                </a:solidFill>
              </a:rPr>
              <a:t>6/6/2026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514350"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5377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514350">
              <a:defRPr/>
            </a:pPr>
            <a:fld id="{55162B58-7F80-4C12-8718-64E81B38B082}" type="datetime1">
              <a:rPr lang="en-US" altLang="zh-TW" smtClean="0">
                <a:solidFill>
                  <a:prstClr val="black">
                    <a:tint val="75000"/>
                  </a:prstClr>
                </a:solidFill>
              </a:rPr>
              <a:t>6/6/2026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514350"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4170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514350">
              <a:defRPr/>
            </a:pPr>
            <a:fld id="{B2D2E963-980B-4545-9A70-B0AC38981181}" type="datetime1">
              <a:rPr lang="en-US" altLang="zh-TW" smtClean="0">
                <a:solidFill>
                  <a:prstClr val="black">
                    <a:tint val="75000"/>
                  </a:prstClr>
                </a:solidFill>
              </a:rPr>
              <a:t>6/6/2026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514350"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94964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514350">
              <a:defRPr/>
            </a:pPr>
            <a:fld id="{2933A61A-76B4-4091-9561-163C5F11ED02}" type="datetime1">
              <a:rPr lang="en-US" altLang="zh-TW" smtClean="0">
                <a:solidFill>
                  <a:prstClr val="black">
                    <a:tint val="75000"/>
                  </a:prstClr>
                </a:solidFill>
              </a:rPr>
              <a:t>6/6/2026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514350"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397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514350">
              <a:defRPr/>
            </a:pPr>
            <a:fld id="{37833D00-0694-467E-A8FA-EE9D39B3C9AD}" type="datetime1">
              <a:rPr lang="en-US" altLang="zh-TW" smtClean="0">
                <a:solidFill>
                  <a:prstClr val="black">
                    <a:tint val="75000"/>
                  </a:prstClr>
                </a:solidFill>
              </a:rPr>
              <a:t>6/6/2026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514350"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36464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514350">
              <a:defRPr/>
            </a:pPr>
            <a:fld id="{85704E46-176E-4573-986F-A1A769C0F91E}" type="datetime1">
              <a:rPr lang="en-US" altLang="zh-TW" smtClean="0">
                <a:solidFill>
                  <a:prstClr val="black">
                    <a:tint val="75000"/>
                  </a:prstClr>
                </a:solidFill>
              </a:rPr>
              <a:t>6/6/2026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514350"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0438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514350">
              <a:defRPr/>
            </a:pPr>
            <a:fld id="{D4184016-4B19-4BEE-AB13-6E8811836C88}" type="datetime1">
              <a:rPr lang="en-US" altLang="zh-TW" smtClean="0">
                <a:solidFill>
                  <a:prstClr val="black">
                    <a:tint val="75000"/>
                  </a:prstClr>
                </a:solidFill>
              </a:rPr>
              <a:t>6/6/2026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514350"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7907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514350">
              <a:defRPr/>
            </a:pPr>
            <a:fld id="{25B09A94-DFE2-43CA-ABD2-1489230DBAE2}" type="datetime1">
              <a:rPr lang="en-US" altLang="zh-TW" smtClean="0">
                <a:solidFill>
                  <a:prstClr val="black">
                    <a:tint val="75000"/>
                  </a:prstClr>
                </a:solidFill>
              </a:rPr>
              <a:t>6/6/2026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514350"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8910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43FE331E-C5A7-4440-8D60-35C922ABA37D}" type="datetime1">
              <a:rPr lang="en-US" altLang="zh-TW" smtClean="0">
                <a:solidFill>
                  <a:prstClr val="black">
                    <a:tint val="75000"/>
                  </a:prstClr>
                </a:solidFill>
                <a:latin typeface="Arial" charset="0"/>
              </a:rPr>
              <a:t>6/6/2026</a:t>
            </a:fld>
            <a:endParaRPr lang="en-US" dirty="0">
              <a:solidFill>
                <a:prstClr val="black">
                  <a:tint val="75000"/>
                </a:prstClr>
              </a:solidFill>
              <a:latin typeface="Arial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de-DE" altLang="zh-TW" sz="1050" b="1">
              <a:solidFill>
                <a:prstClr val="black">
                  <a:tint val="75000"/>
                </a:prstClr>
              </a:solidFill>
              <a:latin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48F63A3B-78C7-47BE-AE5E-E10140E04643}" type="slidenum">
              <a:rPr lang="en-US" smtClean="0">
                <a:solidFill>
                  <a:prstClr val="black">
                    <a:tint val="75000"/>
                  </a:prstClr>
                </a:solidFill>
                <a:latin typeface="Arial" charset="0"/>
              </a:rPr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2184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5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0.png"/><Relationship Id="rId5" Type="http://schemas.openxmlformats.org/officeDocument/2006/relationships/image" Target="../media/image130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F329156-FD61-E59B-DE1B-F3A12526B3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>
            <a:normAutofit/>
          </a:bodyPr>
          <a:lstStyle/>
          <a:p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PEIC Final Project </a:t>
            </a:r>
            <a:b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Project plan and topics</a:t>
            </a:r>
            <a:endParaRPr lang="zh-TW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953E221-1CAD-4186-EF0F-6C668CE9E5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18498"/>
            <a:ext cx="9144000" cy="1655762"/>
          </a:xfrm>
        </p:spPr>
        <p:txBody>
          <a:bodyPr anchor="b">
            <a:normAutofit/>
          </a:bodyPr>
          <a:lstStyle/>
          <a:p>
            <a:r>
              <a:rPr lang="en-US" altLang="zh-TW" sz="2000" b="1" dirty="0">
                <a:latin typeface="Arial" panose="020B0604020202020204" pitchFamily="34" charset="0"/>
                <a:cs typeface="Arial" panose="020B0604020202020204" pitchFamily="34" charset="0"/>
              </a:rPr>
              <a:t>Group1: </a:t>
            </a:r>
            <a:r>
              <a:rPr lang="zh-TW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邱于瑄、林均翰、劉展佑、張顥譽</a:t>
            </a:r>
            <a:endParaRPr lang="en-US" altLang="zh-TW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TW" sz="2000" b="1" dirty="0">
                <a:latin typeface="Arial" panose="020B0604020202020204" pitchFamily="34" charset="0"/>
                <a:cs typeface="Arial" panose="020B0604020202020204" pitchFamily="34" charset="0"/>
              </a:rPr>
              <a:t>Presenter:</a:t>
            </a:r>
            <a:r>
              <a:rPr lang="zh-TW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邱于瑄</a:t>
            </a:r>
            <a:endParaRPr lang="en-US" altLang="zh-TW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TW" sz="2000" b="1" dirty="0">
                <a:latin typeface="Arial" panose="020B0604020202020204" pitchFamily="34" charset="0"/>
                <a:cs typeface="Arial" panose="020B0604020202020204" pitchFamily="34" charset="0"/>
              </a:rPr>
              <a:t>Date:</a:t>
            </a:r>
            <a:r>
              <a:rPr lang="zh-TW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2000" b="1" dirty="0">
                <a:latin typeface="Arial" panose="020B0604020202020204" pitchFamily="34" charset="0"/>
                <a:cs typeface="Arial" panose="020B0604020202020204" pitchFamily="34" charset="0"/>
              </a:rPr>
              <a:t>2026.06.04</a:t>
            </a:r>
            <a:endParaRPr lang="zh-TW" alt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3951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3037238-2FE0-57F4-D1F3-1FF9401C0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200" b="1" dirty="0"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  <a:endParaRPr lang="zh-TW" alt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6659133-D6AA-0540-919D-6D2C6F0A51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" altLang="zh-TW" dirty="0">
                <a:latin typeface="Arial" panose="020B0604020202020204" pitchFamily="34" charset="0"/>
                <a:cs typeface="Arial" panose="020B0604020202020204" pitchFamily="34" charset="0"/>
              </a:rPr>
              <a:t>Literature review</a:t>
            </a:r>
          </a:p>
          <a:p>
            <a:pPr>
              <a:lnSpc>
                <a:spcPct val="150000"/>
              </a:lnSpc>
            </a:pPr>
            <a:r>
              <a:rPr lang="en-US" altLang="zh-TW" dirty="0">
                <a:latin typeface="Arial" panose="020B0604020202020204" pitchFamily="34" charset="0"/>
                <a:cs typeface="Arial" panose="020B0604020202020204" pitchFamily="34" charset="0"/>
              </a:rPr>
              <a:t>Project spec.</a:t>
            </a:r>
            <a:endParaRPr lang="en" altLang="zh-TW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TW" dirty="0">
                <a:latin typeface="Arial" panose="020B0604020202020204" pitchFamily="34" charset="0"/>
                <a:cs typeface="Arial" panose="020B0604020202020204" pitchFamily="34" charset="0"/>
              </a:rPr>
              <a:t>IC subblock design and simulation</a:t>
            </a:r>
          </a:p>
          <a:p>
            <a:pPr lvl="1">
              <a:lnSpc>
                <a:spcPct val="150000"/>
              </a:lnSpc>
            </a:pPr>
            <a:r>
              <a:rPr lang="en-US" altLang="zh-TW" dirty="0">
                <a:latin typeface="Arial" panose="020B0604020202020204" pitchFamily="34" charset="0"/>
                <a:cs typeface="Arial" panose="020B0604020202020204" pitchFamily="34" charset="0"/>
              </a:rPr>
              <a:t>Operation Amplifier (folded </a:t>
            </a:r>
            <a:r>
              <a:rPr lang="en-US" altLang="zh-TW" dirty="0" err="1">
                <a:latin typeface="Arial" panose="020B0604020202020204" pitchFamily="34" charset="0"/>
                <a:cs typeface="Arial" panose="020B0604020202020204" pitchFamily="34" charset="0"/>
              </a:rPr>
              <a:t>cascoded</a:t>
            </a:r>
            <a:r>
              <a:rPr lang="en-US" altLang="zh-TW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lvl="1">
              <a:lnSpc>
                <a:spcPct val="150000"/>
              </a:lnSpc>
            </a:pPr>
            <a:r>
              <a:rPr lang="en-US" altLang="zh-TW" dirty="0">
                <a:latin typeface="Arial" panose="020B0604020202020204" pitchFamily="34" charset="0"/>
                <a:cs typeface="Arial" panose="020B0604020202020204" pitchFamily="34" charset="0"/>
              </a:rPr>
              <a:t>High-Speed Comparator</a:t>
            </a:r>
          </a:p>
          <a:p>
            <a:pPr>
              <a:lnSpc>
                <a:spcPct val="150000"/>
              </a:lnSpc>
            </a:pPr>
            <a:r>
              <a:rPr lang="en-US" altLang="zh-TW" dirty="0">
                <a:latin typeface="Arial" panose="020B0604020202020204" pitchFamily="34" charset="0"/>
                <a:cs typeface="Arial" panose="020B0604020202020204" pitchFamily="34" charset="0"/>
              </a:rPr>
              <a:t>To-do item</a:t>
            </a:r>
          </a:p>
          <a:p>
            <a:pPr>
              <a:lnSpc>
                <a:spcPct val="150000"/>
              </a:lnSpc>
            </a:pPr>
            <a:endParaRPr lang="en-US" altLang="zh-TW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endParaRPr lang="en-US" altLang="zh-TW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07AD0A6-C11F-10D3-9524-383322A8E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2</a:t>
            </a:fld>
            <a:endParaRPr lang="zh-TW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45288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8CFFC-ABFA-EEB3-7876-08CC44F9C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D55BD1A-229F-0D04-2FFA-38C1F6DCB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200" b="1" dirty="0">
                <a:latin typeface="Arial" panose="020B0604020202020204" pitchFamily="34" charset="0"/>
                <a:cs typeface="Arial" panose="020B0604020202020204" pitchFamily="34" charset="0"/>
              </a:rPr>
              <a:t>Project</a:t>
            </a:r>
            <a:endParaRPr lang="zh-TW" alt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5113569-E4DE-DF51-0379-1C4EA5B33E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US" altLang="zh-TW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Constant ON-Time </a:t>
            </a:r>
            <a:r>
              <a:rPr lang="en-US" altLang="zh-TW" sz="2400" b="1" dirty="0">
                <a:latin typeface="Arial" panose="020B0604020202020204" pitchFamily="34" charset="0"/>
                <a:cs typeface="Arial" panose="020B0604020202020204" pitchFamily="34" charset="0"/>
              </a:rPr>
              <a:t>control</a:t>
            </a:r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 for point of load (POL)</a:t>
            </a:r>
            <a:r>
              <a:rPr lang="zh-TW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buck</a:t>
            </a:r>
          </a:p>
          <a:p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Motivation</a:t>
            </a:r>
          </a:p>
          <a:p>
            <a:pPr lvl="1"/>
            <a:r>
              <a:rPr lang="en" altLang="zh-TW" dirty="0">
                <a:latin typeface="Arial" panose="020B0604020202020204" pitchFamily="34" charset="0"/>
                <a:cs typeface="Arial" panose="020B0604020202020204" pitchFamily="34" charset="0"/>
              </a:rPr>
              <a:t>Ultrafast Transient Response</a:t>
            </a:r>
          </a:p>
          <a:p>
            <a:pPr lvl="1"/>
            <a:r>
              <a:rPr lang="en" altLang="zh-TW" dirty="0">
                <a:latin typeface="Arial" panose="020B0604020202020204" pitchFamily="34" charset="0"/>
                <a:cs typeface="Arial" panose="020B0604020202020204" pitchFamily="34" charset="0"/>
              </a:rPr>
              <a:t>Simple Implementation (no current sensing resistor)</a:t>
            </a:r>
          </a:p>
          <a:p>
            <a:r>
              <a:rPr lang="en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Spec &amp; Application:</a:t>
            </a:r>
          </a:p>
          <a:p>
            <a:pPr lvl="1"/>
            <a:r>
              <a:rPr lang="en" altLang="zh-TW" dirty="0">
                <a:latin typeface="Arial" panose="020B0604020202020204" pitchFamily="34" charset="0"/>
                <a:cs typeface="Arial" panose="020B0604020202020204" pitchFamily="34" charset="0"/>
              </a:rPr>
              <a:t>Vin = 12V, Vo = 1.2V</a:t>
            </a:r>
            <a:r>
              <a:rPr lang="zh-TW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dirty="0">
                <a:latin typeface="Arial" panose="020B0604020202020204" pitchFamily="34" charset="0"/>
                <a:cs typeface="Arial" panose="020B0604020202020204" pitchFamily="34" charset="0"/>
              </a:rPr>
              <a:t>Io = 1A to 4A</a:t>
            </a:r>
            <a:endParaRPr lang="en" altLang="zh-TW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" altLang="zh-TW" dirty="0">
                <a:latin typeface="Arial" panose="020B0604020202020204" pitchFamily="34" charset="0"/>
                <a:cs typeface="Arial" panose="020B0604020202020204" pitchFamily="34" charset="0"/>
              </a:rPr>
              <a:t>CPU or GPU in mobile device</a:t>
            </a:r>
            <a:br>
              <a:rPr lang="en" altLang="zh-TW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zh-TW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64B115-BD69-F02F-36E8-436CF7692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3</a:t>
            </a:fld>
            <a:endParaRPr lang="zh-TW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DAA500E2-CD92-1832-E009-2CDB2BEF9F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108" y="3643114"/>
            <a:ext cx="5002170" cy="2533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5773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0F8D68-6942-42D1-B517-4B5CDFBA5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Spec.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85A6580-7B6C-7A1A-21CB-56A4838421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graphicFrame>
        <p:nvGraphicFramePr>
          <p:cNvPr id="7" name="表格 9">
            <a:extLst>
              <a:ext uri="{FF2B5EF4-FFF2-40B4-BE49-F238E27FC236}">
                <a16:creationId xmlns:a16="http://schemas.microsoft.com/office/drawing/2014/main" id="{056928A8-A4F0-4364-934D-6B2C90E852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6814093"/>
              </p:ext>
            </p:extLst>
          </p:nvPr>
        </p:nvGraphicFramePr>
        <p:xfrm>
          <a:off x="5667531" y="1622509"/>
          <a:ext cx="5913836" cy="3962400"/>
        </p:xfrm>
        <a:graphic>
          <a:graphicData uri="http://schemas.openxmlformats.org/drawingml/2006/table">
            <a:tbl>
              <a:tblPr firstRow="1" bandRow="1">
                <a:tableStyleId>{D03447BB-5D67-496B-8E87-E561075AD55C}</a:tableStyleId>
              </a:tblPr>
              <a:tblGrid>
                <a:gridCol w="3838472">
                  <a:extLst>
                    <a:ext uri="{9D8B030D-6E8A-4147-A177-3AD203B41FA5}">
                      <a16:colId xmlns:a16="http://schemas.microsoft.com/office/drawing/2014/main" val="2817255913"/>
                    </a:ext>
                  </a:extLst>
                </a:gridCol>
                <a:gridCol w="2075364">
                  <a:extLst>
                    <a:ext uri="{9D8B030D-6E8A-4147-A177-3AD203B41FA5}">
                      <a16:colId xmlns:a16="http://schemas.microsoft.com/office/drawing/2014/main" val="3932287041"/>
                    </a:ext>
                  </a:extLst>
                </a:gridCol>
              </a:tblGrid>
              <a:tr h="34200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Topology</a:t>
                      </a:r>
                      <a:endParaRPr lang="zh-TW" altLang="en-US" sz="20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000" b="1" kern="1200" baseline="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Buck Converter</a:t>
                      </a:r>
                      <a:endParaRPr lang="zh-TW" altLang="en-US" sz="2000" b="1" kern="1200" dirty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7147335"/>
                  </a:ext>
                </a:extLst>
              </a:tr>
              <a:tr h="34200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Input</a:t>
                      </a:r>
                      <a:r>
                        <a:rPr lang="en-US" altLang="zh-TW" sz="2000" b="1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voltage </a:t>
                      </a:r>
                      <a:r>
                        <a:rPr lang="en-US" altLang="zh-TW" sz="2000" b="1" i="1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  <a:r>
                        <a:rPr lang="en-US" altLang="zh-TW" sz="2000" b="1" i="1" baseline="-25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</a:t>
                      </a:r>
                      <a:endParaRPr lang="zh-TW" altLang="en-US" sz="2000" b="1" i="1" baseline="-250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000" b="1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12</a:t>
                      </a:r>
                      <a:r>
                        <a:rPr lang="zh-TW" altLang="en-US" sz="2000" b="1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TW" sz="2000" b="1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</a:t>
                      </a:r>
                      <a:endParaRPr lang="zh-TW" altLang="en-US" sz="2000" b="1" kern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3712623"/>
                  </a:ext>
                </a:extLst>
              </a:tr>
              <a:tr h="34200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Output</a:t>
                      </a:r>
                      <a:r>
                        <a:rPr lang="en-US" altLang="zh-TW" sz="2000" b="1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voltage </a:t>
                      </a:r>
                      <a:r>
                        <a:rPr lang="en-US" altLang="zh-TW" sz="2000" b="1" i="1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  <a:r>
                        <a:rPr lang="en-US" altLang="zh-TW" sz="2000" b="1" i="1" baseline="-25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  <a:endParaRPr lang="zh-TW" altLang="en-US" sz="2000" b="1" i="1" baseline="-250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000" b="1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1.2</a:t>
                      </a:r>
                      <a:r>
                        <a:rPr lang="zh-TW" altLang="en-US" sz="2000" b="1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TW" sz="2000" b="1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</a:t>
                      </a:r>
                      <a:endParaRPr lang="zh-TW" altLang="en-US" sz="2000" b="1" kern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7183922"/>
                  </a:ext>
                </a:extLst>
              </a:tr>
              <a:tr h="34200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Output</a:t>
                      </a:r>
                      <a:r>
                        <a:rPr lang="en-US" altLang="zh-TW" sz="2000" b="1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current I</a:t>
                      </a:r>
                      <a:r>
                        <a:rPr lang="en-US" altLang="zh-TW" sz="2000" b="1" baseline="-25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  <a:endParaRPr lang="zh-TW" altLang="en-US" sz="2000" b="1" baseline="-250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000" b="1" i="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4 A</a:t>
                      </a:r>
                      <a:endParaRPr lang="zh-TW" altLang="en-US" sz="2000" b="1" i="0" kern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661786"/>
                  </a:ext>
                </a:extLst>
              </a:tr>
              <a:tr h="34200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Inductance </a:t>
                      </a:r>
                      <a:r>
                        <a:rPr lang="en-US" altLang="zh-TW" sz="2000" b="1" i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  <a:endParaRPr lang="zh-TW" altLang="en-US" sz="2000" b="1" i="1" baseline="-250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000" b="1" i="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1.8</a:t>
                      </a:r>
                      <a:r>
                        <a:rPr lang="zh-TW" altLang="en-US" sz="2000" b="1" i="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TW" sz="2000" b="1" i="0" kern="12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μH</a:t>
                      </a:r>
                      <a:endParaRPr lang="zh-TW" altLang="en-US" sz="2000" b="1" i="0" kern="1200" baseline="-250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705953"/>
                  </a:ext>
                </a:extLst>
              </a:tr>
              <a:tr h="34200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Capacitor C</a:t>
                      </a:r>
                      <a:endParaRPr lang="zh-TW" altLang="en-US" sz="2000" b="1" i="1" baseline="-250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000" b="1" i="0" kern="1200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800 </a:t>
                      </a:r>
                      <a:r>
                        <a:rPr lang="en-US" altLang="zh-TW" sz="2000" b="1" i="0" kern="1200" baseline="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uF</a:t>
                      </a:r>
                      <a:endParaRPr lang="zh-TW" altLang="en-US" sz="2000" b="1" i="0" kern="1200" baseline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9198080"/>
                  </a:ext>
                </a:extLst>
              </a:tr>
              <a:tr h="34200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ESR</a:t>
                      </a:r>
                      <a:endParaRPr lang="zh-TW" altLang="en-US" sz="2000" b="1" i="1" baseline="-250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1" i="0" kern="1200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175 u</a:t>
                      </a:r>
                      <a:r>
                        <a:rPr lang="el-GR" altLang="zh-TW" sz="2000" b="1" i="0" kern="1200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Ω</a:t>
                      </a:r>
                      <a:endParaRPr lang="zh-TW" altLang="en-US" sz="2000" b="1" i="0" kern="1200" baseline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2493102"/>
                  </a:ext>
                </a:extLst>
              </a:tr>
              <a:tr h="34200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External ramp slope</a:t>
                      </a:r>
                      <a:r>
                        <a:rPr lang="en-US" altLang="zh-TW" sz="2000" b="1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TW" sz="2000" b="1" i="1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  <a:r>
                        <a:rPr lang="en-US" altLang="zh-TW" sz="2000" b="1" i="1" baseline="-25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 </a:t>
                      </a:r>
                      <a:r>
                        <a:rPr lang="en-US" altLang="zh-TW" sz="2000" b="1" i="1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 3S</a:t>
                      </a:r>
                      <a:r>
                        <a:rPr lang="en-US" altLang="zh-TW" sz="2000" b="1" i="1" baseline="-25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  <a:endParaRPr lang="zh-TW" altLang="en-US" sz="2000" b="1" i="1" baseline="-250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1" i="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350 mV/us</a:t>
                      </a:r>
                      <a:endParaRPr lang="zh-TW" altLang="en-US" sz="2000" b="1" i="0" kern="1200" baseline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7884183"/>
                  </a:ext>
                </a:extLst>
              </a:tr>
              <a:tr h="34200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Switching</a:t>
                      </a:r>
                      <a:r>
                        <a:rPr lang="en-US" altLang="zh-TW" sz="2000" b="1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frequency </a:t>
                      </a:r>
                      <a:r>
                        <a:rPr lang="en-US" altLang="zh-TW" sz="2000" b="1" i="1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  <a:r>
                        <a:rPr lang="en-US" altLang="zh-TW" sz="2000" b="1" i="1" baseline="-25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  <a:endParaRPr lang="zh-TW" altLang="en-US" sz="2000" b="1" i="1" baseline="-250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000" b="1" i="0" kern="1200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300</a:t>
                      </a:r>
                      <a:r>
                        <a:rPr lang="zh-TW" altLang="en-US" sz="2000" b="1" i="0" kern="1200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TW" sz="2000" b="1" i="0" kern="1200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kHz</a:t>
                      </a:r>
                      <a:endParaRPr lang="zh-TW" altLang="en-US" sz="2000" b="1" i="0" kern="1200" baseline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5646280"/>
                  </a:ext>
                </a:extLst>
              </a:tr>
              <a:tr h="34200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Output Voltage Ripple</a:t>
                      </a:r>
                      <a:endParaRPr lang="zh-TW" altLang="en-US" sz="2000" b="1" kern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lang="en-US" altLang="zh-TW" sz="2000" b="1" i="0" kern="1200" baseline="0" dirty="0">
                          <a:solidFill>
                            <a:schemeClr val="bg1"/>
                          </a:solidFill>
                          <a:latin typeface="Arial"/>
                          <a:ea typeface="+mn-ea"/>
                          <a:cs typeface="Arial"/>
                        </a:rPr>
                        <a:t>0.0012 V</a:t>
                      </a:r>
                      <a:endParaRPr lang="zh-TW" altLang="en-US" sz="2000" b="1" i="0" kern="1200" baseline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4622949"/>
                  </a:ext>
                </a:extLst>
              </a:tr>
            </a:tbl>
          </a:graphicData>
        </a:graphic>
      </p:graphicFrame>
      <p:pic>
        <p:nvPicPr>
          <p:cNvPr id="4" name="圖片 3">
            <a:extLst>
              <a:ext uri="{FF2B5EF4-FFF2-40B4-BE49-F238E27FC236}">
                <a16:creationId xmlns:a16="http://schemas.microsoft.com/office/drawing/2014/main" id="{1CB0C2D5-5FCC-6CDC-D7DB-B0DC61FD09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17" t="2017"/>
          <a:stretch>
            <a:fillRect/>
          </a:stretch>
        </p:blipFill>
        <p:spPr>
          <a:xfrm>
            <a:off x="213653" y="2381611"/>
            <a:ext cx="5453878" cy="2379338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5A2A00A4-934B-4A14-8C4D-D70551C8F85B}"/>
              </a:ext>
            </a:extLst>
          </p:cNvPr>
          <p:cNvSpPr txBox="1"/>
          <p:nvPr/>
        </p:nvSpPr>
        <p:spPr>
          <a:xfrm>
            <a:off x="2035586" y="4921811"/>
            <a:ext cx="18100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b="1" dirty="0"/>
              <a:t>Our Topology</a:t>
            </a:r>
            <a:endParaRPr lang="zh-TW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9552548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EFED1-09D5-8F93-EC70-B5CD9DF64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3ACD477F-D0B6-D2BE-0E15-2ACF620EED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2146" y="1422410"/>
            <a:ext cx="7727707" cy="5188801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C1186942-754F-B21A-A3FF-E4C087C41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103" y="0"/>
            <a:ext cx="11479794" cy="769546"/>
          </a:xfrm>
        </p:spPr>
        <p:txBody>
          <a:bodyPr>
            <a:normAutofit/>
          </a:bodyPr>
          <a:lstStyle/>
          <a:p>
            <a:r>
              <a:rPr lang="en-US" altLang="zh-TW" sz="3200" b="1" dirty="0">
                <a:latin typeface="Arial" panose="020B0604020202020204" pitchFamily="34" charset="0"/>
                <a:cs typeface="Arial" panose="020B0604020202020204" pitchFamily="34" charset="0"/>
              </a:rPr>
              <a:t>Transistor-level subblock</a:t>
            </a:r>
            <a:endParaRPr lang="zh-TW" alt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7400548-1A26-647A-62B4-2ED1E85C0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6352"/>
            <a:ext cx="3225297" cy="365125"/>
          </a:xfrm>
        </p:spPr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5</a:t>
            </a:fld>
            <a:endParaRPr lang="zh-TW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D6D8802D-6767-8FDB-DBBA-0063AFFD35FC}"/>
              </a:ext>
            </a:extLst>
          </p:cNvPr>
          <p:cNvSpPr txBox="1"/>
          <p:nvPr/>
        </p:nvSpPr>
        <p:spPr>
          <a:xfrm>
            <a:off x="7964306" y="3107376"/>
            <a:ext cx="18380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altLang="zh-TW" sz="2000" b="1" dirty="0">
                <a:solidFill>
                  <a:schemeClr val="bg1"/>
                </a:solidFill>
                <a:highlight>
                  <a:srgbClr val="0000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OPA</a:t>
            </a:r>
            <a:endParaRPr lang="zh-TW" altLang="en-US" sz="2000" dirty="0">
              <a:solidFill>
                <a:schemeClr val="bg1"/>
              </a:solidFill>
              <a:highlight>
                <a:srgbClr val="000000"/>
              </a:highlight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4DE61F2A-3A83-24F5-B95A-2CD60E246F9F}"/>
              </a:ext>
            </a:extLst>
          </p:cNvPr>
          <p:cNvSpPr txBox="1"/>
          <p:nvPr/>
        </p:nvSpPr>
        <p:spPr>
          <a:xfrm>
            <a:off x="1116903" y="3616701"/>
            <a:ext cx="335280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000" b="1" dirty="0">
                <a:solidFill>
                  <a:schemeClr val="bg1"/>
                </a:solidFill>
                <a:highlight>
                  <a:srgbClr val="000000"/>
                </a:highlight>
              </a:rPr>
              <a:t>High Speed Comparator</a:t>
            </a:r>
            <a:endParaRPr lang="zh-TW" altLang="en-US" sz="2000" b="1" dirty="0">
              <a:solidFill>
                <a:schemeClr val="bg1"/>
              </a:solidFill>
              <a:highlight>
                <a:srgbClr val="000000"/>
              </a:highlight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8AA2FADA-4D6C-0852-2E2A-58582429CC02}"/>
              </a:ext>
            </a:extLst>
          </p:cNvPr>
          <p:cNvSpPr txBox="1"/>
          <p:nvPr/>
        </p:nvSpPr>
        <p:spPr>
          <a:xfrm>
            <a:off x="6314245" y="6071147"/>
            <a:ext cx="21205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altLang="zh-TW" sz="2000" b="1" dirty="0">
                <a:solidFill>
                  <a:schemeClr val="bg1"/>
                </a:solidFill>
                <a:highlight>
                  <a:srgbClr val="0000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Current Source</a:t>
            </a:r>
            <a:endParaRPr lang="zh-TW" altLang="en-US" sz="2000" dirty="0">
              <a:solidFill>
                <a:schemeClr val="bg1"/>
              </a:solidFill>
              <a:highlight>
                <a:srgbClr val="000000"/>
              </a:highlight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50C85C5F-2687-2A39-319B-F619F70DFDBB}"/>
              </a:ext>
            </a:extLst>
          </p:cNvPr>
          <p:cNvSpPr txBox="1"/>
          <p:nvPr/>
        </p:nvSpPr>
        <p:spPr>
          <a:xfrm>
            <a:off x="632564" y="1196236"/>
            <a:ext cx="21607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/>
              <a:t>Process: N16ADFP</a:t>
            </a:r>
            <a:endParaRPr lang="zh-TW" altLang="en-US" b="1" dirty="0"/>
          </a:p>
        </p:txBody>
      </p:sp>
    </p:spTree>
    <p:extLst>
      <p:ext uri="{BB962C8B-B14F-4D97-AF65-F5344CB8AC3E}">
        <p14:creationId xmlns:p14="http://schemas.microsoft.com/office/powerpoint/2010/main" val="13866465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6ACF1-1A2F-2DA7-859B-FFF88207B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0DD74D3-D7F6-EC05-97C1-8E9E19741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103" y="0"/>
            <a:ext cx="11479794" cy="769546"/>
          </a:xfrm>
        </p:spPr>
        <p:txBody>
          <a:bodyPr>
            <a:normAutofit/>
          </a:bodyPr>
          <a:lstStyle/>
          <a:p>
            <a:r>
              <a:rPr lang="en-US" altLang="zh-TW" sz="3200" b="1" dirty="0">
                <a:latin typeface="Arial" panose="020B0604020202020204" pitchFamily="34" charset="0"/>
                <a:cs typeface="Arial" panose="020B0604020202020204" pitchFamily="34" charset="0"/>
              </a:rPr>
              <a:t>High Speed Comparator </a:t>
            </a:r>
            <a:endParaRPr lang="zh-TW" alt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FAE8CED-3F41-478F-F6FE-BFE3CF57D3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6103" y="977774"/>
            <a:ext cx="11479794" cy="5199189"/>
          </a:xfrm>
        </p:spPr>
        <p:txBody>
          <a:bodyPr>
            <a:normAutofit/>
          </a:bodyPr>
          <a:lstStyle/>
          <a:p>
            <a:r>
              <a:rPr lang="en-US" altLang="zh-TW" b="1" dirty="0">
                <a:cs typeface="Arial" panose="020B0604020202020204" pitchFamily="34" charset="0"/>
              </a:rPr>
              <a:t>Spec: </a:t>
            </a:r>
          </a:p>
          <a:p>
            <a:pPr lvl="1"/>
            <a:r>
              <a:rPr lang="en-US" altLang="zh-TW" sz="2000" b="1" dirty="0"/>
              <a:t>Hysteresis: 5 mV -</a:t>
            </a:r>
            <a:r>
              <a:rPr lang="zh-TW" altLang="en-US" sz="2000" b="1" dirty="0"/>
              <a:t> </a:t>
            </a:r>
            <a:r>
              <a:rPr lang="en-US" altLang="zh-TW" sz="2000" b="1" dirty="0"/>
              <a:t>20 mV, Propagation Delay: &lt;1ns</a:t>
            </a:r>
          </a:p>
          <a:p>
            <a:pPr lvl="1"/>
            <a:r>
              <a:rPr lang="en-US" altLang="zh-TW" sz="2000" b="1" dirty="0">
                <a:cs typeface="Arial" panose="020B0604020202020204" pitchFamily="34" charset="0"/>
              </a:rPr>
              <a:t>VDD = 1V, </a:t>
            </a:r>
            <a:r>
              <a:rPr lang="en-US" altLang="zh-TW" sz="2000" b="1" dirty="0" err="1">
                <a:cs typeface="Arial" panose="020B0604020202020204" pitchFamily="34" charset="0"/>
              </a:rPr>
              <a:t>Iref</a:t>
            </a:r>
            <a:r>
              <a:rPr lang="en-US" altLang="zh-TW" sz="2000" b="1" dirty="0">
                <a:cs typeface="Arial" panose="020B0604020202020204" pitchFamily="34" charset="0"/>
              </a:rPr>
              <a:t> = 60uA</a:t>
            </a:r>
            <a:br>
              <a:rPr lang="en" altLang="zh-TW" sz="2800" b="1" dirty="0">
                <a:cs typeface="Arial" panose="020B0604020202020204" pitchFamily="34" charset="0"/>
              </a:rPr>
            </a:br>
            <a:endParaRPr lang="zh-TW" altLang="en-US" sz="2800" b="1" dirty="0">
              <a:cs typeface="Arial" panose="020B0604020202020204" pitchFamily="34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6880421-0DBE-2BE5-1E0C-42AA82751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6352"/>
            <a:ext cx="3225297" cy="365125"/>
          </a:xfrm>
        </p:spPr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6</a:t>
            </a:fld>
            <a:endParaRPr lang="zh-TW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24EFA06-9BEB-E770-F0D8-5D2A3E4743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386" y="2136058"/>
            <a:ext cx="7074329" cy="4249133"/>
          </a:xfrm>
          <a:prstGeom prst="rect">
            <a:avLst/>
          </a:prstGeom>
        </p:spPr>
      </p:pic>
      <p:pic>
        <p:nvPicPr>
          <p:cNvPr id="7" name="圖片 6" descr="Comparator circuit schematic. | Download Scientific Diagram">
            <a:extLst>
              <a:ext uri="{FF2B5EF4-FFF2-40B4-BE49-F238E27FC236}">
                <a16:creationId xmlns:a16="http://schemas.microsoft.com/office/drawing/2014/main" id="{9129764D-18B4-B399-9D52-4685AF5965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2288" y="2880987"/>
            <a:ext cx="3498937" cy="2220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3334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FE147-AD17-69CA-0FB7-CDD271968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D122A25-99F8-362B-EAD3-AEA243013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103" y="0"/>
            <a:ext cx="11479794" cy="769546"/>
          </a:xfrm>
        </p:spPr>
        <p:txBody>
          <a:bodyPr>
            <a:normAutofit/>
          </a:bodyPr>
          <a:lstStyle/>
          <a:p>
            <a:r>
              <a:rPr lang="en-US" altLang="zh-TW" sz="3200" b="1" dirty="0">
                <a:latin typeface="Arial" panose="020B0604020202020204" pitchFamily="34" charset="0"/>
                <a:cs typeface="Arial" panose="020B0604020202020204" pitchFamily="34" charset="0"/>
              </a:rPr>
              <a:t>High Speed Comparator - Simulation Result </a:t>
            </a:r>
            <a:endParaRPr lang="zh-TW" alt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E6EAD30-B106-9C7B-14B6-BDE3E4310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6352"/>
            <a:ext cx="3225297" cy="365125"/>
          </a:xfrm>
        </p:spPr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7</a:t>
            </a:fld>
            <a:endParaRPr lang="zh-TW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BA807937-8C2E-6C46-4649-06BDB9D1F2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8007" y="872612"/>
            <a:ext cx="7215985" cy="2962697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544903DE-B6DE-91D7-58BF-BB1AB0F2721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442"/>
          <a:stretch>
            <a:fillRect/>
          </a:stretch>
        </p:blipFill>
        <p:spPr>
          <a:xfrm>
            <a:off x="1116192" y="3882981"/>
            <a:ext cx="5373776" cy="2473372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C2BA57C0-84D8-A534-EE48-9C52C44A4E3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768" r="21200"/>
          <a:stretch>
            <a:fillRect/>
          </a:stretch>
        </p:blipFill>
        <p:spPr>
          <a:xfrm>
            <a:off x="6489969" y="3879207"/>
            <a:ext cx="4445514" cy="2473373"/>
          </a:xfrm>
          <a:prstGeom prst="rect">
            <a:avLst/>
          </a:prstGeom>
        </p:spPr>
      </p:pic>
      <p:sp>
        <p:nvSpPr>
          <p:cNvPr id="18" name="文字方塊 17">
            <a:extLst>
              <a:ext uri="{FF2B5EF4-FFF2-40B4-BE49-F238E27FC236}">
                <a16:creationId xmlns:a16="http://schemas.microsoft.com/office/drawing/2014/main" id="{95510C88-6CB8-F5D8-B7AA-FC25419A5462}"/>
              </a:ext>
            </a:extLst>
          </p:cNvPr>
          <p:cNvSpPr txBox="1"/>
          <p:nvPr/>
        </p:nvSpPr>
        <p:spPr>
          <a:xfrm>
            <a:off x="1171976" y="2250310"/>
            <a:ext cx="11075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/>
              <a:t>± </a:t>
            </a:r>
            <a:r>
              <a:rPr lang="en-US" altLang="zh-TW" dirty="0"/>
              <a:t>10mV</a:t>
            </a:r>
            <a:endParaRPr lang="zh-TW" altLang="en-US" dirty="0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1CBFF3CC-0F4F-1097-2AB3-7CDA41A460A5}"/>
              </a:ext>
            </a:extLst>
          </p:cNvPr>
          <p:cNvSpPr txBox="1"/>
          <p:nvPr/>
        </p:nvSpPr>
        <p:spPr>
          <a:xfrm>
            <a:off x="2408172" y="6404025"/>
            <a:ext cx="2789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/>
              <a:t>Propagation delay = 355ps </a:t>
            </a:r>
            <a:endParaRPr lang="zh-TW" altLang="en-US" dirty="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9925BE45-B879-838F-D144-677C4D8BEF30}"/>
              </a:ext>
            </a:extLst>
          </p:cNvPr>
          <p:cNvSpPr txBox="1"/>
          <p:nvPr/>
        </p:nvSpPr>
        <p:spPr>
          <a:xfrm>
            <a:off x="7317818" y="6404025"/>
            <a:ext cx="2789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/>
              <a:t>Propagation delay = 164ps 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211992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內容版面配置區 8">
            <a:extLst>
              <a:ext uri="{FF2B5EF4-FFF2-40B4-BE49-F238E27FC236}">
                <a16:creationId xmlns:a16="http://schemas.microsoft.com/office/drawing/2014/main" id="{316A157A-4F12-1AE3-9A3A-394851C963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b="1" dirty="0">
                <a:cs typeface="Arial" panose="020B0604020202020204" pitchFamily="34" charset="0"/>
              </a:rPr>
              <a:t>Folded Cascode Opamp</a:t>
            </a:r>
            <a:endParaRPr lang="en-US" altLang="zh-TW" b="1" dirty="0">
              <a:cs typeface="Arial" panose="020B0604020202020204" pitchFamily="34" charset="0"/>
            </a:endParaRPr>
          </a:p>
          <a:p>
            <a:pPr lvl="1"/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F1F925F-BDD9-F4E8-B3B8-062E3EFE6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8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98157770-93AD-0A90-E406-D30C6C9A2B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940" y="1530417"/>
            <a:ext cx="11178120" cy="4662342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A53BB83A-C2C9-1FE2-56C7-8984A525E1F9}"/>
              </a:ext>
            </a:extLst>
          </p:cNvPr>
          <p:cNvSpPr txBox="1"/>
          <p:nvPr/>
        </p:nvSpPr>
        <p:spPr>
          <a:xfrm>
            <a:off x="622443" y="3861588"/>
            <a:ext cx="11075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FF0000"/>
                </a:solidFill>
              </a:rPr>
              <a:t>Bias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2E8773AA-6D5E-1BE8-E831-0F0437430429}"/>
              </a:ext>
            </a:extLst>
          </p:cNvPr>
          <p:cNvSpPr txBox="1"/>
          <p:nvPr/>
        </p:nvSpPr>
        <p:spPr>
          <a:xfrm>
            <a:off x="7655509" y="1543614"/>
            <a:ext cx="1689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FF0000"/>
                </a:solidFill>
              </a:rPr>
              <a:t>First Stage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0F9F92CE-2DA2-B534-280E-85BB24B8B246}"/>
              </a:ext>
            </a:extLst>
          </p:cNvPr>
          <p:cNvSpPr txBox="1"/>
          <p:nvPr/>
        </p:nvSpPr>
        <p:spPr>
          <a:xfrm>
            <a:off x="9995836" y="1530417"/>
            <a:ext cx="1689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FF0000"/>
                </a:solidFill>
              </a:rPr>
              <a:t>Second Stage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6" name="標題 1">
            <a:extLst>
              <a:ext uri="{FF2B5EF4-FFF2-40B4-BE49-F238E27FC236}">
                <a16:creationId xmlns:a16="http://schemas.microsoft.com/office/drawing/2014/main" id="{91D6FD4D-7911-38CA-6AC0-39A8EAA1A6A6}"/>
              </a:ext>
            </a:extLst>
          </p:cNvPr>
          <p:cNvSpPr txBox="1">
            <a:spLocks/>
          </p:cNvSpPr>
          <p:nvPr/>
        </p:nvSpPr>
        <p:spPr>
          <a:xfrm>
            <a:off x="356103" y="0"/>
            <a:ext cx="11479794" cy="769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altLang="zh-TW" dirty="0"/>
              <a:t>OPA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293972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4F24B4-6F52-D4A5-6B0C-93192FB8E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內容版面配置區 8">
            <a:extLst>
              <a:ext uri="{FF2B5EF4-FFF2-40B4-BE49-F238E27FC236}">
                <a16:creationId xmlns:a16="http://schemas.microsoft.com/office/drawing/2014/main" id="{DABF1883-3669-3990-AE8A-95612641DA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Gain-Bandwidth: 86.28 MHz</a:t>
            </a:r>
          </a:p>
          <a:p>
            <a:r>
              <a:rPr lang="en-US" altLang="zh-TW" dirty="0"/>
              <a:t>Phase Margin: 101.4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∘</a:t>
            </a:r>
            <a:endParaRPr lang="en-US" altLang="zh-TW" dirty="0"/>
          </a:p>
          <a:p>
            <a:r>
              <a:rPr lang="en-US" altLang="zh-TW" dirty="0"/>
              <a:t>Open-Loop Gain: 94.89 dB</a:t>
            </a:r>
          </a:p>
          <a:p>
            <a:r>
              <a:rPr lang="en-US" altLang="zh-TW" dirty="0"/>
              <a:t>CMRR = 101.4dB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31972CC-5963-E66D-F308-6E85AF669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9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C36E7D54-CCEC-B9CE-D3A2-CCA301785D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914" y="3721951"/>
            <a:ext cx="2672615" cy="2715921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0FB3F188-E48E-C406-5EC9-6192B48260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2403" y="3627640"/>
            <a:ext cx="8170683" cy="2904542"/>
          </a:xfrm>
          <a:prstGeom prst="rect">
            <a:avLst/>
          </a:prstGeom>
        </p:spPr>
      </p:pic>
      <p:sp>
        <p:nvSpPr>
          <p:cNvPr id="15" name="標題 1">
            <a:extLst>
              <a:ext uri="{FF2B5EF4-FFF2-40B4-BE49-F238E27FC236}">
                <a16:creationId xmlns:a16="http://schemas.microsoft.com/office/drawing/2014/main" id="{A2015983-EAB6-4210-1858-F60ACCF44DB8}"/>
              </a:ext>
            </a:extLst>
          </p:cNvPr>
          <p:cNvSpPr txBox="1">
            <a:spLocks/>
          </p:cNvSpPr>
          <p:nvPr/>
        </p:nvSpPr>
        <p:spPr>
          <a:xfrm>
            <a:off x="356103" y="0"/>
            <a:ext cx="11479794" cy="769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altLang="zh-TW" dirty="0"/>
              <a:t>OPA – AC analysis</a:t>
            </a:r>
            <a:endParaRPr lang="zh-TW" altLang="en-US" dirty="0"/>
          </a:p>
        </p:txBody>
      </p:sp>
      <p:pic>
        <p:nvPicPr>
          <p:cNvPr id="17" name="圖片 16">
            <a:extLst>
              <a:ext uri="{FF2B5EF4-FFF2-40B4-BE49-F238E27FC236}">
                <a16:creationId xmlns:a16="http://schemas.microsoft.com/office/drawing/2014/main" id="{95E18C8B-57E6-AA6D-12C4-013F13873F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805"/>
          <a:stretch>
            <a:fillRect/>
          </a:stretch>
        </p:blipFill>
        <p:spPr>
          <a:xfrm>
            <a:off x="5072053" y="829830"/>
            <a:ext cx="6541033" cy="2642941"/>
          </a:xfrm>
          <a:prstGeom prst="rect">
            <a:avLst/>
          </a:prstGeom>
        </p:spPr>
      </p:pic>
      <p:sp>
        <p:nvSpPr>
          <p:cNvPr id="18" name="文字方塊 17">
            <a:extLst>
              <a:ext uri="{FF2B5EF4-FFF2-40B4-BE49-F238E27FC236}">
                <a16:creationId xmlns:a16="http://schemas.microsoft.com/office/drawing/2014/main" id="{0B6EA0B6-6389-2273-C115-3F6F64FD2769}"/>
              </a:ext>
            </a:extLst>
          </p:cNvPr>
          <p:cNvSpPr txBox="1"/>
          <p:nvPr/>
        </p:nvSpPr>
        <p:spPr>
          <a:xfrm>
            <a:off x="4123504" y="4265849"/>
            <a:ext cx="1897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FF0000"/>
                </a:solidFill>
              </a:rPr>
              <a:t>Av = 94.89dB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F6269E3A-DAC0-6814-214F-D6B2247E821C}"/>
              </a:ext>
            </a:extLst>
          </p:cNvPr>
          <p:cNvSpPr txBox="1"/>
          <p:nvPr/>
        </p:nvSpPr>
        <p:spPr>
          <a:xfrm>
            <a:off x="9344733" y="5001041"/>
            <a:ext cx="1897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FF0000"/>
                </a:solidFill>
              </a:rPr>
              <a:t>101.4</a:t>
            </a:r>
            <a:r>
              <a:rPr lang="en-US" altLang="zh-TW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∘</a:t>
            </a:r>
            <a:r>
              <a:rPr lang="en-US" altLang="zh-TW" b="1" dirty="0">
                <a:solidFill>
                  <a:srgbClr val="FF0000"/>
                </a:solidFill>
              </a:rPr>
              <a:t> 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289BB2A0-710F-7A23-FE79-A04482DDADDD}"/>
              </a:ext>
            </a:extLst>
          </p:cNvPr>
          <p:cNvSpPr txBox="1"/>
          <p:nvPr/>
        </p:nvSpPr>
        <p:spPr>
          <a:xfrm>
            <a:off x="6290109" y="1292252"/>
            <a:ext cx="1897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FF0000"/>
                </a:solidFill>
              </a:rPr>
              <a:t>CMRR = 101.4dB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45376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8889C-3941-B0D4-2586-9FE1197E9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0A9D8C5-AD50-6D03-3D98-1DBA9A084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10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5" name="標題 1">
            <a:extLst>
              <a:ext uri="{FF2B5EF4-FFF2-40B4-BE49-F238E27FC236}">
                <a16:creationId xmlns:a16="http://schemas.microsoft.com/office/drawing/2014/main" id="{61DDACF2-B635-9DF0-EC79-FDD1FA69E4D4}"/>
              </a:ext>
            </a:extLst>
          </p:cNvPr>
          <p:cNvSpPr txBox="1">
            <a:spLocks/>
          </p:cNvSpPr>
          <p:nvPr/>
        </p:nvSpPr>
        <p:spPr>
          <a:xfrm>
            <a:off x="356103" y="0"/>
            <a:ext cx="11479794" cy="769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altLang="zh-TW" dirty="0"/>
              <a:t>Compensator</a:t>
            </a:r>
            <a:endParaRPr lang="zh-TW" altLang="en-US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9405DDF7-4BBB-14BF-7713-4E74288C08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4869" y="876562"/>
            <a:ext cx="5898931" cy="5695957"/>
          </a:xfrm>
          <a:prstGeom prst="rect">
            <a:avLst/>
          </a:prstGeom>
        </p:spPr>
      </p:pic>
      <p:sp>
        <p:nvSpPr>
          <p:cNvPr id="7" name="內容版面配置區 8">
            <a:extLst>
              <a:ext uri="{FF2B5EF4-FFF2-40B4-BE49-F238E27FC236}">
                <a16:creationId xmlns:a16="http://schemas.microsoft.com/office/drawing/2014/main" id="{437F5C5C-8B3B-0423-FAF7-C1D5E4DE7C97}"/>
              </a:ext>
            </a:extLst>
          </p:cNvPr>
          <p:cNvSpPr txBox="1">
            <a:spLocks/>
          </p:cNvSpPr>
          <p:nvPr/>
        </p:nvSpPr>
        <p:spPr>
          <a:xfrm>
            <a:off x="356103" y="101903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/>
              <a:t>Type I compensator</a:t>
            </a:r>
          </a:p>
          <a:p>
            <a:r>
              <a:rPr lang="en-US" altLang="zh-TW" dirty="0"/>
              <a:t>Gain-Bandwidth: 120.8 kHz</a:t>
            </a:r>
          </a:p>
          <a:p>
            <a:r>
              <a:rPr lang="en-US" altLang="zh-TW" dirty="0"/>
              <a:t>Phase Margin: 47.19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∘</a:t>
            </a:r>
            <a:endParaRPr lang="en-US" altLang="zh-TW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1166250E-F476-D4B6-CDA7-0FFF1FC06C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099" t="38672" r="1561" b="30127"/>
          <a:stretch>
            <a:fillRect/>
          </a:stretch>
        </p:blipFill>
        <p:spPr>
          <a:xfrm>
            <a:off x="772452" y="3139015"/>
            <a:ext cx="3704955" cy="2946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685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0A2342A-39D6-AC92-2DDD-D6741E061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Current Source – Schematic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B6523F5-57FD-E976-2C4D-E47288E72B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zh-TW" dirty="0" err="1"/>
              <a:t>Resistorless</a:t>
            </a:r>
            <a:r>
              <a:rPr lang="en-US" altLang="zh-TW" dirty="0"/>
              <a:t> auto bias reference circuit</a:t>
            </a:r>
          </a:p>
          <a:p>
            <a:pPr lvl="1">
              <a:lnSpc>
                <a:spcPct val="150000"/>
              </a:lnSpc>
            </a:pPr>
            <a:r>
              <a:rPr lang="en-US" altLang="zh-TW" dirty="0"/>
              <a:t>Better Component Matching</a:t>
            </a:r>
          </a:p>
          <a:p>
            <a:pPr lvl="1">
              <a:lnSpc>
                <a:spcPct val="150000"/>
              </a:lnSpc>
            </a:pPr>
            <a:r>
              <a:rPr lang="en-US" altLang="zh-TW" dirty="0"/>
              <a:t>Save Space</a:t>
            </a:r>
          </a:p>
          <a:p>
            <a:pPr lvl="1">
              <a:lnSpc>
                <a:spcPct val="150000"/>
              </a:lnSpc>
            </a:pPr>
            <a:r>
              <a:rPr lang="en-US" altLang="zh-TW" dirty="0"/>
              <a:t>Low Power</a:t>
            </a:r>
          </a:p>
          <a:p>
            <a:pPr lvl="1">
              <a:lnSpc>
                <a:spcPct val="150000"/>
              </a:lnSpc>
            </a:pPr>
            <a:r>
              <a:rPr lang="en-US" altLang="zh-TW" dirty="0"/>
              <a:t>No Resistor Error</a:t>
            </a:r>
          </a:p>
          <a:p>
            <a:pPr marL="457200" lvl="1" indent="0">
              <a:lnSpc>
                <a:spcPct val="150000"/>
              </a:lnSpc>
              <a:buNone/>
            </a:pP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A8FA2DB-C4CE-39D4-56E0-5A2C57AA6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11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AA09BD9-AD64-2886-DF19-0EBE13CD06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9437" y="2345120"/>
            <a:ext cx="7198944" cy="3937884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79A76BC5-D372-BE80-E456-A8C295DBAF1B}"/>
              </a:ext>
            </a:extLst>
          </p:cNvPr>
          <p:cNvSpPr txBox="1"/>
          <p:nvPr/>
        </p:nvSpPr>
        <p:spPr>
          <a:xfrm>
            <a:off x="1909186" y="6487045"/>
            <a:ext cx="98875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>
                <a:solidFill>
                  <a:schemeClr val="bg1">
                    <a:lumMod val="75000"/>
                  </a:schemeClr>
                </a:solidFill>
              </a:rPr>
              <a:t>H.J. </a:t>
            </a:r>
            <a:r>
              <a:rPr lang="en-US" altLang="zh-TW" sz="1400" dirty="0" err="1">
                <a:solidFill>
                  <a:schemeClr val="bg1">
                    <a:lumMod val="75000"/>
                  </a:schemeClr>
                </a:solidFill>
              </a:rPr>
              <a:t>Oguey</a:t>
            </a:r>
            <a:r>
              <a:rPr lang="en-US" altLang="zh-TW" sz="1400" dirty="0">
                <a:solidFill>
                  <a:schemeClr val="bg1">
                    <a:lumMod val="75000"/>
                  </a:schemeClr>
                </a:solidFill>
              </a:rPr>
              <a:t>, D. </a:t>
            </a:r>
            <a:r>
              <a:rPr lang="en-US" altLang="zh-TW" sz="1400" dirty="0" err="1">
                <a:solidFill>
                  <a:schemeClr val="bg1">
                    <a:lumMod val="75000"/>
                  </a:schemeClr>
                </a:solidFill>
              </a:rPr>
              <a:t>Aebicsher</a:t>
            </a:r>
            <a:r>
              <a:rPr lang="en-US" altLang="zh-TW" sz="1400" dirty="0">
                <a:solidFill>
                  <a:schemeClr val="bg1">
                    <a:lumMod val="75000"/>
                  </a:schemeClr>
                </a:solidFill>
              </a:rPr>
              <a:t>, CMOS Current Reference without Resistance,</a:t>
            </a:r>
            <a:r>
              <a:rPr lang="zh-TW" altLang="en-US" sz="14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altLang="zh-TW" sz="1400" dirty="0">
                <a:solidFill>
                  <a:schemeClr val="bg1">
                    <a:lumMod val="75000"/>
                  </a:schemeClr>
                </a:solidFill>
              </a:rPr>
              <a:t>IEEE J. Solid-State Circuits, Volume 32, </a:t>
            </a:r>
            <a:r>
              <a:rPr lang="en-US" altLang="zh-TW" sz="1400" dirty="0" err="1">
                <a:solidFill>
                  <a:schemeClr val="bg1">
                    <a:lumMod val="75000"/>
                  </a:schemeClr>
                </a:solidFill>
              </a:rPr>
              <a:t>pag</a:t>
            </a:r>
            <a:r>
              <a:rPr lang="en-US" altLang="zh-TW" sz="1400" dirty="0">
                <a:solidFill>
                  <a:schemeClr val="bg1">
                    <a:lumMod val="75000"/>
                  </a:schemeClr>
                </a:solidFill>
              </a:rPr>
              <a:t>. 1132-1135. 1977.</a:t>
            </a:r>
            <a:endParaRPr lang="zh-TW" altLang="en-US" sz="14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75492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F1E606F-B052-F75F-7E9B-E9F89538D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8E6B5BF-625F-89BF-0139-495CF0202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Current Source – Simulation Result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4DA619A-2402-C7A4-5DAF-E1E889DEB9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F6CC13E-59DD-E6B5-DDC1-3330DE58C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12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92389B3E-5820-E3C1-7591-62612F0415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7798" y="1075713"/>
            <a:ext cx="5408954" cy="2944041"/>
          </a:xfrm>
          <a:prstGeom prst="rect">
            <a:avLst/>
          </a:prstGeom>
        </p:spPr>
      </p:pic>
      <p:pic>
        <p:nvPicPr>
          <p:cNvPr id="24" name="圖片 23">
            <a:extLst>
              <a:ext uri="{FF2B5EF4-FFF2-40B4-BE49-F238E27FC236}">
                <a16:creationId xmlns:a16="http://schemas.microsoft.com/office/drawing/2014/main" id="{7F68D1C5-5B24-CF8D-DC42-8949E7EB8D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017" y="2622620"/>
            <a:ext cx="7517213" cy="3754968"/>
          </a:xfrm>
          <a:prstGeom prst="rect">
            <a:avLst/>
          </a:prstGeom>
          <a:ln w="76200">
            <a:solidFill>
              <a:schemeClr val="bg1"/>
            </a:solidFill>
          </a:ln>
        </p:spPr>
      </p:pic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72F80E56-E23E-658A-DC96-6566855D6B61}"/>
              </a:ext>
            </a:extLst>
          </p:cNvPr>
          <p:cNvCxnSpPr/>
          <p:nvPr/>
        </p:nvCxnSpPr>
        <p:spPr>
          <a:xfrm>
            <a:off x="10902462" y="2110154"/>
            <a:ext cx="0" cy="1318846"/>
          </a:xfrm>
          <a:prstGeom prst="straightConnector1">
            <a:avLst/>
          </a:prstGeom>
          <a:ln w="571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CEAA0158-0A86-193C-8209-F12DFFCDF3E0}"/>
                  </a:ext>
                </a:extLst>
              </p:cNvPr>
              <p:cNvSpPr txBox="1"/>
              <p:nvPr/>
            </p:nvSpPr>
            <p:spPr>
              <a:xfrm>
                <a:off x="10716329" y="3475975"/>
                <a:ext cx="37226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dirty="0">
                    <a:solidFill>
                      <a:srgbClr val="FFFF00"/>
                    </a:solidFill>
                  </a:rPr>
                  <a:t> </a:t>
                </a:r>
                <a:endParaRPr lang="zh-TW" altLang="en-US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CEAA0158-0A86-193C-8209-F12DFFCDF3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16329" y="3475975"/>
                <a:ext cx="37226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B7DD49F0-0245-8A76-0874-E21CFBF64C98}"/>
              </a:ext>
            </a:extLst>
          </p:cNvPr>
          <p:cNvCxnSpPr/>
          <p:nvPr/>
        </p:nvCxnSpPr>
        <p:spPr>
          <a:xfrm>
            <a:off x="3356150" y="2787253"/>
            <a:ext cx="0" cy="3491326"/>
          </a:xfrm>
          <a:prstGeom prst="line">
            <a:avLst/>
          </a:prstGeom>
          <a:ln w="38100">
            <a:solidFill>
              <a:srgbClr val="FFFF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71B0B81A-54A5-A0C7-B6E5-F1C698FDA9E0}"/>
              </a:ext>
            </a:extLst>
          </p:cNvPr>
          <p:cNvCxnSpPr/>
          <p:nvPr/>
        </p:nvCxnSpPr>
        <p:spPr>
          <a:xfrm>
            <a:off x="5377544" y="2791678"/>
            <a:ext cx="0" cy="3491326"/>
          </a:xfrm>
          <a:prstGeom prst="line">
            <a:avLst/>
          </a:prstGeom>
          <a:ln w="38100">
            <a:solidFill>
              <a:srgbClr val="FFFF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5CDAD133-520E-9AD8-EDA3-D9A59709C220}"/>
              </a:ext>
            </a:extLst>
          </p:cNvPr>
          <p:cNvCxnSpPr>
            <a:cxnSpLocks/>
          </p:cNvCxnSpPr>
          <p:nvPr/>
        </p:nvCxnSpPr>
        <p:spPr>
          <a:xfrm>
            <a:off x="3356150" y="4532916"/>
            <a:ext cx="2021394" cy="0"/>
          </a:xfrm>
          <a:prstGeom prst="straightConnector1">
            <a:avLst/>
          </a:prstGeom>
          <a:ln w="38100">
            <a:solidFill>
              <a:srgbClr val="FFFF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AF8118F6-9606-76D5-945B-27D8281F4617}"/>
                  </a:ext>
                </a:extLst>
              </p:cNvPr>
              <p:cNvSpPr txBox="1"/>
              <p:nvPr/>
            </p:nvSpPr>
            <p:spPr>
              <a:xfrm>
                <a:off x="3800125" y="4579892"/>
                <a:ext cx="11334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7.72 </m:t>
                      </m:r>
                      <m:r>
                        <a:rPr lang="en-US" altLang="zh-TW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𝑛𝑠</m:t>
                      </m:r>
                    </m:oMath>
                  </m:oMathPara>
                </a14:m>
                <a:endParaRPr lang="zh-TW" altLang="en-US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AF8118F6-9606-76D5-945B-27D8281F46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0125" y="4579892"/>
                <a:ext cx="1133445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E18A13D3-AC38-02DB-3185-D543F7BF2A1D}"/>
                  </a:ext>
                </a:extLst>
              </p:cNvPr>
              <p:cNvSpPr txBox="1"/>
              <p:nvPr/>
            </p:nvSpPr>
            <p:spPr>
              <a:xfrm>
                <a:off x="6666306" y="2874988"/>
                <a:ext cx="11334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300.1 </m:t>
                      </m:r>
                      <m:r>
                        <a:rPr lang="zh-TW" alt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altLang="zh-TW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zh-TW" altLang="en-US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E18A13D3-AC38-02DB-3185-D543F7BF2A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6306" y="2874988"/>
                <a:ext cx="1133445" cy="369332"/>
              </a:xfrm>
              <a:prstGeom prst="rect">
                <a:avLst/>
              </a:prstGeom>
              <a:blipFill>
                <a:blip r:embed="rId7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90747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44E24A6-9585-7823-6014-4B5207318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OPA &amp; Current Source Integration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A2FED16-71EC-B9DA-300F-7DE1A136F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13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箭號: 向右 6">
            <a:extLst>
              <a:ext uri="{FF2B5EF4-FFF2-40B4-BE49-F238E27FC236}">
                <a16:creationId xmlns:a16="http://schemas.microsoft.com/office/drawing/2014/main" id="{7228C550-B6EB-358E-5670-4CA7A67A0F6C}"/>
              </a:ext>
            </a:extLst>
          </p:cNvPr>
          <p:cNvSpPr/>
          <p:nvPr/>
        </p:nvSpPr>
        <p:spPr>
          <a:xfrm rot="5400000">
            <a:off x="2398370" y="3543862"/>
            <a:ext cx="695194" cy="23799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00355471-6A49-BDB4-1A81-5B6A92411E5F}"/>
              </a:ext>
            </a:extLst>
          </p:cNvPr>
          <p:cNvSpPr txBox="1">
            <a:spLocks/>
          </p:cNvSpPr>
          <p:nvPr/>
        </p:nvSpPr>
        <p:spPr>
          <a:xfrm>
            <a:off x="1153232" y="4278755"/>
            <a:ext cx="4061862" cy="118570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  <a:defRPr/>
            </a:pPr>
            <a:r>
              <a:rPr lang="en-US" altLang="zh-TW" sz="2400" b="1" dirty="0">
                <a:solidFill>
                  <a:prstClr val="black"/>
                </a:solidFill>
                <a:latin typeface="Calibri" panose="020F0502020204030204"/>
                <a:ea typeface="新細明體" panose="02020500000000000000" pitchFamily="18" charset="-120"/>
              </a:rPr>
              <a:t>Crossover Frequency : 30.5 kHz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  <a:defRPr/>
            </a:pPr>
            <a:r>
              <a:rPr lang="en-US" altLang="zh-TW" sz="2400" b="1" dirty="0">
                <a:solidFill>
                  <a:prstClr val="black"/>
                </a:solidFill>
                <a:latin typeface="Calibri" panose="020F0502020204030204"/>
                <a:ea typeface="新細明體" panose="02020500000000000000" pitchFamily="18" charset="-120"/>
              </a:rPr>
              <a:t>Gain Margin :</a:t>
            </a:r>
            <a:r>
              <a:rPr lang="zh-TW" altLang="en-US" sz="2400" b="1" dirty="0">
                <a:solidFill>
                  <a:prstClr val="black"/>
                </a:solidFill>
                <a:latin typeface="Calibri" panose="020F0502020204030204"/>
                <a:ea typeface="新細明體" panose="02020500000000000000" pitchFamily="18" charset="-120"/>
              </a:rPr>
              <a:t> </a:t>
            </a:r>
            <a:r>
              <a:rPr lang="en-US" altLang="zh-TW" sz="2400" b="1" dirty="0">
                <a:solidFill>
                  <a:prstClr val="black"/>
                </a:solidFill>
                <a:latin typeface="Calibri" panose="020F0502020204030204"/>
                <a:ea typeface="新細明體" panose="02020500000000000000" pitchFamily="18" charset="-120"/>
              </a:rPr>
              <a:t>10.1 dB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  <a:defRPr/>
            </a:pPr>
            <a:r>
              <a:rPr lang="en-US" altLang="zh-TW" sz="2400" b="1" dirty="0">
                <a:solidFill>
                  <a:prstClr val="black"/>
                </a:solidFill>
                <a:latin typeface="Calibri" panose="020F0502020204030204"/>
                <a:ea typeface="新細明體" panose="02020500000000000000" pitchFamily="18" charset="-120"/>
              </a:rPr>
              <a:t>Phase Margin : 89.2 degree </a:t>
            </a:r>
            <a:endParaRPr lang="zh-TW" altLang="en-US" sz="2400" dirty="0">
              <a:solidFill>
                <a:prstClr val="black"/>
              </a:solidFill>
              <a:latin typeface="Calibri" panose="020F0502020204030204"/>
              <a:ea typeface="新細明體" panose="02020500000000000000" pitchFamily="18" charset="-120"/>
            </a:endParaRPr>
          </a:p>
          <a:p>
            <a:endParaRPr lang="zh-TW" altLang="en-US" sz="3200" dirty="0"/>
          </a:p>
        </p:txBody>
      </p: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BCBDACBD-EA96-AF1E-3490-01DD833EEAB4}"/>
              </a:ext>
            </a:extLst>
          </p:cNvPr>
          <p:cNvGrpSpPr/>
          <p:nvPr/>
        </p:nvGrpSpPr>
        <p:grpSpPr>
          <a:xfrm>
            <a:off x="6096000" y="1109131"/>
            <a:ext cx="5514333" cy="5641876"/>
            <a:chOff x="464436" y="1105936"/>
            <a:chExt cx="5514333" cy="5641876"/>
          </a:xfrm>
        </p:grpSpPr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49719BB5-894D-68DA-4636-1BA508D220E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4436" y="1105936"/>
              <a:ext cx="5274310" cy="4995545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字方塊 10">
                  <a:extLst>
                    <a:ext uri="{FF2B5EF4-FFF2-40B4-BE49-F238E27FC236}">
                      <a16:creationId xmlns:a16="http://schemas.microsoft.com/office/drawing/2014/main" id="{718D4655-4275-411F-9038-1924C1700663}"/>
                    </a:ext>
                  </a:extLst>
                </p:cNvPr>
                <p:cNvSpPr txBox="1"/>
                <p:nvPr/>
              </p:nvSpPr>
              <p:spPr>
                <a:xfrm>
                  <a:off x="1591889" y="3152852"/>
                  <a:ext cx="1133445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𝐿𝑜𝑜𝑝</m:t>
                        </m:r>
                      </m:oMath>
                    </m:oMathPara>
                  </a14:m>
                  <a:endParaRPr lang="zh-TW" altLang="en-US" sz="20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文字方塊 10">
                  <a:extLst>
                    <a:ext uri="{FF2B5EF4-FFF2-40B4-BE49-F238E27FC236}">
                      <a16:creationId xmlns:a16="http://schemas.microsoft.com/office/drawing/2014/main" id="{718D4655-4275-411F-9038-1924C17006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91889" y="3152852"/>
                  <a:ext cx="1133445" cy="400110"/>
                </a:xfrm>
                <a:prstGeom prst="rect">
                  <a:avLst/>
                </a:prstGeom>
                <a:blipFill>
                  <a:blip r:embed="rId3"/>
                  <a:stretch>
                    <a:fillRect b="-1384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字方塊 11">
                  <a:extLst>
                    <a:ext uri="{FF2B5EF4-FFF2-40B4-BE49-F238E27FC236}">
                      <a16:creationId xmlns:a16="http://schemas.microsoft.com/office/drawing/2014/main" id="{FB8E8758-B533-6AC0-4FF9-9F0F63585092}"/>
                    </a:ext>
                  </a:extLst>
                </p:cNvPr>
                <p:cNvSpPr txBox="1"/>
                <p:nvPr/>
              </p:nvSpPr>
              <p:spPr>
                <a:xfrm>
                  <a:off x="1591889" y="3746543"/>
                  <a:ext cx="1133445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𝑣𝑐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文字方塊 11">
                  <a:extLst>
                    <a:ext uri="{FF2B5EF4-FFF2-40B4-BE49-F238E27FC236}">
                      <a16:creationId xmlns:a16="http://schemas.microsoft.com/office/drawing/2014/main" id="{FB8E8758-B533-6AC0-4FF9-9F0F635850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91889" y="3746543"/>
                  <a:ext cx="1133445" cy="4001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文字方塊 12">
              <a:extLst>
                <a:ext uri="{FF2B5EF4-FFF2-40B4-BE49-F238E27FC236}">
                  <a16:creationId xmlns:a16="http://schemas.microsoft.com/office/drawing/2014/main" id="{8E04AAB7-E3F1-BEF1-13F0-6C744A84FF1F}"/>
                </a:ext>
              </a:extLst>
            </p:cNvPr>
            <p:cNvSpPr txBox="1"/>
            <p:nvPr/>
          </p:nvSpPr>
          <p:spPr>
            <a:xfrm>
              <a:off x="3235569" y="6101481"/>
              <a:ext cx="27432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Dashed line: Ideal model Solid line: Transistor level</a:t>
              </a:r>
              <a:endParaRPr lang="zh-TW" altLang="en-US" dirty="0"/>
            </a:p>
          </p:txBody>
        </p:sp>
      </p:grpSp>
      <p:sp>
        <p:nvSpPr>
          <p:cNvPr id="17" name="內容版面配置區 2">
            <a:extLst>
              <a:ext uri="{FF2B5EF4-FFF2-40B4-BE49-F238E27FC236}">
                <a16:creationId xmlns:a16="http://schemas.microsoft.com/office/drawing/2014/main" id="{6F4CC401-DF6C-C334-2355-A6736D79BF0F}"/>
              </a:ext>
            </a:extLst>
          </p:cNvPr>
          <p:cNvSpPr txBox="1">
            <a:spLocks/>
          </p:cNvSpPr>
          <p:nvPr/>
        </p:nvSpPr>
        <p:spPr>
          <a:xfrm>
            <a:off x="1153231" y="1861257"/>
            <a:ext cx="4061863" cy="118570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None/>
              <a:defRPr/>
            </a:pPr>
            <a:r>
              <a:rPr lang="en-US" altLang="zh-TW" sz="2200" b="1" dirty="0">
                <a:solidFill>
                  <a:prstClr val="black"/>
                </a:solidFill>
                <a:latin typeface="Calibri" panose="020F0502020204030204"/>
                <a:ea typeface="新細明體" panose="02020500000000000000" pitchFamily="18" charset="-120"/>
              </a:rPr>
              <a:t>Crossover Frequency : 31 kHz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  <a:defRPr/>
            </a:pPr>
            <a:r>
              <a:rPr lang="en-US" altLang="zh-TW" sz="2200" b="1" dirty="0">
                <a:solidFill>
                  <a:prstClr val="black"/>
                </a:solidFill>
                <a:latin typeface="Calibri" panose="020F0502020204030204"/>
                <a:ea typeface="新細明體" panose="02020500000000000000" pitchFamily="18" charset="-120"/>
              </a:rPr>
              <a:t>Gain Margin :</a:t>
            </a:r>
            <a:r>
              <a:rPr lang="zh-TW" altLang="en-US" sz="2200" b="1" dirty="0">
                <a:solidFill>
                  <a:prstClr val="black"/>
                </a:solidFill>
                <a:latin typeface="Calibri" panose="020F0502020204030204"/>
                <a:ea typeface="新細明體" panose="02020500000000000000" pitchFamily="18" charset="-120"/>
              </a:rPr>
              <a:t> </a:t>
            </a:r>
            <a:r>
              <a:rPr lang="en-US" altLang="zh-TW" sz="2200" b="1" dirty="0">
                <a:solidFill>
                  <a:prstClr val="black"/>
                </a:solidFill>
                <a:latin typeface="Calibri" panose="020F0502020204030204"/>
                <a:ea typeface="新細明體" panose="02020500000000000000" pitchFamily="18" charset="-120"/>
              </a:rPr>
              <a:t>17.1 dB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  <a:defRPr/>
            </a:pPr>
            <a:r>
              <a:rPr lang="en-US" altLang="zh-TW" sz="2200" b="1" dirty="0">
                <a:solidFill>
                  <a:prstClr val="black"/>
                </a:solidFill>
                <a:latin typeface="Calibri" panose="020F0502020204030204"/>
                <a:ea typeface="新細明體" panose="02020500000000000000" pitchFamily="18" charset="-120"/>
              </a:rPr>
              <a:t>Phase Margin : 89.4 degree </a:t>
            </a:r>
            <a:endParaRPr lang="zh-TW" altLang="en-US" sz="2200" b="1" dirty="0">
              <a:solidFill>
                <a:prstClr val="black"/>
              </a:solidFill>
              <a:latin typeface="Calibri" panose="020F0502020204030204"/>
              <a:ea typeface="新細明體" panose="02020500000000000000" pitchFamily="18" charset="-120"/>
            </a:endParaRPr>
          </a:p>
          <a:p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6394928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EFED1-09D5-8F93-EC70-B5CD9DF64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1186942-754F-B21A-A3FF-E4C087C41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200" b="1" dirty="0">
                <a:latin typeface="Arial" panose="020B0604020202020204" pitchFamily="34" charset="0"/>
                <a:cs typeface="Arial" panose="020B0604020202020204" pitchFamily="34" charset="0"/>
              </a:rPr>
              <a:t>To-do item</a:t>
            </a:r>
            <a:endParaRPr lang="zh-TW" alt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9CA1F1A-4EF1-F235-06CC-A87D2FEACC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TW" dirty="0">
                <a:cs typeface="Arial" panose="020B0604020202020204" pitchFamily="34" charset="0"/>
              </a:rPr>
              <a:t>IC subblock design and simulation</a:t>
            </a:r>
          </a:p>
          <a:p>
            <a:pPr>
              <a:lnSpc>
                <a:spcPct val="150000"/>
              </a:lnSpc>
            </a:pPr>
            <a:r>
              <a:rPr lang="en-US" altLang="zh-TW" dirty="0">
                <a:cs typeface="Arial" panose="020B0604020202020204" pitchFamily="34" charset="0"/>
              </a:rPr>
              <a:t>MOS level blocks + behavior model blocks Simulation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7400548-1A26-647A-62B4-2ED1E85C0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14</a:t>
            </a:fld>
            <a:endParaRPr lang="zh-TW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95088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B34AC5F-F089-750A-90B0-545261ACA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Reference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D880D79-2CC4-6167-575F-E76BBBC40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H.J. </a:t>
            </a:r>
            <a:r>
              <a:rPr lang="en-US" altLang="zh-TW" dirty="0" err="1"/>
              <a:t>Oguey</a:t>
            </a:r>
            <a:r>
              <a:rPr lang="en-US" altLang="zh-TW" dirty="0"/>
              <a:t>, D. </a:t>
            </a:r>
            <a:r>
              <a:rPr lang="en-US" altLang="zh-TW" dirty="0" err="1"/>
              <a:t>Aebicsher</a:t>
            </a:r>
            <a:r>
              <a:rPr lang="en-US" altLang="zh-TW" dirty="0"/>
              <a:t>, CMOS Current Reference without Resistance, IEEE J. Solid-State Circuits, Volume 32, </a:t>
            </a:r>
            <a:r>
              <a:rPr lang="en-US" altLang="zh-TW" dirty="0" err="1"/>
              <a:t>pag</a:t>
            </a:r>
            <a:r>
              <a:rPr lang="en-US" altLang="zh-TW" dirty="0"/>
              <a:t>. 1132-1135. 1977.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88A4C4E-8EB5-0DCC-72C0-E6D67426A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15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2836764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79432</TotalTime>
  <Words>430</Words>
  <Application>Microsoft Office PowerPoint</Application>
  <PresentationFormat>寬螢幕</PresentationFormat>
  <Paragraphs>112</Paragraphs>
  <Slides>15</Slides>
  <Notes>2</Notes>
  <HiddenSlides>3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21" baseType="lpstr">
      <vt:lpstr>標楷體</vt:lpstr>
      <vt:lpstr>Arial</vt:lpstr>
      <vt:lpstr>Calibri</vt:lpstr>
      <vt:lpstr>Calibri Light</vt:lpstr>
      <vt:lpstr>Cambria Math</vt:lpstr>
      <vt:lpstr>1_Office 佈景主題</vt:lpstr>
      <vt:lpstr>PEIC Final Project  Project plan and topics</vt:lpstr>
      <vt:lpstr>Outline</vt:lpstr>
      <vt:lpstr>Project</vt:lpstr>
      <vt:lpstr>Spec.</vt:lpstr>
      <vt:lpstr>Transistor-level subblock</vt:lpstr>
      <vt:lpstr>High Speed Comparator </vt:lpstr>
      <vt:lpstr>High Speed Comparator - Simulation Result </vt:lpstr>
      <vt:lpstr>PowerPoint 簡報</vt:lpstr>
      <vt:lpstr>PowerPoint 簡報</vt:lpstr>
      <vt:lpstr>PowerPoint 簡報</vt:lpstr>
      <vt:lpstr>Current Source – Schematic</vt:lpstr>
      <vt:lpstr>Current Source – Simulation Result</vt:lpstr>
      <vt:lpstr>OPA &amp; Current Source Integration</vt:lpstr>
      <vt:lpstr>To-do item</vt:lpstr>
      <vt:lpstr>Reference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progress report</dc:title>
  <dc:creator>張育誠</dc:creator>
  <cp:lastModifiedBy>howard chang</cp:lastModifiedBy>
  <cp:revision>767</cp:revision>
  <dcterms:created xsi:type="dcterms:W3CDTF">2020-07-04T17:19:57Z</dcterms:created>
  <dcterms:modified xsi:type="dcterms:W3CDTF">2026-06-06T13:00:46Z</dcterms:modified>
</cp:coreProperties>
</file>