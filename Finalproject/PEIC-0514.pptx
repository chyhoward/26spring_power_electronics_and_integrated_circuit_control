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2"/>
  </p:notesMasterIdLst>
  <p:sldIdLst>
    <p:sldId id="256" r:id="rId2"/>
    <p:sldId id="258" r:id="rId3"/>
    <p:sldId id="259" r:id="rId4"/>
    <p:sldId id="270" r:id="rId5"/>
    <p:sldId id="272" r:id="rId6"/>
    <p:sldId id="271" r:id="rId7"/>
    <p:sldId id="269" r:id="rId8"/>
    <p:sldId id="273" r:id="rId9"/>
    <p:sldId id="274" r:id="rId10"/>
    <p:sldId id="262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enson.Liu 劉展佑" initials="B劉" lastIdx="1" clrIdx="0">
    <p:extLst>
      <p:ext uri="{19B8F6BF-5375-455C-9EA6-DF929625EA0E}">
        <p15:presenceInfo xmlns:p15="http://schemas.microsoft.com/office/powerpoint/2012/main" userId="Benson.Liu 劉展佑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01E3"/>
    <a:srgbClr val="6600FF"/>
    <a:srgbClr val="2ACA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56" autoAdjust="0"/>
    <p:restoredTop sz="92200" autoAdjust="0"/>
  </p:normalViewPr>
  <p:slideViewPr>
    <p:cSldViewPr snapToGrid="0">
      <p:cViewPr varScale="1">
        <p:scale>
          <a:sx n="71" d="100"/>
          <a:sy n="71" d="100"/>
        </p:scale>
        <p:origin x="9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35779F-1EFE-4485-A906-EA001590265A}" type="datetimeFigureOut">
              <a:rPr lang="zh-TW" altLang="en-US" smtClean="0"/>
              <a:t>2026/5/13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02100C-E61B-46DE-8874-8E13D526CE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9619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02100C-E61B-46DE-8874-8E13D526CEC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9205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63E31C6-1C2A-4845-89E3-6FEE68952421}" type="datetime1">
              <a:rPr lang="en-US" altLang="zh-TW" smtClean="0">
                <a:solidFill>
                  <a:prstClr val="black">
                    <a:tint val="75000"/>
                  </a:prstClr>
                </a:solidFill>
                <a:latin typeface="Arial" charset="0"/>
              </a:rPr>
              <a:t>5/13/2026</a:t>
            </a:fld>
            <a:endParaRPr lang="en-US" dirty="0">
              <a:solidFill>
                <a:prstClr val="black">
                  <a:tint val="75000"/>
                </a:prstClr>
              </a:solidFill>
              <a:latin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prstClr val="black">
                  <a:tint val="75000"/>
                </a:prstClr>
              </a:solidFill>
              <a:latin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37243" y="6128125"/>
            <a:ext cx="3129441" cy="60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486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3B36FF9-F2FD-472F-9F28-9BAB14879814}" type="datetime1">
              <a:rPr lang="en-US" altLang="zh-TW" smtClean="0">
                <a:solidFill>
                  <a:prstClr val="black">
                    <a:tint val="75000"/>
                  </a:prstClr>
                </a:solidFill>
                <a:latin typeface="Arial" charset="0"/>
              </a:rPr>
              <a:t>5/13/2026</a:t>
            </a:fld>
            <a:endParaRPr lang="en-US" dirty="0">
              <a:solidFill>
                <a:prstClr val="black">
                  <a:tint val="75000"/>
                </a:prstClr>
              </a:solidFill>
              <a:latin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prstClr val="black">
                  <a:tint val="75000"/>
                </a:prstClr>
              </a:solidFill>
              <a:latin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7" name="直線接點 6"/>
          <p:cNvCxnSpPr/>
          <p:nvPr userDrawn="1"/>
        </p:nvCxnSpPr>
        <p:spPr>
          <a:xfrm>
            <a:off x="65908" y="766119"/>
            <a:ext cx="1201282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圖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905" y="6514646"/>
            <a:ext cx="1449859" cy="280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641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14350">
              <a:defRPr/>
            </a:pPr>
            <a:fld id="{F11803AF-592B-4257-A081-034C072C49E3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5/13/2026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14350"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0033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14350">
              <a:defRPr/>
            </a:pPr>
            <a:fld id="{0A936868-B880-4C54-94E9-9D2CBD5F131E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5/13/2026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14350"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5377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14350">
              <a:defRPr/>
            </a:pPr>
            <a:fld id="{55162B58-7F80-4C12-8718-64E81B38B082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5/13/2026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14350"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4170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14350">
              <a:defRPr/>
            </a:pPr>
            <a:fld id="{B2D2E963-980B-4545-9A70-B0AC38981181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5/13/2026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14350"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9496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14350">
              <a:defRPr/>
            </a:pPr>
            <a:fld id="{2933A61A-76B4-4091-9561-163C5F11ED02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5/13/2026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14350"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397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14350">
              <a:defRPr/>
            </a:pPr>
            <a:fld id="{37833D00-0694-467E-A8FA-EE9D39B3C9AD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5/13/2026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14350"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3646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14350">
              <a:defRPr/>
            </a:pPr>
            <a:fld id="{85704E46-176E-4573-986F-A1A769C0F91E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5/13/2026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14350"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0438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14350">
              <a:defRPr/>
            </a:pPr>
            <a:fld id="{D4184016-4B19-4BEE-AB13-6E8811836C88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5/13/2026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14350"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790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14350">
              <a:defRPr/>
            </a:pPr>
            <a:fld id="{25B09A94-DFE2-43CA-ABD2-1489230DBAE2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5/13/2026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14350"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8910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3FE331E-C5A7-4440-8D60-35C922ABA37D}" type="datetime1">
              <a:rPr lang="en-US" altLang="zh-TW" smtClean="0">
                <a:solidFill>
                  <a:prstClr val="black">
                    <a:tint val="75000"/>
                  </a:prstClr>
                </a:solidFill>
                <a:latin typeface="Arial" charset="0"/>
              </a:rPr>
              <a:t>5/13/2026</a:t>
            </a:fld>
            <a:endParaRPr lang="en-US" dirty="0">
              <a:solidFill>
                <a:prstClr val="black">
                  <a:tint val="75000"/>
                </a:prstClr>
              </a:solidFill>
              <a:latin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de-DE" altLang="zh-TW" sz="1050" b="1">
              <a:solidFill>
                <a:prstClr val="black">
                  <a:tint val="75000"/>
                </a:prstClr>
              </a:solidFill>
              <a:latin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8F63A3B-78C7-47BE-AE5E-E10140E04643}" type="slidenum">
              <a:rPr lang="en-US" smtClean="0">
                <a:solidFill>
                  <a:prstClr val="black">
                    <a:tint val="75000"/>
                  </a:prstClr>
                </a:solidFill>
                <a:latin typeface="Arial" charset="0"/>
              </a:rPr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2184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329156-FD61-E59B-DE1B-F3A12526B3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PEIC Final Project </a:t>
            </a:r>
            <a:b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Project plan and topics</a:t>
            </a:r>
            <a:endParaRPr lang="zh-TW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953E221-1CAD-4186-EF0F-6C668CE9E5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18498"/>
            <a:ext cx="9144000" cy="1655762"/>
          </a:xfrm>
        </p:spPr>
        <p:txBody>
          <a:bodyPr anchor="b">
            <a:normAutofit/>
          </a:bodyPr>
          <a:lstStyle/>
          <a:p>
            <a:r>
              <a:rPr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Group1: </a:t>
            </a:r>
            <a:r>
              <a:rPr lang="zh-TW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邱于瑄、林均翰、劉展佑、張顥譽</a:t>
            </a:r>
            <a:endParaRPr lang="en-US" altLang="zh-TW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Presenter: </a:t>
            </a:r>
            <a:r>
              <a:rPr lang="zh-TW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劉展佑</a:t>
            </a:r>
            <a:endParaRPr lang="en-US" altLang="zh-TW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Date:2026.05.14</a:t>
            </a:r>
            <a:endParaRPr lang="zh-TW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395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037238-2FE0-57F4-D1F3-1FF9401C0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103" y="0"/>
            <a:ext cx="11479794" cy="769546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  <a:endParaRPr lang="zh-TW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6659133-D6AA-0540-919D-6D2C6F0A5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103" y="977774"/>
            <a:ext cx="11479794" cy="5199189"/>
          </a:xfrm>
        </p:spPr>
        <p:txBody>
          <a:bodyPr>
            <a:normAutofit/>
          </a:bodyPr>
          <a:lstStyle/>
          <a:p>
            <a:r>
              <a:rPr lang="en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Literature review</a:t>
            </a:r>
          </a:p>
          <a:p>
            <a:r>
              <a:rPr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Project spec.</a:t>
            </a:r>
            <a:endParaRPr lang="en" altLang="zh-TW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Behavior model simulation</a:t>
            </a:r>
            <a:endParaRPr lang="zh-TW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07AD0A6-C11F-10D3-9524-383322A8E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2"/>
            <a:ext cx="3225297" cy="365125"/>
          </a:xfrm>
        </p:spPr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2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4528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8CFFC-ABFA-EEB3-7876-08CC44F9C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55BD1A-229F-0D04-2FFA-38C1F6DCB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103" y="0"/>
            <a:ext cx="11479794" cy="769546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Project</a:t>
            </a:r>
            <a:endParaRPr lang="zh-TW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113569-E4DE-DF51-0379-1C4EA5B33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103" y="977774"/>
            <a:ext cx="11479794" cy="5199189"/>
          </a:xfrm>
        </p:spPr>
        <p:txBody>
          <a:bodyPr>
            <a:normAutofit/>
          </a:bodyPr>
          <a:lstStyle/>
          <a:p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altLang="zh-TW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Constant ON-Time </a:t>
            </a:r>
            <a:r>
              <a:rPr lang="en-US" altLang="zh-TW" sz="2400" b="1" dirty="0">
                <a:latin typeface="Arial" panose="020B0604020202020204" pitchFamily="34" charset="0"/>
                <a:cs typeface="Arial" panose="020B0604020202020204" pitchFamily="34" charset="0"/>
              </a:rPr>
              <a:t>control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for point of load (POL)</a:t>
            </a:r>
            <a:r>
              <a:rPr lang="zh-TW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buck</a:t>
            </a:r>
          </a:p>
          <a:p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</a:p>
          <a:p>
            <a:pPr lvl="1"/>
            <a:r>
              <a:rPr lang="en" altLang="zh-TW" dirty="0">
                <a:latin typeface="Arial" panose="020B0604020202020204" pitchFamily="34" charset="0"/>
                <a:cs typeface="Arial" panose="020B0604020202020204" pitchFamily="34" charset="0"/>
              </a:rPr>
              <a:t>Ultrafast Transient Response</a:t>
            </a:r>
          </a:p>
          <a:p>
            <a:pPr lvl="1"/>
            <a:r>
              <a:rPr lang="en" altLang="zh-TW" dirty="0">
                <a:latin typeface="Arial" panose="020B0604020202020204" pitchFamily="34" charset="0"/>
                <a:cs typeface="Arial" panose="020B0604020202020204" pitchFamily="34" charset="0"/>
              </a:rPr>
              <a:t>Simple Implementation (no current sensing resistor)</a:t>
            </a:r>
          </a:p>
          <a:p>
            <a:r>
              <a:rPr lang="en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Spec &amp; Application:</a:t>
            </a:r>
          </a:p>
          <a:p>
            <a:pPr lvl="1"/>
            <a:r>
              <a:rPr lang="en" altLang="zh-TW" dirty="0">
                <a:latin typeface="Arial" panose="020B0604020202020204" pitchFamily="34" charset="0"/>
                <a:cs typeface="Arial" panose="020B0604020202020204" pitchFamily="34" charset="0"/>
              </a:rPr>
              <a:t>Vin = 12V, Vo = 1.2V</a:t>
            </a:r>
            <a:r>
              <a:rPr lang="zh-TW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Io = 1A to 4A</a:t>
            </a:r>
            <a:endParaRPr lang="en" altLang="zh-TW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" altLang="zh-TW" dirty="0">
                <a:latin typeface="Arial" panose="020B0604020202020204" pitchFamily="34" charset="0"/>
                <a:cs typeface="Arial" panose="020B0604020202020204" pitchFamily="34" charset="0"/>
              </a:rPr>
              <a:t>CPU or GPU in mobile device</a:t>
            </a:r>
            <a:br>
              <a:rPr lang="en" altLang="zh-TW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zh-TW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64B115-BD69-F02F-36E8-436CF7692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2"/>
            <a:ext cx="3225297" cy="365125"/>
          </a:xfrm>
        </p:spPr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3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AA500E2-CD92-1832-E009-2CDB2BEF9F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108" y="3643114"/>
            <a:ext cx="5002170" cy="253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577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6BB0C-6AEC-AF0D-8EFB-6F158C08C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A688C9-C916-0CA5-A6B5-172D61E60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103" y="0"/>
            <a:ext cx="11479794" cy="769546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Literature review – Problem of COT</a:t>
            </a:r>
            <a:endParaRPr lang="zh-TW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C24699E-C540-D43B-141E-510ED7413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2"/>
            <a:ext cx="3225297" cy="365125"/>
          </a:xfrm>
        </p:spPr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4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A7F1DA1-26D6-3ECE-DC55-F7FEFFAA1A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1" t="2964" r="13599" b="1719"/>
          <a:stretch>
            <a:fillRect/>
          </a:stretch>
        </p:blipFill>
        <p:spPr>
          <a:xfrm>
            <a:off x="8162139" y="2858702"/>
            <a:ext cx="3672649" cy="379235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A496BD2C-4F9F-7B43-8D93-BAA5E24766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5228" y="839966"/>
            <a:ext cx="2076037" cy="2018736"/>
          </a:xfrm>
          <a:prstGeom prst="rect">
            <a:avLst/>
          </a:prstGeom>
        </p:spPr>
      </p:pic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E45E532E-9BBB-55BE-5B81-D379A522A36D}"/>
              </a:ext>
            </a:extLst>
          </p:cNvPr>
          <p:cNvSpPr txBox="1">
            <a:spLocks/>
          </p:cNvSpPr>
          <p:nvPr/>
        </p:nvSpPr>
        <p:spPr>
          <a:xfrm>
            <a:off x="356103" y="977774"/>
            <a:ext cx="7642491" cy="51991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zh-TW" sz="2400" b="1" dirty="0">
                <a:latin typeface="Arial" panose="020B0604020202020204" pitchFamily="34" charset="0"/>
                <a:cs typeface="Arial" panose="020B0604020202020204" pitchFamily="34" charset="0"/>
              </a:rPr>
              <a:t>Subharmonic Oscillation:</a:t>
            </a:r>
          </a:p>
          <a:p>
            <a:pPr lvl="1"/>
            <a:r>
              <a:rPr lang="en" altLang="zh-TW" sz="2000" dirty="0"/>
              <a:t>Both the </a:t>
            </a:r>
            <a:r>
              <a:rPr lang="en" altLang="zh-TW" sz="2000" b="1" dirty="0"/>
              <a:t>inductor current </a:t>
            </a:r>
            <a:r>
              <a:rPr lang="en" altLang="zh-TW" sz="2000" dirty="0"/>
              <a:t>and </a:t>
            </a:r>
            <a:r>
              <a:rPr lang="en" altLang="zh-TW" sz="2000" b="1" dirty="0"/>
              <a:t>the capacitor voltage ripple</a:t>
            </a:r>
            <a:r>
              <a:rPr lang="en" altLang="zh-TW" sz="2000" dirty="0"/>
              <a:t> information is fed back to the modulator</a:t>
            </a:r>
          </a:p>
          <a:p>
            <a:pPr lvl="1"/>
            <a:r>
              <a:rPr lang="en" altLang="zh-TW" sz="2000" dirty="0"/>
              <a:t>No subharmonic oscillation in the constant on-time control</a:t>
            </a:r>
          </a:p>
          <a:p>
            <a:pPr lvl="1"/>
            <a:r>
              <a:rPr lang="en" altLang="zh-TW" sz="2000" b="1" dirty="0"/>
              <a:t>Delay due to the capacitor ripple </a:t>
            </a:r>
            <a:r>
              <a:rPr lang="en" altLang="zh-TW" sz="2000" dirty="0"/>
              <a:t>results in sub-harmonic oscillation</a:t>
            </a:r>
          </a:p>
          <a:p>
            <a:r>
              <a:rPr lang="en" altLang="zh-TW" sz="2400" dirty="0"/>
              <a:t>System is stable when used with the OSCON capacitor, because the inductor current information dominates the total output voltage ripple</a:t>
            </a:r>
          </a:p>
          <a:p>
            <a:r>
              <a:rPr lang="en" altLang="zh-TW" sz="2400" dirty="0"/>
              <a:t>Subharmonic oscillation occurs when the ceramic capacitor is used with the constant on-time control, since the capacitor voltage ripple is relatively too large</a:t>
            </a:r>
            <a:endParaRPr lang="en" altLang="zh-TW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62331E4C-0AD5-760E-9582-9D0883BF10FB}"/>
              </a:ext>
            </a:extLst>
          </p:cNvPr>
          <p:cNvSpPr txBox="1"/>
          <p:nvPr/>
        </p:nvSpPr>
        <p:spPr>
          <a:xfrm>
            <a:off x="1849120" y="6538914"/>
            <a:ext cx="107289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TW" sz="1000" dirty="0"/>
              <a:t>Li, Jian, and Fred C. Lee. "Modeling of ${\rm V}^{2} $ Current-Mode Control." </a:t>
            </a:r>
            <a:r>
              <a:rPr lang="en" altLang="zh-TW" sz="1000" i="1" dirty="0"/>
              <a:t>IEEE Transactions on Circuits and Systems I: Regular Papers</a:t>
            </a:r>
            <a:r>
              <a:rPr lang="en" altLang="zh-TW" sz="1000" dirty="0"/>
              <a:t> 57.9 (2010): 2552-2563.</a:t>
            </a:r>
            <a:endParaRPr kumimoji="1" lang="zh-TW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983260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6BB0C-6AEC-AF0D-8EFB-6F158C08C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A688C9-C916-0CA5-A6B5-172D61E60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103" y="0"/>
            <a:ext cx="11479794" cy="769546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Literature review –</a:t>
            </a:r>
            <a:r>
              <a:rPr lang="zh-TW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External Ramp </a:t>
            </a:r>
            <a:endParaRPr lang="zh-TW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C24699E-C540-D43B-141E-510ED7413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2"/>
            <a:ext cx="3225297" cy="365125"/>
          </a:xfrm>
        </p:spPr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5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0C814BAC-0E96-427E-A5EE-3C8B623F1FEE}"/>
              </a:ext>
            </a:extLst>
          </p:cNvPr>
          <p:cNvSpPr txBox="1"/>
          <p:nvPr/>
        </p:nvSpPr>
        <p:spPr>
          <a:xfrm>
            <a:off x="356103" y="465184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i="0" dirty="0">
                <a:effectLst/>
              </a:rPr>
              <a:t>Bode plots comparison of control-to-output transfer function with different external ramp </a:t>
            </a:r>
            <a:r>
              <a:rPr lang="en-US" altLang="zh-TW" b="1" dirty="0"/>
              <a:t>and duty cycle</a:t>
            </a:r>
            <a:endParaRPr lang="zh-TW" altLang="en-US" b="1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13D8A89-B7E7-E629-0A1F-86919C0F0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99" y="1066708"/>
            <a:ext cx="6439711" cy="341480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121E3716-FCB8-F4AE-CBD3-449645537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6543" y="2328793"/>
            <a:ext cx="4754502" cy="1336233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EA03E269-EE07-23B2-4046-8F0A1CA290D6}"/>
              </a:ext>
            </a:extLst>
          </p:cNvPr>
          <p:cNvSpPr txBox="1"/>
          <p:nvPr/>
        </p:nvSpPr>
        <p:spPr>
          <a:xfrm>
            <a:off x="6932850" y="4328681"/>
            <a:ext cx="5125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S</a:t>
            </a:r>
            <a:r>
              <a:rPr lang="zh-TW" altLang="en-US" baseline="-25000" dirty="0"/>
              <a:t>f</a:t>
            </a:r>
            <a:r>
              <a:rPr lang="zh-TW" altLang="en-US" dirty="0"/>
              <a:t>: The "natural voltage drop slope" that occurs naturally without any external </a:t>
            </a:r>
            <a:r>
              <a:rPr lang="en-US" altLang="zh-TW" dirty="0"/>
              <a:t>ramp</a:t>
            </a:r>
            <a:r>
              <a:rPr lang="zh-TW" altLang="en-US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013A9767-6749-FFE9-4056-B3ECAAEEE25A}"/>
                  </a:ext>
                </a:extLst>
              </p:cNvPr>
              <p:cNvSpPr txBox="1"/>
              <p:nvPr/>
            </p:nvSpPr>
            <p:spPr>
              <a:xfrm>
                <a:off x="6625055" y="1237039"/>
                <a:ext cx="6374499" cy="12189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zh-TW" altLang="en-US" b="1" i="1">
                            <a:latin typeface="Cambria Math" panose="02040503050406030204" pitchFamily="18" charset="0"/>
                          </a:rPr>
                          <m:t>𝒆</m:t>
                        </m:r>
                      </m:sub>
                    </m:sSub>
                    <m:r>
                      <a:rPr lang="en-US" altLang="zh-TW" b="1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zh-TW" altLang="en-US" b="1" i="1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zh-TW" alt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zh-TW" altLang="en-US" b="1" i="1">
                            <a:latin typeface="Cambria Math" panose="02040503050406030204" pitchFamily="18" charset="0"/>
                          </a:rPr>
                          <m:t>𝒆</m:t>
                        </m:r>
                        <m:r>
                          <m:rPr>
                            <m:lit/>
                          </m:rPr>
                          <a:rPr lang="zh-TW" altLang="en-US" b="1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zh-TW" altLang="en-US" b="1" i="1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en-US" altLang="zh-TW" b="1" dirty="0">
                    <a:cs typeface="Times New Roman" panose="02020603050405020304" pitchFamily="18" charset="0"/>
                  </a:rPr>
                  <a:t>:</a:t>
                </a:r>
                <a:r>
                  <a:rPr lang="zh-TW" altLang="en-US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zh-TW" b="1" dirty="0">
                    <a:cs typeface="Times New Roman" panose="02020603050405020304" pitchFamily="18" charset="0"/>
                  </a:rPr>
                  <a:t>Sub-harmonic Oscillation</a:t>
                </a:r>
              </a:p>
              <a:p>
                <a:endParaRPr lang="en-US" altLang="zh-TW" b="1" dirty="0"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zh-TW" altLang="en-US" b="1" i="1">
                            <a:latin typeface="Cambria Math" panose="02040503050406030204" pitchFamily="18" charset="0"/>
                          </a:rPr>
                          <m:t>𝒆</m:t>
                        </m:r>
                      </m:sub>
                    </m:sSub>
                    <m:r>
                      <a:rPr lang="en-US" altLang="zh-TW" b="1" i="1">
                        <a:latin typeface="Cambria Math" panose="02040503050406030204" pitchFamily="18" charset="0"/>
                      </a:rPr>
                      <m:t>&gt;&gt;</m:t>
                    </m:r>
                    <m:sSub>
                      <m:sSubPr>
                        <m:ctrlPr>
                          <a:rPr lang="zh-TW" alt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zh-TW" altLang="en-US" b="1" i="1">
                            <a:latin typeface="Cambria Math" panose="02040503050406030204" pitchFamily="18" charset="0"/>
                          </a:rPr>
                          <m:t>𝒆</m:t>
                        </m:r>
                        <m:r>
                          <m:rPr>
                            <m:lit/>
                          </m:rPr>
                          <a:rPr lang="zh-TW" altLang="en-US" b="1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zh-TW" altLang="en-US" b="1" i="1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en-US" altLang="zh-TW" b="1" dirty="0">
                    <a:cs typeface="Times New Roman" panose="02020603050405020304" pitchFamily="18" charset="0"/>
                  </a:rPr>
                  <a:t>: Bandwidth</a:t>
                </a:r>
                <a:r>
                  <a:rPr lang="zh-TW" altLang="en-US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zh-TW" b="1" dirty="0">
                    <a:cs typeface="Times New Roman" panose="02020603050405020304" pitchFamily="18" charset="0"/>
                  </a:rPr>
                  <a:t>reduce</a:t>
                </a:r>
                <a:r>
                  <a:rPr lang="zh-TW" altLang="en-US" b="1" dirty="0">
                    <a:cs typeface="Times New Roman" panose="02020603050405020304" pitchFamily="18" charset="0"/>
                  </a:rPr>
                  <a:t>、</a:t>
                </a:r>
                <a:r>
                  <a:rPr lang="en-US" altLang="zh-TW" b="1" dirty="0">
                    <a:cs typeface="Times New Roman" panose="02020603050405020304" pitchFamily="18" charset="0"/>
                  </a:rPr>
                  <a:t> Transient deteriorates</a:t>
                </a:r>
              </a:p>
              <a:p>
                <a:r>
                  <a:rPr lang="zh-TW" altLang="en-US" b="1" dirty="0"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013A9767-6749-FFE9-4056-B3ECAAEEE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5055" y="1237039"/>
                <a:ext cx="6374499" cy="1218923"/>
              </a:xfrm>
              <a:prstGeom prst="rect">
                <a:avLst/>
              </a:prstGeom>
              <a:blipFill>
                <a:blip r:embed="rId4"/>
                <a:stretch>
                  <a:fillRect t="-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圖片 13">
            <a:extLst>
              <a:ext uri="{FF2B5EF4-FFF2-40B4-BE49-F238E27FC236}">
                <a16:creationId xmlns:a16="http://schemas.microsoft.com/office/drawing/2014/main" id="{01D8EB4B-40F9-AA99-CE95-99EA1EFB3F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0853" y="3782434"/>
            <a:ext cx="1520393" cy="361999"/>
          </a:xfrm>
          <a:prstGeom prst="rect">
            <a:avLst/>
          </a:prstGeom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B3A1C176-D60F-E3B8-3009-C1C5870C98E9}"/>
              </a:ext>
            </a:extLst>
          </p:cNvPr>
          <p:cNvSpPr txBox="1"/>
          <p:nvPr/>
        </p:nvSpPr>
        <p:spPr>
          <a:xfrm>
            <a:off x="8304319" y="5298178"/>
            <a:ext cx="65624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=0.1 , S</a:t>
            </a:r>
            <a:r>
              <a:rPr lang="en" altLang="zh-TW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=3S</a:t>
            </a:r>
            <a:r>
              <a:rPr lang="en" altLang="zh-TW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 </a:t>
            </a:r>
            <a:endParaRPr lang="zh-TW" alt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箭號: 向右 18">
            <a:extLst>
              <a:ext uri="{FF2B5EF4-FFF2-40B4-BE49-F238E27FC236}">
                <a16:creationId xmlns:a16="http://schemas.microsoft.com/office/drawing/2014/main" id="{7FAD0636-20B1-7381-1FF8-C33E6EEAE18D}"/>
              </a:ext>
            </a:extLst>
          </p:cNvPr>
          <p:cNvSpPr/>
          <p:nvPr/>
        </p:nvSpPr>
        <p:spPr>
          <a:xfrm>
            <a:off x="7453046" y="5415217"/>
            <a:ext cx="618067" cy="36406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DBD75970-0CF4-43B0-F17A-C98FF2EF053E}"/>
              </a:ext>
            </a:extLst>
          </p:cNvPr>
          <p:cNvSpPr txBox="1"/>
          <p:nvPr/>
        </p:nvSpPr>
        <p:spPr>
          <a:xfrm>
            <a:off x="1992191" y="6262956"/>
            <a:ext cx="82052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dirty="0"/>
              <a:t>Shuilin Tian</a:t>
            </a:r>
            <a:r>
              <a:rPr lang="en" altLang="zh-TW" sz="1600" dirty="0"/>
              <a:t>. “S</a:t>
            </a:r>
            <a:r>
              <a:rPr lang="en-US" altLang="zh-TW" sz="1600" dirty="0"/>
              <a:t>mall-Signal Analysis and Optimal Design of External Ramp for Constant On-Time V2 Control With Multilayer Ceramic Caps</a:t>
            </a:r>
            <a:r>
              <a:rPr lang="en" altLang="zh-TW" sz="1600" dirty="0"/>
              <a:t>." </a:t>
            </a:r>
            <a:r>
              <a:rPr lang="en" altLang="zh-TW" sz="1600" i="1" dirty="0"/>
              <a:t> </a:t>
            </a:r>
            <a:r>
              <a:rPr lang="en" altLang="zh-TW" sz="1600" dirty="0"/>
              <a:t>(2014).</a:t>
            </a:r>
            <a:endParaRPr kumimoji="1"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549616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0F8D68-6942-42D1-B517-4B5CDFBA5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378" y="49052"/>
            <a:ext cx="10515600" cy="1325563"/>
          </a:xfrm>
        </p:spPr>
        <p:txBody>
          <a:bodyPr>
            <a:normAutofit/>
          </a:bodyPr>
          <a:lstStyle/>
          <a:p>
            <a:r>
              <a:rPr lang="en" altLang="zh-TW" sz="3600" b="1" dirty="0">
                <a:latin typeface="Arial" panose="020B0604020202020204" pitchFamily="34" charset="0"/>
                <a:cs typeface="Arial" panose="020B0604020202020204" pitchFamily="34" charset="0"/>
              </a:rPr>
              <a:t>Spec.</a:t>
            </a:r>
            <a:br>
              <a:rPr lang="zh-TW" altLang="en-US" sz="3600" dirty="0"/>
            </a:br>
            <a:endParaRPr lang="zh-TW" altLang="en-US" sz="3600" dirty="0"/>
          </a:p>
        </p:txBody>
      </p:sp>
      <p:graphicFrame>
        <p:nvGraphicFramePr>
          <p:cNvPr id="7" name="表格 9">
            <a:extLst>
              <a:ext uri="{FF2B5EF4-FFF2-40B4-BE49-F238E27FC236}">
                <a16:creationId xmlns:a16="http://schemas.microsoft.com/office/drawing/2014/main" id="{056928A8-A4F0-4364-934D-6B2C90E852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0008470"/>
              </p:ext>
            </p:extLst>
          </p:nvPr>
        </p:nvGraphicFramePr>
        <p:xfrm>
          <a:off x="1948874" y="1466979"/>
          <a:ext cx="5188792" cy="4152339"/>
        </p:xfrm>
        <a:graphic>
          <a:graphicData uri="http://schemas.openxmlformats.org/drawingml/2006/table">
            <a:tbl>
              <a:tblPr firstRow="1" bandRow="1">
                <a:tableStyleId>{D03447BB-5D67-496B-8E87-E561075AD55C}</a:tableStyleId>
              </a:tblPr>
              <a:tblGrid>
                <a:gridCol w="5188792">
                  <a:extLst>
                    <a:ext uri="{9D8B030D-6E8A-4147-A177-3AD203B41FA5}">
                      <a16:colId xmlns:a16="http://schemas.microsoft.com/office/drawing/2014/main" val="2817255913"/>
                    </a:ext>
                  </a:extLst>
                </a:gridCol>
              </a:tblGrid>
              <a:tr h="46137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Topology</a:t>
                      </a:r>
                      <a:endParaRPr lang="zh-TW" altLang="en-US" sz="24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147335"/>
                  </a:ext>
                </a:extLst>
              </a:tr>
              <a:tr h="46137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</a:t>
                      </a:r>
                      <a:r>
                        <a:rPr lang="en-US" altLang="zh-TW" sz="2400" b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voltage </a:t>
                      </a:r>
                      <a:r>
                        <a:rPr lang="en-US" altLang="zh-TW" sz="2400" b="1" i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altLang="zh-TW" sz="2400" b="1" i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</a:t>
                      </a:r>
                      <a:endParaRPr lang="zh-TW" altLang="en-US" sz="2400" b="1" i="1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3712623"/>
                  </a:ext>
                </a:extLst>
              </a:tr>
              <a:tr h="46137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</a:t>
                      </a:r>
                      <a:r>
                        <a:rPr lang="en-US" altLang="zh-TW" sz="2400" b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voltage </a:t>
                      </a:r>
                      <a:r>
                        <a:rPr lang="en-US" altLang="zh-TW" sz="2400" b="1" i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altLang="zh-TW" sz="2400" b="1" i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  <a:endParaRPr lang="zh-TW" altLang="en-US" sz="2400" b="1" i="1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7183922"/>
                  </a:ext>
                </a:extLst>
              </a:tr>
              <a:tr h="4613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</a:t>
                      </a:r>
                      <a:r>
                        <a:rPr lang="en-US" altLang="zh-TW" sz="2400" b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current I</a:t>
                      </a:r>
                      <a:r>
                        <a:rPr lang="en-US" altLang="zh-TW" sz="2400" b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  <a:endParaRPr lang="zh-TW" altLang="en-US" sz="2400" b="1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61786"/>
                  </a:ext>
                </a:extLst>
              </a:tr>
              <a:tr h="46137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Inductance </a:t>
                      </a:r>
                      <a:r>
                        <a:rPr lang="en-US" altLang="zh-TW" sz="2400" b="1" i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  <a:endParaRPr lang="zh-TW" altLang="en-US" sz="2400" b="1" i="1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705953"/>
                  </a:ext>
                </a:extLst>
              </a:tr>
              <a:tr h="46137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Capacitor C</a:t>
                      </a:r>
                      <a:endParaRPr lang="zh-TW" altLang="en-US" sz="2400" b="1" i="1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9198080"/>
                  </a:ext>
                </a:extLst>
              </a:tr>
              <a:tr h="46137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ESR</a:t>
                      </a:r>
                      <a:endParaRPr lang="zh-TW" altLang="en-US" sz="2400" b="1" i="1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2493102"/>
                  </a:ext>
                </a:extLst>
              </a:tr>
              <a:tr h="4613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External ramp slope</a:t>
                      </a:r>
                      <a:r>
                        <a:rPr lang="en-US" altLang="zh-TW" sz="2400" b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2400" b="1" i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  <a:r>
                        <a:rPr lang="en-US" altLang="zh-TW" sz="2400" b="1" i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 </a:t>
                      </a:r>
                      <a:r>
                        <a:rPr lang="en-US" altLang="zh-TW" sz="2400" b="1" i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 3S</a:t>
                      </a:r>
                      <a:r>
                        <a:rPr lang="en-US" altLang="zh-TW" sz="2400" b="1" i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endParaRPr lang="zh-TW" altLang="en-US" sz="2400" b="1" i="1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7884183"/>
                  </a:ext>
                </a:extLst>
              </a:tr>
              <a:tr h="46137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Switching</a:t>
                      </a:r>
                      <a:r>
                        <a:rPr lang="en-US" altLang="zh-TW" sz="2400" b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frequency </a:t>
                      </a:r>
                      <a:r>
                        <a:rPr lang="en-US" altLang="zh-TW" sz="2400" b="1" i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r>
                        <a:rPr lang="en-US" altLang="zh-TW" sz="2400" b="1" i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  <a:endParaRPr lang="zh-TW" altLang="en-US" sz="2400" b="1" i="1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646280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5C00B23D-FAE7-4449-97BE-131B97ABF3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5929341"/>
              </p:ext>
            </p:extLst>
          </p:nvPr>
        </p:nvGraphicFramePr>
        <p:xfrm>
          <a:off x="7175343" y="1466979"/>
          <a:ext cx="3769748" cy="4152336"/>
        </p:xfrm>
        <a:graphic>
          <a:graphicData uri="http://schemas.openxmlformats.org/drawingml/2006/table">
            <a:tbl>
              <a:tblPr firstRow="1" bandRow="1">
                <a:tableStyleId>{D03447BB-5D67-496B-8E87-E561075AD55C}</a:tableStyleId>
              </a:tblPr>
              <a:tblGrid>
                <a:gridCol w="3769748">
                  <a:extLst>
                    <a:ext uri="{9D8B030D-6E8A-4147-A177-3AD203B41FA5}">
                      <a16:colId xmlns:a16="http://schemas.microsoft.com/office/drawing/2014/main" val="2817255913"/>
                    </a:ext>
                  </a:extLst>
                </a:gridCol>
              </a:tblGrid>
              <a:tr h="41966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kern="1200" baseline="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Buck Converter</a:t>
                      </a:r>
                      <a:endParaRPr lang="zh-TW" altLang="en-US" sz="2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147335"/>
                  </a:ext>
                </a:extLst>
              </a:tr>
              <a:tr h="46189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TW" altLang="en-US" sz="24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24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</a:t>
                      </a:r>
                      <a:endParaRPr lang="zh-TW" altLang="en-US" sz="2400" b="1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3712623"/>
                  </a:ext>
                </a:extLst>
              </a:tr>
              <a:tr h="46189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1.2</a:t>
                      </a:r>
                      <a:r>
                        <a:rPr lang="zh-TW" altLang="en-US" sz="24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24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</a:t>
                      </a:r>
                      <a:endParaRPr lang="zh-TW" altLang="en-US" sz="2400" b="1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7183922"/>
                  </a:ext>
                </a:extLst>
              </a:tr>
              <a:tr h="46189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 A</a:t>
                      </a:r>
                      <a:endParaRPr lang="zh-TW" altLang="en-US" sz="2400" b="1" i="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705953"/>
                  </a:ext>
                </a:extLst>
              </a:tr>
              <a:tr h="46189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1.8</a:t>
                      </a:r>
                      <a:r>
                        <a:rPr lang="zh-TW" altLang="en-US" sz="2400" b="1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2400" b="1" i="0" kern="1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μH</a:t>
                      </a:r>
                      <a:endParaRPr lang="zh-TW" altLang="en-US" sz="2400" b="1" i="0" kern="1200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3878433"/>
                  </a:ext>
                </a:extLst>
              </a:tr>
              <a:tr h="46189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i="0" kern="120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800 </a:t>
                      </a:r>
                      <a:r>
                        <a:rPr lang="en-US" altLang="zh-TW" sz="2400" b="1" i="0" kern="1200" baseline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uF</a:t>
                      </a:r>
                      <a:endParaRPr lang="zh-TW" altLang="en-US" sz="2400" b="1" i="0" kern="120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0092261"/>
                  </a:ext>
                </a:extLst>
              </a:tr>
              <a:tr h="46189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i="0" kern="120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175 u</a:t>
                      </a:r>
                      <a:r>
                        <a:rPr lang="el-GR" altLang="zh-TW" sz="2400" b="1" i="0" kern="120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Ω</a:t>
                      </a:r>
                      <a:endParaRPr lang="zh-TW" altLang="en-US" sz="2400" b="1" i="0" kern="120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3214562"/>
                  </a:ext>
                </a:extLst>
              </a:tr>
              <a:tr h="4618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350 mV/us</a:t>
                      </a:r>
                      <a:endParaRPr lang="zh-TW" altLang="en-US" sz="2400" b="1" i="0" kern="120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8254337"/>
                  </a:ext>
                </a:extLst>
              </a:tr>
              <a:tr h="46189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i="0" kern="120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300</a:t>
                      </a:r>
                      <a:r>
                        <a:rPr lang="zh-TW" altLang="en-US" sz="2400" b="1" i="0" kern="120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2400" b="1" i="0" kern="120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kHz</a:t>
                      </a:r>
                      <a:endParaRPr lang="zh-TW" altLang="en-US" sz="2400" b="1" i="0" kern="120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245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5254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8D3EEDD-8A04-4E18-AE5A-C8782EBB9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7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EA04790-0D87-6E57-8B99-6418F0383274}"/>
              </a:ext>
            </a:extLst>
          </p:cNvPr>
          <p:cNvSpPr txBox="1"/>
          <p:nvPr/>
        </p:nvSpPr>
        <p:spPr>
          <a:xfrm>
            <a:off x="230908" y="136523"/>
            <a:ext cx="84605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Behavior model simulation (SIMPLIS)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1FE0D10-4705-1CB1-143F-A9F6607DE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304" y="1030730"/>
            <a:ext cx="9677678" cy="5690747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BCABEC7B-5D30-BB3A-6E6D-5F9569B3B670}"/>
              </a:ext>
            </a:extLst>
          </p:cNvPr>
          <p:cNvSpPr txBox="1"/>
          <p:nvPr/>
        </p:nvSpPr>
        <p:spPr>
          <a:xfrm>
            <a:off x="1006486" y="1169360"/>
            <a:ext cx="18380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2000" b="1" dirty="0">
                <a:solidFill>
                  <a:schemeClr val="bg1"/>
                </a:solidFill>
                <a:highlight>
                  <a:srgbClr val="000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Power Stage</a:t>
            </a:r>
            <a:endParaRPr lang="zh-TW" altLang="en-US" sz="2000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EB2AC64-D946-DF70-DBF3-E75D6E427337}"/>
              </a:ext>
            </a:extLst>
          </p:cNvPr>
          <p:cNvSpPr txBox="1"/>
          <p:nvPr/>
        </p:nvSpPr>
        <p:spPr>
          <a:xfrm>
            <a:off x="8774545" y="2810378"/>
            <a:ext cx="18380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2000" b="1" dirty="0">
                <a:solidFill>
                  <a:schemeClr val="bg1"/>
                </a:solidFill>
                <a:highlight>
                  <a:srgbClr val="000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Compensater</a:t>
            </a:r>
            <a:endParaRPr lang="zh-TW" altLang="en-US" sz="2000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2878898-B48F-5745-BF83-9C47DD21B655}"/>
              </a:ext>
            </a:extLst>
          </p:cNvPr>
          <p:cNvSpPr txBox="1"/>
          <p:nvPr/>
        </p:nvSpPr>
        <p:spPr>
          <a:xfrm>
            <a:off x="7465290" y="4905468"/>
            <a:ext cx="22906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2000" b="1" dirty="0">
                <a:solidFill>
                  <a:schemeClr val="bg1"/>
                </a:solidFill>
                <a:highlight>
                  <a:srgbClr val="000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External Ramp</a:t>
            </a:r>
            <a:endParaRPr lang="zh-TW" altLang="en-US" sz="2000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3D982436-C088-ABBC-2BE8-515201AEA098}"/>
              </a:ext>
            </a:extLst>
          </p:cNvPr>
          <p:cNvSpPr txBox="1"/>
          <p:nvPr/>
        </p:nvSpPr>
        <p:spPr>
          <a:xfrm>
            <a:off x="6629398" y="6041800"/>
            <a:ext cx="33528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2000" b="1" dirty="0">
                <a:solidFill>
                  <a:schemeClr val="bg1"/>
                </a:solidFill>
                <a:highlight>
                  <a:srgbClr val="000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COT Generator</a:t>
            </a:r>
            <a:endParaRPr lang="zh-TW" altLang="en-US" sz="2000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0D14F0A-BC5C-6069-3102-7DD3A10BB65B}"/>
              </a:ext>
            </a:extLst>
          </p:cNvPr>
          <p:cNvSpPr txBox="1"/>
          <p:nvPr/>
        </p:nvSpPr>
        <p:spPr>
          <a:xfrm>
            <a:off x="1006486" y="3322052"/>
            <a:ext cx="33528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>
                <a:solidFill>
                  <a:schemeClr val="bg1"/>
                </a:solidFill>
                <a:highlight>
                  <a:srgbClr val="000000"/>
                </a:highlight>
              </a:rPr>
              <a:t>Comparator</a:t>
            </a:r>
            <a:endParaRPr lang="zh-TW" altLang="en-US" sz="2000" b="1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055916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8E8C5A8-67B3-7BCF-1106-848072960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8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B4BDC1B-4B5D-6728-9522-26E97AF1FF2C}"/>
              </a:ext>
            </a:extLst>
          </p:cNvPr>
          <p:cNvSpPr txBox="1"/>
          <p:nvPr/>
        </p:nvSpPr>
        <p:spPr>
          <a:xfrm>
            <a:off x="151597" y="128154"/>
            <a:ext cx="78070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800" b="1" dirty="0">
                <a:latin typeface="Arial" panose="020B0604020202020204" pitchFamily="34" charset="0"/>
                <a:cs typeface="Arial" panose="020B0604020202020204" pitchFamily="34" charset="0"/>
              </a:rPr>
              <a:t>Behavior model simulation (Steady State)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41CDAC8B-E5DE-FF62-7CDE-370DCC95C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84" y="819001"/>
            <a:ext cx="7245515" cy="5791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849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BC67977-6EBC-F438-5B65-8D9609A07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9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63C5338-4A74-CECD-D4B6-2421F2C58142}"/>
              </a:ext>
            </a:extLst>
          </p:cNvPr>
          <p:cNvSpPr txBox="1"/>
          <p:nvPr/>
        </p:nvSpPr>
        <p:spPr>
          <a:xfrm>
            <a:off x="151597" y="128154"/>
            <a:ext cx="108127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800" b="1" dirty="0">
                <a:latin typeface="Arial" panose="020B0604020202020204" pitchFamily="34" charset="0"/>
                <a:cs typeface="Arial" panose="020B0604020202020204" pitchFamily="34" charset="0"/>
              </a:rPr>
              <a:t>Behavior model simulation ( Insufficient of External Ramp )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4287EE2-DB51-47C3-6418-99C31AA73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379" y="961731"/>
            <a:ext cx="6312224" cy="5759746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CD2F0E9F-1A7F-E7B9-C0A9-22362844809C}"/>
              </a:ext>
            </a:extLst>
          </p:cNvPr>
          <p:cNvSpPr txBox="1"/>
          <p:nvPr/>
        </p:nvSpPr>
        <p:spPr>
          <a:xfrm>
            <a:off x="8620606" y="2627807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2000" b="1" dirty="0">
                <a:highlight>
                  <a:srgbClr val="FF0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Subharmonic Oscillation !    </a:t>
            </a:r>
            <a:endParaRPr lang="zh-TW" altLang="en-US" sz="2000" dirty="0">
              <a:highlight>
                <a:srgbClr val="FF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953453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EFED1-09D5-8F93-EC70-B5CD9DF64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186942-754F-B21A-A3FF-E4C087C41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103" y="0"/>
            <a:ext cx="11479794" cy="769546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To-do item</a:t>
            </a:r>
            <a:endParaRPr lang="zh-TW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CA1F1A-4EF1-F235-06CC-A87D2FEAC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103" y="977774"/>
            <a:ext cx="11479794" cy="5199189"/>
          </a:xfrm>
        </p:spPr>
        <p:txBody>
          <a:bodyPr>
            <a:normAutofit/>
          </a:bodyPr>
          <a:lstStyle/>
          <a:p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Transient, AC simulation (SIMPLIS)</a:t>
            </a:r>
          </a:p>
          <a:p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Confirm the spec. for each subblock.</a:t>
            </a:r>
            <a:br>
              <a:rPr lang="en" altLang="zh-TW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zh-TW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7400548-1A26-647A-62B4-2ED1E85C0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2"/>
            <a:ext cx="3225297" cy="365125"/>
          </a:xfrm>
        </p:spPr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10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950882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73151</TotalTime>
  <Words>415</Words>
  <Application>Microsoft Office PowerPoint</Application>
  <PresentationFormat>寬螢幕</PresentationFormat>
  <Paragraphs>73</Paragraphs>
  <Slides>10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Times New Roman</vt:lpstr>
      <vt:lpstr>1_Office 佈景主題</vt:lpstr>
      <vt:lpstr>PEIC Final Project  Project plan and topics</vt:lpstr>
      <vt:lpstr>Outline</vt:lpstr>
      <vt:lpstr>Project</vt:lpstr>
      <vt:lpstr>Literature review – Problem of COT</vt:lpstr>
      <vt:lpstr>Literature review – External Ramp </vt:lpstr>
      <vt:lpstr>Spec. </vt:lpstr>
      <vt:lpstr>PowerPoint 簡報</vt:lpstr>
      <vt:lpstr>PowerPoint 簡報</vt:lpstr>
      <vt:lpstr>PowerPoint 簡報</vt:lpstr>
      <vt:lpstr>To-do item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report</dc:title>
  <dc:creator>張育誠</dc:creator>
  <cp:lastModifiedBy>Benson.Liu 劉展佑</cp:lastModifiedBy>
  <cp:revision>638</cp:revision>
  <dcterms:created xsi:type="dcterms:W3CDTF">2020-07-04T17:19:57Z</dcterms:created>
  <dcterms:modified xsi:type="dcterms:W3CDTF">2026-05-13T15:08:35Z</dcterms:modified>
</cp:coreProperties>
</file>