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6"/>
  </p:notesMasterIdLst>
  <p:sldIdLst>
    <p:sldId id="256" r:id="rId2"/>
    <p:sldId id="258" r:id="rId3"/>
    <p:sldId id="259" r:id="rId4"/>
    <p:sldId id="271" r:id="rId5"/>
    <p:sldId id="275" r:id="rId6"/>
    <p:sldId id="278" r:id="rId7"/>
    <p:sldId id="277" r:id="rId8"/>
    <p:sldId id="279" r:id="rId9"/>
    <p:sldId id="276" r:id="rId10"/>
    <p:sldId id="285" r:id="rId11"/>
    <p:sldId id="283" r:id="rId12"/>
    <p:sldId id="280" r:id="rId13"/>
    <p:sldId id="284" r:id="rId14"/>
    <p:sldId id="262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enson.Liu 劉展佑" initials="B劉" lastIdx="1" clrIdx="0">
    <p:extLst>
      <p:ext uri="{19B8F6BF-5375-455C-9EA6-DF929625EA0E}">
        <p15:presenceInfo xmlns:p15="http://schemas.microsoft.com/office/powerpoint/2012/main" userId="Benson.Liu 劉展佑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01E3"/>
    <a:srgbClr val="6600FF"/>
    <a:srgbClr val="2ACA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47021D-AF3E-2DCA-FFF8-2FA66E939F0A}" v="1" dt="2026-05-20T05:29:57.186"/>
    <p1510:client id="{E9D5C69D-0287-12B8-CC81-058D22025AC1}" v="76" dt="2026-05-20T07:24:58.9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56" autoAdjust="0"/>
    <p:restoredTop sz="92200" autoAdjust="0"/>
  </p:normalViewPr>
  <p:slideViewPr>
    <p:cSldViewPr snapToGrid="0">
      <p:cViewPr varScale="1">
        <p:scale>
          <a:sx n="99" d="100"/>
          <a:sy n="99" d="100"/>
        </p:scale>
        <p:origin x="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son.Liu 劉展佑" userId="S::benson.liu@powerforest.com::b91776e8-4c5a-43b1-a733-626c908ed86f" providerId="AD" clId="Web-{E9D5C69D-0287-12B8-CC81-058D22025AC1}"/>
    <pc:docChg chg="addSld delSld modSld">
      <pc:chgData name="Benson.Liu 劉展佑" userId="S::benson.liu@powerforest.com::b91776e8-4c5a-43b1-a733-626c908ed86f" providerId="AD" clId="Web-{E9D5C69D-0287-12B8-CC81-058D22025AC1}" dt="2026-05-20T07:24:58.979" v="71" actId="1076"/>
      <pc:docMkLst>
        <pc:docMk/>
      </pc:docMkLst>
      <pc:sldChg chg="modSp">
        <pc:chgData name="Benson.Liu 劉展佑" userId="S::benson.liu@powerforest.com::b91776e8-4c5a-43b1-a733-626c908ed86f" providerId="AD" clId="Web-{E9D5C69D-0287-12B8-CC81-058D22025AC1}" dt="2026-05-20T05:47:42.035" v="23"/>
        <pc:sldMkLst>
          <pc:docMk/>
          <pc:sldMk cId="1955254817" sldId="271"/>
        </pc:sldMkLst>
        <pc:graphicFrameChg chg="modGraphic">
          <ac:chgData name="Benson.Liu 劉展佑" userId="S::benson.liu@powerforest.com::b91776e8-4c5a-43b1-a733-626c908ed86f" providerId="AD" clId="Web-{E9D5C69D-0287-12B8-CC81-058D22025AC1}" dt="2026-05-20T05:47:42.035" v="23"/>
          <ac:graphicFrameMkLst>
            <pc:docMk/>
            <pc:sldMk cId="1955254817" sldId="271"/>
            <ac:graphicFrameMk id="7" creationId="{056928A8-A4F0-4364-934D-6B2C90E852AE}"/>
          </ac:graphicFrameMkLst>
        </pc:graphicFrameChg>
        <pc:graphicFrameChg chg="mod modGraphic">
          <ac:chgData name="Benson.Liu 劉展佑" userId="S::benson.liu@powerforest.com::b91776e8-4c5a-43b1-a733-626c908ed86f" providerId="AD" clId="Web-{E9D5C69D-0287-12B8-CC81-058D22025AC1}" dt="2026-05-20T05:47:36.519" v="22"/>
          <ac:graphicFrameMkLst>
            <pc:docMk/>
            <pc:sldMk cId="1955254817" sldId="271"/>
            <ac:graphicFrameMk id="8" creationId="{5C00B23D-FAE7-4449-97BE-131B97ABF3E7}"/>
          </ac:graphicFrameMkLst>
        </pc:graphicFrameChg>
      </pc:sldChg>
      <pc:sldChg chg="addSp delSp modSp">
        <pc:chgData name="Benson.Liu 劉展佑" userId="S::benson.liu@powerforest.com::b91776e8-4c5a-43b1-a733-626c908ed86f" providerId="AD" clId="Web-{E9D5C69D-0287-12B8-CC81-058D22025AC1}" dt="2026-05-20T07:24:58.979" v="71" actId="1076"/>
        <pc:sldMkLst>
          <pc:docMk/>
          <pc:sldMk cId="2222968213" sldId="285"/>
        </pc:sldMkLst>
        <pc:spChg chg="del">
          <ac:chgData name="Benson.Liu 劉展佑" userId="S::benson.liu@powerforest.com::b91776e8-4c5a-43b1-a733-626c908ed86f" providerId="AD" clId="Web-{E9D5C69D-0287-12B8-CC81-058D22025AC1}" dt="2026-05-20T07:22:06.957" v="24"/>
          <ac:spMkLst>
            <pc:docMk/>
            <pc:sldMk cId="2222968213" sldId="285"/>
            <ac:spMk id="3" creationId="{6B36907F-38F5-CD8D-DD01-F19860063840}"/>
          </ac:spMkLst>
        </pc:spChg>
        <pc:spChg chg="add del">
          <ac:chgData name="Benson.Liu 劉展佑" userId="S::benson.liu@powerforest.com::b91776e8-4c5a-43b1-a733-626c908ed86f" providerId="AD" clId="Web-{E9D5C69D-0287-12B8-CC81-058D22025AC1}" dt="2026-05-20T07:22:42.536" v="48"/>
          <ac:spMkLst>
            <pc:docMk/>
            <pc:sldMk cId="2222968213" sldId="285"/>
            <ac:spMk id="9" creationId="{5E8B0A35-3FF8-D9E8-A539-3A86FEE8D212}"/>
          </ac:spMkLst>
        </pc:spChg>
        <pc:spChg chg="add del">
          <ac:chgData name="Benson.Liu 劉展佑" userId="S::benson.liu@powerforest.com::b91776e8-4c5a-43b1-a733-626c908ed86f" providerId="AD" clId="Web-{E9D5C69D-0287-12B8-CC81-058D22025AC1}" dt="2026-05-20T07:22:42.536" v="47"/>
          <ac:spMkLst>
            <pc:docMk/>
            <pc:sldMk cId="2222968213" sldId="285"/>
            <ac:spMk id="11" creationId="{A3548ADE-E751-13E0-8910-752C15DB23AB}"/>
          </ac:spMkLst>
        </pc:spChg>
        <pc:spChg chg="add del">
          <ac:chgData name="Benson.Liu 劉展佑" userId="S::benson.liu@powerforest.com::b91776e8-4c5a-43b1-a733-626c908ed86f" providerId="AD" clId="Web-{E9D5C69D-0287-12B8-CC81-058D22025AC1}" dt="2026-05-20T07:22:42.536" v="46"/>
          <ac:spMkLst>
            <pc:docMk/>
            <pc:sldMk cId="2222968213" sldId="285"/>
            <ac:spMk id="13" creationId="{48BBE204-2774-84EE-B7F2-FA53FA8C6A86}"/>
          </ac:spMkLst>
        </pc:spChg>
        <pc:spChg chg="add del">
          <ac:chgData name="Benson.Liu 劉展佑" userId="S::benson.liu@powerforest.com::b91776e8-4c5a-43b1-a733-626c908ed86f" providerId="AD" clId="Web-{E9D5C69D-0287-12B8-CC81-058D22025AC1}" dt="2026-05-20T07:22:42.536" v="45"/>
          <ac:spMkLst>
            <pc:docMk/>
            <pc:sldMk cId="2222968213" sldId="285"/>
            <ac:spMk id="15" creationId="{EF026C9E-5587-A545-336F-043E22247785}"/>
          </ac:spMkLst>
        </pc:spChg>
        <pc:spChg chg="add del">
          <ac:chgData name="Benson.Liu 劉展佑" userId="S::benson.liu@powerforest.com::b91776e8-4c5a-43b1-a733-626c908ed86f" providerId="AD" clId="Web-{E9D5C69D-0287-12B8-CC81-058D22025AC1}" dt="2026-05-20T07:22:42.536" v="44"/>
          <ac:spMkLst>
            <pc:docMk/>
            <pc:sldMk cId="2222968213" sldId="285"/>
            <ac:spMk id="17" creationId="{AD5C9AAC-2DA8-A09B-3F02-401ECB8318B4}"/>
          </ac:spMkLst>
        </pc:spChg>
        <pc:spChg chg="add del">
          <ac:chgData name="Benson.Liu 劉展佑" userId="S::benson.liu@powerforest.com::b91776e8-4c5a-43b1-a733-626c908ed86f" providerId="AD" clId="Web-{E9D5C69D-0287-12B8-CC81-058D22025AC1}" dt="2026-05-20T07:22:42.536" v="43"/>
          <ac:spMkLst>
            <pc:docMk/>
            <pc:sldMk cId="2222968213" sldId="285"/>
            <ac:spMk id="19" creationId="{E82DC0E0-7D66-7376-ED9C-FA616DB74AB7}"/>
          </ac:spMkLst>
        </pc:spChg>
        <pc:spChg chg="add del mod">
          <ac:chgData name="Benson.Liu 劉展佑" userId="S::benson.liu@powerforest.com::b91776e8-4c5a-43b1-a733-626c908ed86f" providerId="AD" clId="Web-{E9D5C69D-0287-12B8-CC81-058D22025AC1}" dt="2026-05-20T07:23:17.350" v="66"/>
          <ac:spMkLst>
            <pc:docMk/>
            <pc:sldMk cId="2222968213" sldId="285"/>
            <ac:spMk id="21" creationId="{4E60D716-9361-F966-AF04-4F17CD2A572A}"/>
          </ac:spMkLst>
        </pc:spChg>
        <pc:spChg chg="add del mod">
          <ac:chgData name="Benson.Liu 劉展佑" userId="S::benson.liu@powerforest.com::b91776e8-4c5a-43b1-a733-626c908ed86f" providerId="AD" clId="Web-{E9D5C69D-0287-12B8-CC81-058D22025AC1}" dt="2026-05-20T07:23:10.006" v="64"/>
          <ac:spMkLst>
            <pc:docMk/>
            <pc:sldMk cId="2222968213" sldId="285"/>
            <ac:spMk id="23" creationId="{1A11AF41-E845-1D59-4705-142CC5BBBD46}"/>
          </ac:spMkLst>
        </pc:spChg>
        <pc:spChg chg="add mod">
          <ac:chgData name="Benson.Liu 劉展佑" userId="S::benson.liu@powerforest.com::b91776e8-4c5a-43b1-a733-626c908ed86f" providerId="AD" clId="Web-{E9D5C69D-0287-12B8-CC81-058D22025AC1}" dt="2026-05-20T07:23:16.194" v="65" actId="1076"/>
          <ac:spMkLst>
            <pc:docMk/>
            <pc:sldMk cId="2222968213" sldId="285"/>
            <ac:spMk id="25" creationId="{E60AB0E0-29C7-CBA1-5A86-3F01139035AA}"/>
          </ac:spMkLst>
        </pc:spChg>
        <pc:spChg chg="add mod">
          <ac:chgData name="Benson.Liu 劉展佑" userId="S::benson.liu@powerforest.com::b91776e8-4c5a-43b1-a733-626c908ed86f" providerId="AD" clId="Web-{E9D5C69D-0287-12B8-CC81-058D22025AC1}" dt="2026-05-20T07:23:22.413" v="67" actId="1076"/>
          <ac:spMkLst>
            <pc:docMk/>
            <pc:sldMk cId="2222968213" sldId="285"/>
            <ac:spMk id="27" creationId="{44AC43F3-296D-AFB3-97A7-A0FE1B596E19}"/>
          </ac:spMkLst>
        </pc:spChg>
        <pc:spChg chg="add mod">
          <ac:chgData name="Benson.Liu 劉展佑" userId="S::benson.liu@powerforest.com::b91776e8-4c5a-43b1-a733-626c908ed86f" providerId="AD" clId="Web-{E9D5C69D-0287-12B8-CC81-058D22025AC1}" dt="2026-05-20T07:23:31.585" v="70" actId="1076"/>
          <ac:spMkLst>
            <pc:docMk/>
            <pc:sldMk cId="2222968213" sldId="285"/>
            <ac:spMk id="29" creationId="{79C9B6D3-C765-34CA-93BB-128B9D4B5B7C}"/>
          </ac:spMkLst>
        </pc:spChg>
        <pc:spChg chg="add mod">
          <ac:chgData name="Benson.Liu 劉展佑" userId="S::benson.liu@powerforest.com::b91776e8-4c5a-43b1-a733-626c908ed86f" providerId="AD" clId="Web-{E9D5C69D-0287-12B8-CC81-058D22025AC1}" dt="2026-05-20T07:24:58.979" v="71" actId="1076"/>
          <ac:spMkLst>
            <pc:docMk/>
            <pc:sldMk cId="2222968213" sldId="285"/>
            <ac:spMk id="31" creationId="{C101E21E-185D-9686-9F2B-0EB8DB55157E}"/>
          </ac:spMkLst>
        </pc:spChg>
        <pc:picChg chg="add mod ord">
          <ac:chgData name="Benson.Liu 劉展佑" userId="S::benson.liu@powerforest.com::b91776e8-4c5a-43b1-a733-626c908ed86f" providerId="AD" clId="Web-{E9D5C69D-0287-12B8-CC81-058D22025AC1}" dt="2026-05-20T07:22:32.301" v="35" actId="1076"/>
          <ac:picMkLst>
            <pc:docMk/>
            <pc:sldMk cId="2222968213" sldId="285"/>
            <ac:picMk id="2" creationId="{1BEB2A60-9420-98AF-DFE8-1B59772BB907}"/>
          </ac:picMkLst>
        </pc:picChg>
        <pc:picChg chg="add del">
          <ac:chgData name="Benson.Liu 劉展佑" userId="S::benson.liu@powerforest.com::b91776e8-4c5a-43b1-a733-626c908ed86f" providerId="AD" clId="Web-{E9D5C69D-0287-12B8-CC81-058D22025AC1}" dt="2026-05-20T07:22:42.536" v="49"/>
          <ac:picMkLst>
            <pc:docMk/>
            <pc:sldMk cId="2222968213" sldId="285"/>
            <ac:picMk id="7" creationId="{686206E1-6537-7D03-24B2-A86F153C79F0}"/>
          </ac:picMkLst>
        </pc:picChg>
      </pc:sldChg>
      <pc:sldChg chg="add del">
        <pc:chgData name="Benson.Liu 劉展佑" userId="S::benson.liu@powerforest.com::b91776e8-4c5a-43b1-a733-626c908ed86f" providerId="AD" clId="Web-{E9D5C69D-0287-12B8-CC81-058D22025AC1}" dt="2026-05-20T07:22:49.646" v="51"/>
        <pc:sldMkLst>
          <pc:docMk/>
          <pc:sldMk cId="3037639399" sldId="286"/>
        </pc:sldMkLst>
      </pc:sldChg>
    </pc:docChg>
  </pc:docChgLst>
  <pc:docChgLst>
    <pc:chgData name="Benson.Liu 劉展佑" userId="S::benson.liu@powerforest.com::b91776e8-4c5a-43b1-a733-626c908ed86f" providerId="AD" clId="Web-{0447021D-AF3E-2DCA-FFF8-2FA66E939F0A}"/>
    <pc:docChg chg="delSld">
      <pc:chgData name="Benson.Liu 劉展佑" userId="S::benson.liu@powerforest.com::b91776e8-4c5a-43b1-a733-626c908ed86f" providerId="AD" clId="Web-{0447021D-AF3E-2DCA-FFF8-2FA66E939F0A}" dt="2026-05-20T05:29:57.186" v="0"/>
      <pc:docMkLst>
        <pc:docMk/>
      </pc:docMkLst>
      <pc:sldChg chg="del">
        <pc:chgData name="Benson.Liu 劉展佑" userId="S::benson.liu@powerforest.com::b91776e8-4c5a-43b1-a733-626c908ed86f" providerId="AD" clId="Web-{0447021D-AF3E-2DCA-FFF8-2FA66E939F0A}" dt="2026-05-20T05:29:57.186" v="0"/>
        <pc:sldMkLst>
          <pc:docMk/>
          <pc:sldMk cId="2519298699" sldId="28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35779F-1EFE-4485-A906-EA001590265A}" type="datetimeFigureOut">
              <a:rPr lang="zh-TW" altLang="en-US" smtClean="0"/>
              <a:t>2026/6/6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02100C-E61B-46DE-8874-8E13D526CE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9619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63E31C6-1C2A-4845-89E3-6FEE68952421}" type="datetime1">
              <a:rPr lang="en-US" altLang="zh-TW" smtClean="0">
                <a:solidFill>
                  <a:prstClr val="black">
                    <a:tint val="75000"/>
                  </a:prstClr>
                </a:solidFill>
                <a:latin typeface="Arial" charset="0"/>
              </a:rPr>
              <a:t>6/6/2026</a:t>
            </a:fld>
            <a:endParaRPr lang="en-US" dirty="0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37243" y="6128125"/>
            <a:ext cx="3129441" cy="60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486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3B36FF9-F2FD-472F-9F28-9BAB14879814}" type="datetime1">
              <a:rPr lang="en-US" altLang="zh-TW" smtClean="0">
                <a:solidFill>
                  <a:prstClr val="black">
                    <a:tint val="75000"/>
                  </a:prstClr>
                </a:solidFill>
                <a:latin typeface="Arial" charset="0"/>
              </a:rPr>
              <a:t>6/6/2026</a:t>
            </a:fld>
            <a:endParaRPr lang="en-US" dirty="0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7" name="直線接點 6"/>
          <p:cNvCxnSpPr/>
          <p:nvPr userDrawn="1"/>
        </p:nvCxnSpPr>
        <p:spPr>
          <a:xfrm>
            <a:off x="65908" y="766119"/>
            <a:ext cx="1201282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圖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905" y="6514646"/>
            <a:ext cx="1449859" cy="28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641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F11803AF-592B-4257-A081-034C072C49E3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6/6/2026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0033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0A936868-B880-4C54-94E9-9D2CBD5F131E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6/6/2026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5377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55162B58-7F80-4C12-8718-64E81B38B082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6/6/2026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4170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B2D2E963-980B-4545-9A70-B0AC38981181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6/6/2026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9496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2933A61A-76B4-4091-9561-163C5F11ED02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6/6/2026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397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37833D00-0694-467E-A8FA-EE9D39B3C9AD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6/6/2026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3646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85704E46-176E-4573-986F-A1A769C0F91E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6/6/2026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043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D4184016-4B19-4BEE-AB13-6E8811836C88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6/6/2026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790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25B09A94-DFE2-43CA-ABD2-1489230DBAE2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6/6/2026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910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3FE331E-C5A7-4440-8D60-35C922ABA37D}" type="datetime1">
              <a:rPr lang="en-US" altLang="zh-TW" smtClean="0">
                <a:solidFill>
                  <a:prstClr val="black">
                    <a:tint val="75000"/>
                  </a:prstClr>
                </a:solidFill>
                <a:latin typeface="Arial" charset="0"/>
              </a:rPr>
              <a:t>6/6/2026</a:t>
            </a:fld>
            <a:endParaRPr lang="en-US" dirty="0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de-DE" altLang="zh-TW" sz="1050" b="1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8F63A3B-78C7-47BE-AE5E-E10140E04643}" type="slidenum">
              <a:rPr lang="en-US" smtClean="0">
                <a:solidFill>
                  <a:prstClr val="black">
                    <a:tint val="75000"/>
                  </a:prstClr>
                </a:solidFill>
                <a:latin typeface="Arial" charset="0"/>
              </a:rPr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184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13.png"/><Relationship Id="rId7" Type="http://schemas.openxmlformats.org/officeDocument/2006/relationships/image" Target="../media/image15.w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7.wmf"/><Relationship Id="rId5" Type="http://schemas.openxmlformats.org/officeDocument/2006/relationships/image" Target="../media/image14.png"/><Relationship Id="rId10" Type="http://schemas.openxmlformats.org/officeDocument/2006/relationships/oleObject" Target="../embeddings/oleObject8.bin"/><Relationship Id="rId4" Type="http://schemas.openxmlformats.org/officeDocument/2006/relationships/image" Target="../media/image8.png"/><Relationship Id="rId9" Type="http://schemas.openxmlformats.org/officeDocument/2006/relationships/image" Target="../media/image16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329156-FD61-E59B-DE1B-F3A12526B3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PEIC Final Project </a:t>
            </a:r>
            <a:b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Project plan and topics</a:t>
            </a: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953E221-1CAD-4186-EF0F-6C668CE9E5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18498"/>
            <a:ext cx="9144000" cy="1655762"/>
          </a:xfrm>
        </p:spPr>
        <p:txBody>
          <a:bodyPr anchor="b">
            <a:normAutofit/>
          </a:bodyPr>
          <a:lstStyle/>
          <a:p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Group1: </a:t>
            </a:r>
            <a:r>
              <a:rPr lang="zh-TW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邱于瑄、林均翰、劉展佑、張顥譽</a:t>
            </a:r>
            <a:endParaRPr lang="en-US" altLang="zh-TW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Presenter:</a:t>
            </a:r>
            <a:r>
              <a:rPr lang="zh-TW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林均翰</a:t>
            </a:r>
            <a:endParaRPr lang="en-US" altLang="zh-TW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Date:2026.05.21</a:t>
            </a:r>
            <a:endParaRPr lang="zh-TW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395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037238-2FE0-57F4-D1F3-1FF9401C0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03" y="0"/>
            <a:ext cx="11479794" cy="769546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659133-D6AA-0540-919D-6D2C6F0A5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103" y="977774"/>
            <a:ext cx="11479794" cy="5199189"/>
          </a:xfrm>
        </p:spPr>
        <p:txBody>
          <a:bodyPr>
            <a:normAutofit/>
          </a:bodyPr>
          <a:lstStyle/>
          <a:p>
            <a:r>
              <a:rPr lang="en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Literature review</a:t>
            </a:r>
          </a:p>
          <a:p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Project spec.</a:t>
            </a:r>
            <a:endParaRPr lang="en" altLang="zh-TW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Behavior model simulation</a:t>
            </a:r>
            <a:endParaRPr lang="zh-TW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07AD0A6-C11F-10D3-9524-383322A8E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2"/>
            <a:ext cx="3225297" cy="365125"/>
          </a:xfrm>
        </p:spPr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2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4528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8CFFC-ABFA-EEB3-7876-08CC44F9C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55BD1A-229F-0D04-2FFA-38C1F6DCB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03" y="0"/>
            <a:ext cx="11479794" cy="769546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  <a:endParaRPr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113569-E4DE-DF51-0379-1C4EA5B33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103" y="977774"/>
            <a:ext cx="11479794" cy="5199189"/>
          </a:xfrm>
        </p:spPr>
        <p:txBody>
          <a:bodyPr>
            <a:normAutofit/>
          </a:bodyPr>
          <a:lstStyle/>
          <a:p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altLang="zh-TW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Constant ON-Time </a:t>
            </a:r>
            <a:r>
              <a:rPr lang="en-US" altLang="zh-TW" sz="2400" b="1" dirty="0"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for point of load (POL)</a:t>
            </a:r>
            <a:r>
              <a:rPr lang="zh-TW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buck</a:t>
            </a:r>
          </a:p>
          <a:p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</a:p>
          <a:p>
            <a:pPr lvl="1"/>
            <a:r>
              <a:rPr lang="en" altLang="zh-TW" dirty="0">
                <a:latin typeface="Arial" panose="020B0604020202020204" pitchFamily="34" charset="0"/>
                <a:cs typeface="Arial" panose="020B0604020202020204" pitchFamily="34" charset="0"/>
              </a:rPr>
              <a:t>Ultrafast Transient Response</a:t>
            </a:r>
          </a:p>
          <a:p>
            <a:pPr lvl="1"/>
            <a:r>
              <a:rPr lang="en" altLang="zh-TW" dirty="0">
                <a:latin typeface="Arial" panose="020B0604020202020204" pitchFamily="34" charset="0"/>
                <a:cs typeface="Arial" panose="020B0604020202020204" pitchFamily="34" charset="0"/>
              </a:rPr>
              <a:t>Simple Implementation (no current sensing resistor)</a:t>
            </a:r>
          </a:p>
          <a:p>
            <a:r>
              <a:rPr lang="en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Spec &amp; Application:</a:t>
            </a:r>
          </a:p>
          <a:p>
            <a:pPr lvl="1"/>
            <a:r>
              <a:rPr lang="en" altLang="zh-TW" dirty="0">
                <a:latin typeface="Arial" panose="020B0604020202020204" pitchFamily="34" charset="0"/>
                <a:cs typeface="Arial" panose="020B0604020202020204" pitchFamily="34" charset="0"/>
              </a:rPr>
              <a:t>Vin = 12V, Vo = 1.2V</a:t>
            </a:r>
            <a:r>
              <a:rPr lang="zh-TW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Io = 1A to 4A</a:t>
            </a:r>
            <a:endParaRPr lang="en" altLang="zh-TW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" altLang="zh-TW" dirty="0">
                <a:latin typeface="Arial" panose="020B0604020202020204" pitchFamily="34" charset="0"/>
                <a:cs typeface="Arial" panose="020B0604020202020204" pitchFamily="34" charset="0"/>
              </a:rPr>
              <a:t>CPU or GPU in mobile device</a:t>
            </a:r>
            <a:br>
              <a:rPr lang="en" altLang="zh-TW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64B115-BD69-F02F-36E8-436CF7692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2"/>
            <a:ext cx="3225297" cy="365125"/>
          </a:xfrm>
        </p:spPr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3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AA500E2-CD92-1832-E009-2CDB2BEF9F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108" y="3643114"/>
            <a:ext cx="5002170" cy="253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577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0F8D68-6942-42D1-B517-4B5CDFBA5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378" y="49052"/>
            <a:ext cx="10515600" cy="1325563"/>
          </a:xfrm>
        </p:spPr>
        <p:txBody>
          <a:bodyPr>
            <a:normAutofit/>
          </a:bodyPr>
          <a:lstStyle/>
          <a:p>
            <a:r>
              <a:rPr lang="en" altLang="zh-TW" sz="3600" b="1" dirty="0">
                <a:latin typeface="Arial" panose="020B0604020202020204" pitchFamily="34" charset="0"/>
                <a:cs typeface="Arial" panose="020B0604020202020204" pitchFamily="34" charset="0"/>
              </a:rPr>
              <a:t>Spec.</a:t>
            </a:r>
            <a:br>
              <a:rPr lang="zh-TW" altLang="en-US" sz="3600" dirty="0"/>
            </a:br>
            <a:endParaRPr lang="zh-TW" altLang="en-US" sz="3600" dirty="0"/>
          </a:p>
        </p:txBody>
      </p:sp>
      <p:graphicFrame>
        <p:nvGraphicFramePr>
          <p:cNvPr id="7" name="表格 9">
            <a:extLst>
              <a:ext uri="{FF2B5EF4-FFF2-40B4-BE49-F238E27FC236}">
                <a16:creationId xmlns:a16="http://schemas.microsoft.com/office/drawing/2014/main" id="{056928A8-A4F0-4364-934D-6B2C90E85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883951"/>
              </p:ext>
            </p:extLst>
          </p:nvPr>
        </p:nvGraphicFramePr>
        <p:xfrm>
          <a:off x="1700761" y="990990"/>
          <a:ext cx="5188792" cy="4912174"/>
        </p:xfrm>
        <a:graphic>
          <a:graphicData uri="http://schemas.openxmlformats.org/drawingml/2006/table">
            <a:tbl>
              <a:tblPr firstRow="1" bandRow="1">
                <a:tableStyleId>{D03447BB-5D67-496B-8E87-E561075AD55C}</a:tableStyleId>
              </a:tblPr>
              <a:tblGrid>
                <a:gridCol w="5188792">
                  <a:extLst>
                    <a:ext uri="{9D8B030D-6E8A-4147-A177-3AD203B41FA5}">
                      <a16:colId xmlns:a16="http://schemas.microsoft.com/office/drawing/2014/main" val="2817255913"/>
                    </a:ext>
                  </a:extLst>
                </a:gridCol>
              </a:tblGrid>
              <a:tr h="4625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Topology</a:t>
                      </a:r>
                      <a:endParaRPr lang="zh-TW" altLang="en-US" sz="24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147335"/>
                  </a:ext>
                </a:extLst>
              </a:tr>
              <a:tr h="4944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</a:t>
                      </a:r>
                      <a:r>
                        <a:rPr lang="en-US" altLang="zh-TW" sz="2400" b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voltage </a:t>
                      </a:r>
                      <a:r>
                        <a:rPr lang="en-US" altLang="zh-TW" sz="2400" b="1" i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altLang="zh-TW" sz="2400" b="1" i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</a:t>
                      </a:r>
                      <a:endParaRPr lang="zh-TW" altLang="en-US" sz="2400" b="1" i="1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3712623"/>
                  </a:ext>
                </a:extLst>
              </a:tr>
              <a:tr h="4944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</a:t>
                      </a:r>
                      <a:r>
                        <a:rPr lang="en-US" altLang="zh-TW" sz="2400" b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voltage </a:t>
                      </a:r>
                      <a:r>
                        <a:rPr lang="en-US" altLang="zh-TW" sz="2400" b="1" i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altLang="zh-TW" sz="2400" b="1" i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endParaRPr lang="zh-TW" altLang="en-US" sz="2400" b="1" i="1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7183922"/>
                  </a:ext>
                </a:extLst>
              </a:tr>
              <a:tr h="4944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</a:t>
                      </a:r>
                      <a:r>
                        <a:rPr lang="en-US" altLang="zh-TW" sz="2400" b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current I</a:t>
                      </a:r>
                      <a:r>
                        <a:rPr lang="en-US" altLang="zh-TW" sz="2400" b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endParaRPr lang="zh-TW" altLang="en-US" sz="2400" b="1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61786"/>
                  </a:ext>
                </a:extLst>
              </a:tr>
              <a:tr h="4625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Inductance </a:t>
                      </a:r>
                      <a:r>
                        <a:rPr lang="en-US" altLang="zh-TW" sz="2400" b="1" i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endParaRPr lang="zh-TW" altLang="en-US" sz="2400" b="1" i="1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705953"/>
                  </a:ext>
                </a:extLst>
              </a:tr>
              <a:tr h="46251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Capacitor C</a:t>
                      </a:r>
                      <a:endParaRPr lang="zh-TW" altLang="en-US" sz="2400" b="1" i="1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198080"/>
                  </a:ext>
                </a:extLst>
              </a:tr>
              <a:tr h="4625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ESR</a:t>
                      </a:r>
                      <a:endParaRPr lang="zh-TW" altLang="en-US" sz="2400" b="1" i="1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493102"/>
                  </a:ext>
                </a:extLst>
              </a:tr>
              <a:tr h="4944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External ramp slope</a:t>
                      </a:r>
                      <a:r>
                        <a:rPr lang="en-US" altLang="zh-TW" sz="2400" b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2400" b="1" i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  <a:r>
                        <a:rPr lang="en-US" altLang="zh-TW" sz="2400" b="1" i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 </a:t>
                      </a:r>
                      <a:r>
                        <a:rPr lang="en-US" altLang="zh-TW" sz="2400" b="1" i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 3S</a:t>
                      </a:r>
                      <a:r>
                        <a:rPr lang="en-US" altLang="zh-TW" sz="2400" b="1" i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lang="zh-TW" altLang="en-US" sz="2400" b="1" i="1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884183"/>
                  </a:ext>
                </a:extLst>
              </a:tr>
              <a:tr h="4944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Switching</a:t>
                      </a:r>
                      <a:r>
                        <a:rPr lang="en-US" altLang="zh-TW" sz="2400" b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frequency </a:t>
                      </a:r>
                      <a:r>
                        <a:rPr lang="en-US" altLang="zh-TW" sz="2400" b="1" i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r>
                        <a:rPr lang="en-US" altLang="zh-TW" sz="2400" b="1" i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  <a:endParaRPr lang="zh-TW" altLang="en-US" sz="2400" b="1" i="1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646280"/>
                  </a:ext>
                </a:extLst>
              </a:tr>
              <a:tr h="5900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i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 Voltage Ripple</a:t>
                      </a:r>
                      <a:endParaRPr lang="zh-TW" altLang="en-US" sz="3200" b="1" i="1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622949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5C00B23D-FAE7-4449-97BE-131B97ABF3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479305"/>
              </p:ext>
            </p:extLst>
          </p:nvPr>
        </p:nvGraphicFramePr>
        <p:xfrm>
          <a:off x="6927272" y="989610"/>
          <a:ext cx="3769748" cy="4916768"/>
        </p:xfrm>
        <a:graphic>
          <a:graphicData uri="http://schemas.openxmlformats.org/drawingml/2006/table">
            <a:tbl>
              <a:tblPr firstRow="1" bandRow="1">
                <a:tableStyleId>{D03447BB-5D67-496B-8E87-E561075AD55C}</a:tableStyleId>
              </a:tblPr>
              <a:tblGrid>
                <a:gridCol w="3769748">
                  <a:extLst>
                    <a:ext uri="{9D8B030D-6E8A-4147-A177-3AD203B41FA5}">
                      <a16:colId xmlns:a16="http://schemas.microsoft.com/office/drawing/2014/main" val="2817255913"/>
                    </a:ext>
                  </a:extLst>
                </a:gridCol>
              </a:tblGrid>
              <a:tr h="48847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kern="1200" baseline="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Buck Converter</a:t>
                      </a:r>
                      <a:endParaRPr lang="zh-TW" altLang="en-US" sz="24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147335"/>
                  </a:ext>
                </a:extLst>
              </a:tr>
              <a:tr h="49648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TW" altLang="en-US" sz="24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24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</a:t>
                      </a:r>
                      <a:endParaRPr lang="zh-TW" altLang="en-US" sz="24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3712623"/>
                  </a:ext>
                </a:extLst>
              </a:tr>
              <a:tr h="49648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1.2</a:t>
                      </a:r>
                      <a:r>
                        <a:rPr lang="zh-TW" altLang="en-US" sz="24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24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</a:t>
                      </a:r>
                      <a:endParaRPr lang="zh-TW" altLang="en-US" sz="24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7183922"/>
                  </a:ext>
                </a:extLst>
              </a:tr>
              <a:tr h="48847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 A</a:t>
                      </a:r>
                      <a:endParaRPr lang="zh-TW" altLang="en-US" sz="2400" b="1" i="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705953"/>
                  </a:ext>
                </a:extLst>
              </a:tr>
              <a:tr h="49648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1.8</a:t>
                      </a:r>
                      <a:r>
                        <a:rPr lang="zh-TW" altLang="en-US" sz="2400" b="1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2400" b="1" i="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μH</a:t>
                      </a:r>
                      <a:endParaRPr lang="zh-TW" altLang="en-US" sz="2400" b="1" i="0" kern="1200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3878433"/>
                  </a:ext>
                </a:extLst>
              </a:tr>
              <a:tr h="48847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i="0" kern="120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800 </a:t>
                      </a:r>
                      <a:r>
                        <a:rPr lang="en-US" altLang="zh-TW" sz="2400" b="1" i="0" kern="1200" baseline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uF</a:t>
                      </a:r>
                      <a:endParaRPr lang="zh-TW" altLang="en-US" sz="2400" b="1" i="0" kern="120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0092261"/>
                  </a:ext>
                </a:extLst>
              </a:tr>
              <a:tr h="48847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i="0" kern="120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175 u</a:t>
                      </a:r>
                      <a:r>
                        <a:rPr lang="el-GR" altLang="zh-TW" sz="2400" b="1" i="0" kern="120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Ω</a:t>
                      </a:r>
                      <a:endParaRPr lang="zh-TW" altLang="en-US" sz="2400" b="1" i="0" kern="120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214562"/>
                  </a:ext>
                </a:extLst>
              </a:tr>
              <a:tr h="4884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350 mV/us</a:t>
                      </a:r>
                      <a:endParaRPr lang="zh-TW" altLang="en-US" sz="2400" b="1" i="0" kern="120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8254337"/>
                  </a:ext>
                </a:extLst>
              </a:tr>
              <a:tr h="49648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i="0" kern="120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300</a:t>
                      </a:r>
                      <a:r>
                        <a:rPr lang="zh-TW" altLang="en-US" sz="2400" b="1" i="0" kern="120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2400" b="1" i="0" kern="120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kHz</a:t>
                      </a:r>
                      <a:endParaRPr lang="zh-TW" altLang="en-US" sz="2400" b="1" i="0" kern="120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245576"/>
                  </a:ext>
                </a:extLst>
              </a:tr>
              <a:tr h="488474"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en-US" altLang="zh-TW" sz="2400" b="1" i="0" kern="1200" baseline="0">
                          <a:solidFill>
                            <a:schemeClr val="bg1"/>
                          </a:solidFill>
                          <a:latin typeface="Arial"/>
                          <a:ea typeface="+mn-ea"/>
                          <a:cs typeface="Arial"/>
                        </a:rPr>
                        <a:t>0.0012 V</a:t>
                      </a:r>
                      <a:endParaRPr lang="zh-TW" altLang="en-US" sz="2400" b="1" i="0" kern="120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118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5254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46D4FE-5E1A-BC03-BDDA-FC0DD4FFD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9" y="0"/>
            <a:ext cx="12563594" cy="1325563"/>
          </a:xfrm>
        </p:spPr>
        <p:txBody>
          <a:bodyPr>
            <a:normAutofit/>
          </a:bodyPr>
          <a:lstStyle/>
          <a:p>
            <a:r>
              <a:rPr lang="en-US" altLang="zh-TW" sz="3200" b="1" dirty="0"/>
              <a:t>V2COT Small-Signal Control to Output Transfer Function</a:t>
            </a:r>
            <a:br>
              <a:rPr lang="zh-TW" altLang="en-US" sz="3200" b="1" dirty="0"/>
            </a:br>
            <a:endParaRPr lang="zh-TW" altLang="en-US" sz="3200" b="1" dirty="0"/>
          </a:p>
        </p:txBody>
      </p:sp>
      <p:graphicFrame>
        <p:nvGraphicFramePr>
          <p:cNvPr id="11" name="物件 10">
            <a:extLst>
              <a:ext uri="{FF2B5EF4-FFF2-40B4-BE49-F238E27FC236}">
                <a16:creationId xmlns:a16="http://schemas.microsoft.com/office/drawing/2014/main" id="{1545967C-A6A0-61FE-3F30-3C7456ED10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5596532"/>
              </p:ext>
            </p:extLst>
          </p:nvPr>
        </p:nvGraphicFramePr>
        <p:xfrm>
          <a:off x="667778" y="4184700"/>
          <a:ext cx="6885565" cy="160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914720" imgH="1143000" progId="Equation.DSMT4">
                  <p:embed/>
                </p:oleObj>
              </mc:Choice>
              <mc:Fallback>
                <p:oleObj name="Equation" r:id="rId2" imgW="4914720" imgH="1143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67778" y="4184700"/>
                        <a:ext cx="6885565" cy="160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字方塊 12">
            <a:extLst>
              <a:ext uri="{FF2B5EF4-FFF2-40B4-BE49-F238E27FC236}">
                <a16:creationId xmlns:a16="http://schemas.microsoft.com/office/drawing/2014/main" id="{5C6BCAE9-DB46-49F2-0DF8-E5E6E30E7B2D}"/>
              </a:ext>
            </a:extLst>
          </p:cNvPr>
          <p:cNvSpPr txBox="1"/>
          <p:nvPr/>
        </p:nvSpPr>
        <p:spPr>
          <a:xfrm>
            <a:off x="515675" y="885290"/>
            <a:ext cx="82650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/>
              <a:t>G</a:t>
            </a:r>
            <a:r>
              <a:rPr lang="en-US" altLang="zh-TW" sz="2400" b="1" baseline="-25000" dirty="0"/>
              <a:t>vc </a:t>
            </a:r>
            <a:r>
              <a:rPr lang="en-US" altLang="zh-TW" sz="2400" b="1" dirty="0"/>
              <a:t>Control to Output Transfer Function</a:t>
            </a:r>
            <a:endParaRPr lang="zh-TW" altLang="en-US" sz="2400" dirty="0"/>
          </a:p>
        </p:txBody>
      </p:sp>
      <p:graphicFrame>
        <p:nvGraphicFramePr>
          <p:cNvPr id="14" name="物件 13">
            <a:extLst>
              <a:ext uri="{FF2B5EF4-FFF2-40B4-BE49-F238E27FC236}">
                <a16:creationId xmlns:a16="http://schemas.microsoft.com/office/drawing/2014/main" id="{5BC8FAD6-17CF-18F0-E9E0-620C75CF89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6946917"/>
              </p:ext>
            </p:extLst>
          </p:nvPr>
        </p:nvGraphicFramePr>
        <p:xfrm>
          <a:off x="8674546" y="4362120"/>
          <a:ext cx="3295561" cy="148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14600" imgH="1130040" progId="Equation.DSMT4">
                  <p:embed/>
                </p:oleObj>
              </mc:Choice>
              <mc:Fallback>
                <p:oleObj name="Equation" r:id="rId4" imgW="2514600" imgH="1130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674546" y="4362120"/>
                        <a:ext cx="3295561" cy="1481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物件 17">
            <a:extLst>
              <a:ext uri="{FF2B5EF4-FFF2-40B4-BE49-F238E27FC236}">
                <a16:creationId xmlns:a16="http://schemas.microsoft.com/office/drawing/2014/main" id="{0234764A-8393-9C95-0E74-95598C53DF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21558"/>
              </p:ext>
            </p:extLst>
          </p:nvPr>
        </p:nvGraphicFramePr>
        <p:xfrm>
          <a:off x="667778" y="1564887"/>
          <a:ext cx="8006768" cy="16155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727600" imgH="1155600" progId="Equation.DSMT4">
                  <p:embed/>
                </p:oleObj>
              </mc:Choice>
              <mc:Fallback>
                <p:oleObj name="Equation" r:id="rId6" imgW="5727600" imgH="1155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67778" y="1564887"/>
                        <a:ext cx="8006768" cy="16155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字方塊 18">
            <a:extLst>
              <a:ext uri="{FF2B5EF4-FFF2-40B4-BE49-F238E27FC236}">
                <a16:creationId xmlns:a16="http://schemas.microsoft.com/office/drawing/2014/main" id="{C739C331-056A-25C2-26E3-068E45A4E27D}"/>
              </a:ext>
            </a:extLst>
          </p:cNvPr>
          <p:cNvSpPr txBox="1"/>
          <p:nvPr/>
        </p:nvSpPr>
        <p:spPr>
          <a:xfrm>
            <a:off x="413937" y="3540449"/>
            <a:ext cx="116366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/>
              <a:t>The ESR of ceramic capacitors and T</a:t>
            </a:r>
            <a:r>
              <a:rPr lang="en-US" altLang="zh-TW" sz="2400" b="1" baseline="-25000" dirty="0"/>
              <a:t>ON</a:t>
            </a:r>
            <a:r>
              <a:rPr lang="en-US" altLang="zh-TW" sz="2400" b="1" dirty="0"/>
              <a:t> are small, it can be simplified to: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11970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02475-A126-82B0-A877-67C9544F5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0C62E7-8A2E-1F1B-D3C6-3F0E9A9C8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9" y="0"/>
            <a:ext cx="12563594" cy="1325563"/>
          </a:xfrm>
        </p:spPr>
        <p:txBody>
          <a:bodyPr>
            <a:normAutofit/>
          </a:bodyPr>
          <a:lstStyle/>
          <a:p>
            <a:r>
              <a:rPr lang="en-US" altLang="zh-TW" sz="3200" b="1" dirty="0"/>
              <a:t>V2COT Small-Signal Control to Output Transfer Function</a:t>
            </a:r>
            <a:br>
              <a:rPr lang="zh-TW" altLang="en-US" sz="3200" b="1" dirty="0"/>
            </a:br>
            <a:endParaRPr lang="zh-TW" altLang="en-US" sz="3200" b="1" dirty="0"/>
          </a:p>
        </p:txBody>
      </p:sp>
      <p:graphicFrame>
        <p:nvGraphicFramePr>
          <p:cNvPr id="11" name="物件 10">
            <a:extLst>
              <a:ext uri="{FF2B5EF4-FFF2-40B4-BE49-F238E27FC236}">
                <a16:creationId xmlns:a16="http://schemas.microsoft.com/office/drawing/2014/main" id="{DD85EF57-8E04-E9D0-33D2-56AB4279D9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6557798"/>
              </p:ext>
            </p:extLst>
          </p:nvPr>
        </p:nvGraphicFramePr>
        <p:xfrm>
          <a:off x="367755" y="1686193"/>
          <a:ext cx="7357221" cy="41502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43400" imgH="2450880" progId="Equation.DSMT4">
                  <p:embed/>
                </p:oleObj>
              </mc:Choice>
              <mc:Fallback>
                <p:oleObj name="Equation" r:id="rId2" imgW="4343400" imgH="2450880" progId="Equation.DSMT4">
                  <p:embed/>
                  <p:pic>
                    <p:nvPicPr>
                      <p:cNvPr id="11" name="物件 10">
                        <a:extLst>
                          <a:ext uri="{FF2B5EF4-FFF2-40B4-BE49-F238E27FC236}">
                            <a16:creationId xmlns:a16="http://schemas.microsoft.com/office/drawing/2014/main" id="{1545967C-A6A0-61FE-3F30-3C7456ED10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67755" y="1686193"/>
                        <a:ext cx="7357221" cy="41502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字方塊 12">
            <a:extLst>
              <a:ext uri="{FF2B5EF4-FFF2-40B4-BE49-F238E27FC236}">
                <a16:creationId xmlns:a16="http://schemas.microsoft.com/office/drawing/2014/main" id="{B8FE2927-8246-D67A-F12D-F7C5C4ED1979}"/>
              </a:ext>
            </a:extLst>
          </p:cNvPr>
          <p:cNvSpPr txBox="1"/>
          <p:nvPr/>
        </p:nvSpPr>
        <p:spPr>
          <a:xfrm>
            <a:off x="515675" y="885290"/>
            <a:ext cx="82650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/>
              <a:t>G</a:t>
            </a:r>
            <a:r>
              <a:rPr lang="en-US" altLang="zh-TW" sz="2400" b="1" baseline="-25000" dirty="0"/>
              <a:t>vc </a:t>
            </a:r>
            <a:r>
              <a:rPr lang="en-US" altLang="zh-TW" sz="2400" b="1" dirty="0"/>
              <a:t>Control to Output Transfer Function</a:t>
            </a:r>
            <a:endParaRPr lang="zh-TW" altLang="en-US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7FAEB9D-8765-5569-3A54-C7FFFACF9E01}"/>
              </a:ext>
            </a:extLst>
          </p:cNvPr>
          <p:cNvSpPr/>
          <p:nvPr/>
        </p:nvSpPr>
        <p:spPr>
          <a:xfrm>
            <a:off x="259882" y="4312118"/>
            <a:ext cx="4860758" cy="152430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656A5E2-733C-D555-6586-C5624385692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0660"/>
          <a:stretch>
            <a:fillRect/>
          </a:stretch>
        </p:blipFill>
        <p:spPr>
          <a:xfrm>
            <a:off x="6781806" y="1116121"/>
            <a:ext cx="5410195" cy="208367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EE5AC6C2-A15F-1301-5CCC-7771B22036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9691"/>
          <a:stretch>
            <a:fillRect/>
          </a:stretch>
        </p:blipFill>
        <p:spPr>
          <a:xfrm>
            <a:off x="6781806" y="4109515"/>
            <a:ext cx="5410194" cy="2124584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099F75C1-22D0-E147-DF2A-75237DD831D8}"/>
              </a:ext>
            </a:extLst>
          </p:cNvPr>
          <p:cNvSpPr txBox="1"/>
          <p:nvPr/>
        </p:nvSpPr>
        <p:spPr>
          <a:xfrm>
            <a:off x="2948468" y="5836420"/>
            <a:ext cx="9336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</a:rPr>
              <a:t>Double complex poles</a:t>
            </a:r>
          </a:p>
        </p:txBody>
      </p:sp>
    </p:spTree>
    <p:extLst>
      <p:ext uri="{BB962C8B-B14F-4D97-AF65-F5344CB8AC3E}">
        <p14:creationId xmlns:p14="http://schemas.microsoft.com/office/powerpoint/2010/main" val="1116416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8440A250-3D73-3A2F-790A-C3E2C91F0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3200" b="1" dirty="0"/>
              <a:t>V2COT Small-Signal Control to Output Transfer Function</a:t>
            </a:r>
            <a:br>
              <a:rPr lang="zh-TW" altLang="en-US" sz="3200" b="1" dirty="0"/>
            </a:br>
            <a:endParaRPr lang="zh-TW" altLang="en-US" sz="3200" b="1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5B5623D-9A12-11DB-DD28-ACEAFAC84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9452" y="1013060"/>
            <a:ext cx="3910833" cy="3106549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53FB96A1-EDEE-FE9D-4EB1-ED9B1F96B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45" y="1073833"/>
            <a:ext cx="3630671" cy="3045776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C294DF3B-19BD-DA40-D0BA-D201FAADB4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4507" y="968290"/>
            <a:ext cx="4031293" cy="3106549"/>
          </a:xfrm>
          <a:prstGeom prst="rect">
            <a:avLst/>
          </a:prstGeom>
        </p:spPr>
      </p:pic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3D4074C4-CDEF-FE41-E39A-DBAC04CE6A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9538204"/>
              </p:ext>
            </p:extLst>
          </p:nvPr>
        </p:nvGraphicFramePr>
        <p:xfrm>
          <a:off x="5384800" y="2997200"/>
          <a:ext cx="9144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14400" imgH="181440" progId="Equation.DSMT4">
                  <p:embed/>
                </p:oleObj>
              </mc:Choice>
              <mc:Fallback>
                <p:oleObj name="Equation" r:id="rId5" imgW="914400" imgH="181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84800" y="2997200"/>
                        <a:ext cx="914400" cy="180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118BD3F0-712C-FB5D-17C0-FFAB1C5CF3FD}"/>
              </a:ext>
            </a:extLst>
          </p:cNvPr>
          <p:cNvSpPr txBox="1"/>
          <p:nvPr/>
        </p:nvSpPr>
        <p:spPr>
          <a:xfrm>
            <a:off x="5226050" y="4236890"/>
            <a:ext cx="61753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/>
              <a:t>S</a:t>
            </a:r>
            <a:r>
              <a:rPr lang="en-US" altLang="zh-TW" sz="2000" b="1" baseline="-25000" dirty="0"/>
              <a:t>e </a:t>
            </a:r>
            <a:r>
              <a:rPr lang="en-US" altLang="zh-TW" sz="2000" b="1" dirty="0"/>
              <a:t>&gt; S</a:t>
            </a:r>
            <a:r>
              <a:rPr lang="en-US" altLang="zh-TW" sz="2000" b="1" baseline="-25000" dirty="0"/>
              <a:t>e_K</a:t>
            </a:r>
            <a:r>
              <a:rPr lang="en-US" altLang="zh-TW" sz="2000" b="1" dirty="0"/>
              <a:t> = 3S</a:t>
            </a:r>
            <a:r>
              <a:rPr lang="en-US" altLang="zh-TW" sz="2000" b="1" baseline="-25000" dirty="0"/>
              <a:t>f</a:t>
            </a:r>
            <a:endParaRPr lang="zh-TW" altLang="en-US" sz="2000" baseline="-250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3DC4CCC-2271-E6C7-4867-1D0F746266FE}"/>
              </a:ext>
            </a:extLst>
          </p:cNvPr>
          <p:cNvSpPr txBox="1"/>
          <p:nvPr/>
        </p:nvSpPr>
        <p:spPr>
          <a:xfrm>
            <a:off x="1287462" y="4236890"/>
            <a:ext cx="15303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/>
              <a:t>S</a:t>
            </a:r>
            <a:r>
              <a:rPr lang="en-US" altLang="zh-TW" sz="2000" b="1" baseline="-25000" dirty="0"/>
              <a:t>e </a:t>
            </a:r>
            <a:r>
              <a:rPr lang="en-US" altLang="zh-TW" sz="2000" b="1" dirty="0"/>
              <a:t>= S</a:t>
            </a:r>
            <a:r>
              <a:rPr lang="en-US" altLang="zh-TW" sz="2000" b="1" baseline="-25000" dirty="0"/>
              <a:t>f </a:t>
            </a:r>
            <a:r>
              <a:rPr lang="zh-TW" altLang="en-US" sz="2000" b="1" baseline="-25000" dirty="0"/>
              <a:t> </a:t>
            </a:r>
            <a:r>
              <a:rPr lang="en-US" altLang="zh-TW" sz="2000" b="1" dirty="0"/>
              <a:t>&lt; S</a:t>
            </a:r>
            <a:r>
              <a:rPr lang="en-US" altLang="zh-TW" sz="2000" b="1" baseline="-25000" dirty="0"/>
              <a:t>e_K</a:t>
            </a:r>
            <a:endParaRPr lang="zh-TW" altLang="en-US" sz="2000" baseline="-25000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A5FECED-95A5-5AFC-44FD-AA031CC83666}"/>
              </a:ext>
            </a:extLst>
          </p:cNvPr>
          <p:cNvSpPr txBox="1"/>
          <p:nvPr/>
        </p:nvSpPr>
        <p:spPr>
          <a:xfrm>
            <a:off x="9574212" y="4236890"/>
            <a:ext cx="61753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/>
              <a:t>S</a:t>
            </a:r>
            <a:r>
              <a:rPr lang="en-US" altLang="zh-TW" sz="2000" b="1" baseline="-25000" dirty="0"/>
              <a:t>e </a:t>
            </a:r>
            <a:r>
              <a:rPr lang="en-US" altLang="zh-TW" sz="2000" b="1" dirty="0"/>
              <a:t>&gt; S</a:t>
            </a:r>
            <a:r>
              <a:rPr lang="en-US" altLang="zh-TW" sz="2000" b="1" baseline="-25000" dirty="0"/>
              <a:t>e_K</a:t>
            </a:r>
            <a:r>
              <a:rPr lang="en-US" altLang="zh-TW" sz="2000" b="1" dirty="0"/>
              <a:t> = 15S</a:t>
            </a:r>
            <a:r>
              <a:rPr lang="en-US" altLang="zh-TW" sz="2000" b="1" baseline="-25000" dirty="0"/>
              <a:t>f</a:t>
            </a:r>
            <a:endParaRPr lang="zh-TW" altLang="en-US" sz="2000" baseline="-250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E2F6D458-1914-FDAF-7B8F-22F3F38DDAAC}"/>
              </a:ext>
            </a:extLst>
          </p:cNvPr>
          <p:cNvSpPr txBox="1"/>
          <p:nvPr/>
        </p:nvSpPr>
        <p:spPr>
          <a:xfrm>
            <a:off x="134938" y="4871638"/>
            <a:ext cx="4119562" cy="1254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b="1" dirty="0"/>
              <a:t>Insufficient External Ramp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600" b="1" dirty="0"/>
              <a:t>PM too low.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600" b="1" dirty="0"/>
              <a:t>System instability.</a:t>
            </a:r>
            <a:endParaRPr lang="zh-TW" altLang="en-US" sz="1600" b="1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3C9F8548-DB45-A923-10D1-02896F356385}"/>
              </a:ext>
            </a:extLst>
          </p:cNvPr>
          <p:cNvSpPr txBox="1"/>
          <p:nvPr/>
        </p:nvSpPr>
        <p:spPr>
          <a:xfrm>
            <a:off x="4408488" y="4871638"/>
            <a:ext cx="4119562" cy="1254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b="1" dirty="0"/>
              <a:t>Sufficient External Ramp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600" b="1" dirty="0"/>
              <a:t>Sufficient PM.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600" b="1" dirty="0"/>
              <a:t>System stability .</a:t>
            </a:r>
            <a:endParaRPr lang="zh-TW" altLang="en-US" sz="1600" b="1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3B60FACB-E0FF-3D1D-4AF4-106703ECA462}"/>
              </a:ext>
            </a:extLst>
          </p:cNvPr>
          <p:cNvSpPr txBox="1"/>
          <p:nvPr/>
        </p:nvSpPr>
        <p:spPr>
          <a:xfrm>
            <a:off x="8655050" y="4871638"/>
            <a:ext cx="4119562" cy="1254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b="1" dirty="0"/>
              <a:t>Excessive External Ramp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600" b="1" dirty="0"/>
              <a:t>Bandwidth limitations.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600" b="1" dirty="0"/>
              <a:t>Poor transient response</a:t>
            </a:r>
            <a:endParaRPr lang="zh-TW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4097868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群組 38">
            <a:extLst>
              <a:ext uri="{FF2B5EF4-FFF2-40B4-BE49-F238E27FC236}">
                <a16:creationId xmlns:a16="http://schemas.microsoft.com/office/drawing/2014/main" id="{B4EC5B2A-2887-7F54-741D-FE451D5F8B69}"/>
              </a:ext>
            </a:extLst>
          </p:cNvPr>
          <p:cNvGrpSpPr/>
          <p:nvPr/>
        </p:nvGrpSpPr>
        <p:grpSpPr>
          <a:xfrm>
            <a:off x="4774553" y="3621575"/>
            <a:ext cx="3792961" cy="3040750"/>
            <a:chOff x="4774553" y="3621575"/>
            <a:chExt cx="3792961" cy="3040750"/>
          </a:xfrm>
        </p:grpSpPr>
        <p:grpSp>
          <p:nvGrpSpPr>
            <p:cNvPr id="18" name="群組 17">
              <a:extLst>
                <a:ext uri="{FF2B5EF4-FFF2-40B4-BE49-F238E27FC236}">
                  <a16:creationId xmlns:a16="http://schemas.microsoft.com/office/drawing/2014/main" id="{8EC578EB-0859-C34D-96DB-B3564D4F3454}"/>
                </a:ext>
              </a:extLst>
            </p:cNvPr>
            <p:cNvGrpSpPr/>
            <p:nvPr/>
          </p:nvGrpSpPr>
          <p:grpSpPr>
            <a:xfrm>
              <a:off x="4774553" y="3621575"/>
              <a:ext cx="3792961" cy="3040750"/>
              <a:chOff x="5060682" y="3680727"/>
              <a:chExt cx="3792961" cy="3040750"/>
            </a:xfrm>
          </p:grpSpPr>
          <p:pic>
            <p:nvPicPr>
              <p:cNvPr id="1026" name="Picture 2" descr="基于运放的Type-I、Type-II、Type-III 补偿器传递函数推导– 学习随笔">
                <a:extLst>
                  <a:ext uri="{FF2B5EF4-FFF2-40B4-BE49-F238E27FC236}">
                    <a16:creationId xmlns:a16="http://schemas.microsoft.com/office/drawing/2014/main" id="{AEA2BE94-2909-757A-05E2-1EECFA06BAA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60682" y="3680727"/>
                <a:ext cx="3792961" cy="292244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" name="圖片 16">
                <a:extLst>
                  <a:ext uri="{FF2B5EF4-FFF2-40B4-BE49-F238E27FC236}">
                    <a16:creationId xmlns:a16="http://schemas.microsoft.com/office/drawing/2014/main" id="{C56DFB08-A019-F8F3-6844-A5B1392248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62835" y="5492750"/>
                <a:ext cx="606439" cy="1228727"/>
              </a:xfrm>
              <a:prstGeom prst="rect">
                <a:avLst/>
              </a:prstGeom>
            </p:spPr>
          </p:pic>
        </p:grp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B6540BB4-48E9-BE46-BAFC-81376C83C32F}"/>
                </a:ext>
              </a:extLst>
            </p:cNvPr>
            <p:cNvSpPr txBox="1"/>
            <p:nvPr/>
          </p:nvSpPr>
          <p:spPr>
            <a:xfrm>
              <a:off x="6002161" y="3660510"/>
              <a:ext cx="94599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800" baseline="-25000" dirty="0"/>
                <a:t>Type I</a:t>
              </a:r>
              <a:endParaRPr lang="zh-TW" altLang="en-US" sz="2800" dirty="0"/>
            </a:p>
          </p:txBody>
        </p:sp>
      </p:grpSp>
      <p:pic>
        <p:nvPicPr>
          <p:cNvPr id="5" name="圖片 4">
            <a:extLst>
              <a:ext uri="{FF2B5EF4-FFF2-40B4-BE49-F238E27FC236}">
                <a16:creationId xmlns:a16="http://schemas.microsoft.com/office/drawing/2014/main" id="{5F7DE1F3-7DF9-780E-9D81-830760527B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94527"/>
            <a:ext cx="5060682" cy="4019925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id="{BCE45EF8-9818-5EBD-A3A7-43B80EA9D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97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3200" b="1" dirty="0"/>
              <a:t>Compensator Design</a:t>
            </a:r>
            <a:br>
              <a:rPr lang="zh-TW" altLang="en-US" sz="3200" b="1" dirty="0"/>
            </a:br>
            <a:endParaRPr lang="zh-TW" altLang="en-US" sz="3200" b="1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55BA406-F536-DDDE-F622-9EFB7D2954D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92"/>
          <a:stretch>
            <a:fillRect/>
          </a:stretch>
        </p:blipFill>
        <p:spPr>
          <a:xfrm>
            <a:off x="531917" y="5141950"/>
            <a:ext cx="3996847" cy="1214402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512FDAD-54DA-E964-E20B-98FEF312567A}"/>
              </a:ext>
            </a:extLst>
          </p:cNvPr>
          <p:cNvSpPr txBox="1"/>
          <p:nvPr/>
        </p:nvSpPr>
        <p:spPr>
          <a:xfrm>
            <a:off x="7027996" y="2899850"/>
            <a:ext cx="82650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/>
              <a:t>f</a:t>
            </a:r>
            <a:r>
              <a:rPr lang="en-US" altLang="zh-TW" sz="2000" b="1" baseline="-25000" dirty="0"/>
              <a:t>sw </a:t>
            </a:r>
            <a:r>
              <a:rPr lang="en-US" altLang="zh-TW" sz="2000" b="1" dirty="0"/>
              <a:t>=300 kHz , Set f</a:t>
            </a:r>
            <a:r>
              <a:rPr lang="en-US" altLang="zh-TW" sz="2000" b="1" baseline="-25000" dirty="0"/>
              <a:t>c</a:t>
            </a:r>
            <a:r>
              <a:rPr lang="en-US" altLang="zh-TW" sz="2000" b="1" dirty="0"/>
              <a:t>=0.1 f</a:t>
            </a:r>
            <a:r>
              <a:rPr lang="en-US" altLang="zh-TW" sz="2000" b="1" baseline="-25000" dirty="0"/>
              <a:t>sw</a:t>
            </a:r>
            <a:r>
              <a:rPr lang="en-US" altLang="zh-TW" sz="2000" b="1" dirty="0"/>
              <a:t> , f</a:t>
            </a:r>
            <a:r>
              <a:rPr lang="en-US" altLang="zh-TW" sz="2000" b="1" baseline="-25000" dirty="0"/>
              <a:t>sw</a:t>
            </a:r>
            <a:r>
              <a:rPr lang="en-US" altLang="zh-TW" sz="2000" b="1" dirty="0"/>
              <a:t>=30kHz</a:t>
            </a:r>
            <a:endParaRPr lang="zh-TW" altLang="en-US" sz="2000" b="1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4E9BA21-5EC3-483C-B630-8BC00B9292F4}"/>
              </a:ext>
            </a:extLst>
          </p:cNvPr>
          <p:cNvSpPr txBox="1"/>
          <p:nvPr/>
        </p:nvSpPr>
        <p:spPr>
          <a:xfrm>
            <a:off x="5455828" y="894527"/>
            <a:ext cx="7347396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/>
              <a:t>At low frequency (before 1/2 f</a:t>
            </a:r>
            <a:r>
              <a:rPr lang="en-US" altLang="zh-TW" baseline="-25000" dirty="0"/>
              <a:t>sw</a:t>
            </a:r>
            <a:r>
              <a:rPr lang="en-US" altLang="zh-TW" dirty="0"/>
              <a:t>), both Gain and Phase are 0.</a:t>
            </a:r>
          </a:p>
          <a:p>
            <a:pPr>
              <a:lnSpc>
                <a:spcPct val="150000"/>
              </a:lnSpc>
            </a:pPr>
            <a:r>
              <a:rPr lang="zh-TW" altLang="en-US" dirty="0"/>
              <a:t>      Therefore, compensat</a:t>
            </a:r>
            <a:r>
              <a:rPr lang="en-US" altLang="zh-TW" dirty="0"/>
              <a:t>or</a:t>
            </a:r>
            <a:r>
              <a:rPr lang="zh-TW" altLang="en-US" dirty="0"/>
              <a:t> can be achieved through an </a:t>
            </a:r>
            <a:r>
              <a:rPr lang="zh-TW" altLang="en-US" b="1" dirty="0"/>
              <a:t>integrator.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F93FE122-2D4C-B040-5616-16A166D7B395}"/>
              </a:ext>
            </a:extLst>
          </p:cNvPr>
          <p:cNvSpPr txBox="1"/>
          <p:nvPr/>
        </p:nvSpPr>
        <p:spPr>
          <a:xfrm>
            <a:off x="5523205" y="1980258"/>
            <a:ext cx="65150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The bandwidth design avoids phase </a:t>
            </a:r>
            <a:r>
              <a:rPr lang="en-US" altLang="zh-TW" dirty="0"/>
              <a:t>margin</a:t>
            </a:r>
            <a:r>
              <a:rPr lang="zh-TW" altLang="en-US" dirty="0"/>
              <a:t> insufficiency caused by double poles at 30kHz.</a:t>
            </a:r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341CFB7E-F3DB-706A-FEC3-E00B8CCD8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61582"/>
            <a:ext cx="184731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8">
            <a:extLst>
              <a:ext uri="{FF2B5EF4-FFF2-40B4-BE49-F238E27FC236}">
                <a16:creationId xmlns:a16="http://schemas.microsoft.com/office/drawing/2014/main" id="{E223143F-AC98-F87A-6508-DF65310F0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61582"/>
            <a:ext cx="184731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0" name="物件 29">
            <a:extLst>
              <a:ext uri="{FF2B5EF4-FFF2-40B4-BE49-F238E27FC236}">
                <a16:creationId xmlns:a16="http://schemas.microsoft.com/office/drawing/2014/main" id="{EF7B576B-11B5-DA7C-BBC7-5AB95B1602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8193759"/>
              </p:ext>
            </p:extLst>
          </p:nvPr>
        </p:nvGraphicFramePr>
        <p:xfrm>
          <a:off x="8990662" y="3758095"/>
          <a:ext cx="1147526" cy="563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23600" imgH="355320" progId="Equation.DSMT4">
                  <p:embed/>
                </p:oleObj>
              </mc:Choice>
              <mc:Fallback>
                <p:oleObj name="Equation" r:id="rId6" imgW="72360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990662" y="3758095"/>
                        <a:ext cx="1147526" cy="5636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物件 32">
            <a:extLst>
              <a:ext uri="{FF2B5EF4-FFF2-40B4-BE49-F238E27FC236}">
                <a16:creationId xmlns:a16="http://schemas.microsoft.com/office/drawing/2014/main" id="{3268EBD0-0664-F255-6C19-AE12D25A33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5305853"/>
              </p:ext>
            </p:extLst>
          </p:nvPr>
        </p:nvGraphicFramePr>
        <p:xfrm>
          <a:off x="8156455" y="5337663"/>
          <a:ext cx="3963466" cy="625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12720" imgH="380880" progId="Equation.DSMT4">
                  <p:embed/>
                </p:oleObj>
              </mc:Choice>
              <mc:Fallback>
                <p:oleObj name="Equation" r:id="rId8" imgW="24127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156455" y="5337663"/>
                        <a:ext cx="3963466" cy="6258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物件 33">
            <a:extLst>
              <a:ext uri="{FF2B5EF4-FFF2-40B4-BE49-F238E27FC236}">
                <a16:creationId xmlns:a16="http://schemas.microsoft.com/office/drawing/2014/main" id="{383C7F70-DCC3-FD05-6CBD-BB49B160AA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5063461"/>
              </p:ext>
            </p:extLst>
          </p:nvPr>
        </p:nvGraphicFramePr>
        <p:xfrm>
          <a:off x="8220849" y="4516140"/>
          <a:ext cx="3817441" cy="625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323800" imgH="380880" progId="Equation.DSMT4">
                  <p:embed/>
                </p:oleObj>
              </mc:Choice>
              <mc:Fallback>
                <p:oleObj name="Equation" r:id="rId10" imgW="23238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220849" y="4516140"/>
                        <a:ext cx="3817441" cy="6258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F4451597-232E-8144-4222-DBDD14B6D0F3}"/>
              </a:ext>
            </a:extLst>
          </p:cNvPr>
          <p:cNvCxnSpPr/>
          <p:nvPr/>
        </p:nvCxnSpPr>
        <p:spPr>
          <a:xfrm>
            <a:off x="3521412" y="5505856"/>
            <a:ext cx="940341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5AFC0645-7B01-5CA1-890B-489D4AA36017}"/>
              </a:ext>
            </a:extLst>
          </p:cNvPr>
          <p:cNvCxnSpPr/>
          <p:nvPr/>
        </p:nvCxnSpPr>
        <p:spPr>
          <a:xfrm>
            <a:off x="3414408" y="6340140"/>
            <a:ext cx="940341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7024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1F7DE6-0A9E-ECDB-5AF8-68176BB3F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-25241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3200" b="1" dirty="0"/>
              <a:t>Loop Gain</a:t>
            </a:r>
            <a:r>
              <a:rPr lang="zh-TW" altLang="en-US" sz="3200" b="1" dirty="0"/>
              <a:t> </a:t>
            </a:r>
            <a:r>
              <a:rPr lang="en-US" altLang="zh-TW" sz="3200" b="1" dirty="0"/>
              <a:t>Transfer Function</a:t>
            </a:r>
            <a:endParaRPr lang="zh-TW" altLang="en-US" sz="3200" b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2BF4129-97AF-082A-B45B-3F08B8F10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9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8" name="物件 7">
            <a:extLst>
              <a:ext uri="{FF2B5EF4-FFF2-40B4-BE49-F238E27FC236}">
                <a16:creationId xmlns:a16="http://schemas.microsoft.com/office/drawing/2014/main" id="{A12D35CC-93BE-EF62-A93D-A376501264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2188635"/>
              </p:ext>
            </p:extLst>
          </p:nvPr>
        </p:nvGraphicFramePr>
        <p:xfrm>
          <a:off x="6096000" y="3443118"/>
          <a:ext cx="5476324" cy="12234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81280" imgH="799920" progId="Equation.DSMT4">
                  <p:embed/>
                </p:oleObj>
              </mc:Choice>
              <mc:Fallback>
                <p:oleObj name="Equation" r:id="rId2" imgW="3581280" imgH="799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96000" y="3443118"/>
                        <a:ext cx="5476324" cy="12234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圖片 8">
            <a:extLst>
              <a:ext uri="{FF2B5EF4-FFF2-40B4-BE49-F238E27FC236}">
                <a16:creationId xmlns:a16="http://schemas.microsoft.com/office/drawing/2014/main" id="{C7B4951C-0E5F-E0F4-8219-FFB7D25854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1240" y="1378382"/>
            <a:ext cx="4568265" cy="2099458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CD8C1882-A277-51E3-8598-5D07A611EFC2}"/>
              </a:ext>
            </a:extLst>
          </p:cNvPr>
          <p:cNvSpPr txBox="1"/>
          <p:nvPr/>
        </p:nvSpPr>
        <p:spPr>
          <a:xfrm>
            <a:off x="7565796" y="4971786"/>
            <a:ext cx="346064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/>
              <a:t>Crossover Frequency : 31kHz</a:t>
            </a:r>
          </a:p>
          <a:p>
            <a:r>
              <a:rPr lang="en-US" altLang="zh-TW" sz="2000" b="1" dirty="0"/>
              <a:t>Gain Margin :</a:t>
            </a:r>
            <a:r>
              <a:rPr lang="zh-TW" altLang="en-US" sz="2000" b="1" dirty="0"/>
              <a:t> </a:t>
            </a:r>
            <a:r>
              <a:rPr lang="en-US" altLang="zh-TW" sz="2000" b="1" dirty="0"/>
              <a:t>17.1 dB</a:t>
            </a:r>
          </a:p>
          <a:p>
            <a:r>
              <a:rPr lang="en-US" altLang="zh-TW" sz="2000" b="1" dirty="0"/>
              <a:t>Phase Margin : 89.4 degree </a:t>
            </a:r>
            <a:endParaRPr lang="zh-TW" altLang="en-US" sz="200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E8099D2-F0A7-9209-9C5B-7ABF7065C03B}"/>
              </a:ext>
            </a:extLst>
          </p:cNvPr>
          <p:cNvSpPr txBox="1"/>
          <p:nvPr/>
        </p:nvSpPr>
        <p:spPr>
          <a:xfrm>
            <a:off x="7565796" y="853771"/>
            <a:ext cx="61245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/>
              <a:t>Type 1 Compensator Circuit</a:t>
            </a:r>
            <a:endParaRPr lang="zh-TW" altLang="en-US" sz="20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38E463A-4DB3-AA8A-C5F9-C972CBEE68DA}"/>
              </a:ext>
            </a:extLst>
          </p:cNvPr>
          <p:cNvSpPr txBox="1"/>
          <p:nvPr/>
        </p:nvSpPr>
        <p:spPr>
          <a:xfrm>
            <a:off x="2187490" y="1147550"/>
            <a:ext cx="61245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 dirty="0"/>
              <a:t>Loop Gain</a:t>
            </a:r>
            <a:endParaRPr lang="zh-TW" altLang="en-US" sz="2400" dirty="0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00CE02A2-F4B4-DAB1-B9B1-08139901A9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118" y="2029201"/>
            <a:ext cx="5346164" cy="4384125"/>
          </a:xfrm>
          <a:prstGeom prst="rect">
            <a:avLst/>
          </a:prstGeom>
        </p:spPr>
      </p:pic>
      <p:sp>
        <p:nvSpPr>
          <p:cNvPr id="16" name="箭號: 向右 15">
            <a:extLst>
              <a:ext uri="{FF2B5EF4-FFF2-40B4-BE49-F238E27FC236}">
                <a16:creationId xmlns:a16="http://schemas.microsoft.com/office/drawing/2014/main" id="{3A1ABCE9-284E-CB67-3090-DDB53A8562B5}"/>
              </a:ext>
            </a:extLst>
          </p:cNvPr>
          <p:cNvSpPr/>
          <p:nvPr/>
        </p:nvSpPr>
        <p:spPr>
          <a:xfrm>
            <a:off x="6394720" y="5428126"/>
            <a:ext cx="695194" cy="23799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9504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內容版面配置區 1" descr="一張含有 行, 螢幕擷取畫面, 平行, 繪圖 的圖片&#10;&#10;AI 產生的內容可能不正確。">
            <a:extLst>
              <a:ext uri="{FF2B5EF4-FFF2-40B4-BE49-F238E27FC236}">
                <a16:creationId xmlns:a16="http://schemas.microsoft.com/office/drawing/2014/main" id="{1BEB2A60-9420-98AF-DFE8-1B59772BB9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3371" y="848203"/>
            <a:ext cx="7576868" cy="5577971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E6B18E1-401B-1BE2-930D-96B8C5BE4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10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EAAD06C5-5397-670E-EBCD-9C57C220CE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35208"/>
            <a:ext cx="10515600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latin typeface="+mj-lt"/>
                <a:cs typeface="Arial" panose="020B0604020202020204" pitchFamily="34" charset="0"/>
              </a:rPr>
              <a:t>Behavior Model Simulation </a:t>
            </a:r>
            <a:r>
              <a:rPr lang="en-US" altLang="zh-TW" sz="3200" b="1">
                <a:latin typeface="+mj-lt"/>
                <a:cs typeface="Arial" panose="020B0604020202020204" pitchFamily="34" charset="0"/>
              </a:rPr>
              <a:t>@ S</a:t>
            </a:r>
            <a:r>
              <a:rPr lang="en-US" altLang="zh-TW" sz="3200" b="1">
                <a:cs typeface="Arial" panose="020B0604020202020204" pitchFamily="34" charset="0"/>
              </a:rPr>
              <a:t>tart-</a:t>
            </a:r>
            <a:r>
              <a:rPr lang="en-US" altLang="zh-TW" sz="3200" b="1">
                <a:latin typeface="+mj-lt"/>
                <a:cs typeface="Arial" panose="020B0604020202020204" pitchFamily="34" charset="0"/>
              </a:rPr>
              <a:t>Up</a:t>
            </a:r>
            <a:endParaRPr lang="en-US" altLang="zh-TW" sz="3200" b="1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E60AB0E0-29C7-CBA1-5A86-3F01139035AA}"/>
              </a:ext>
            </a:extLst>
          </p:cNvPr>
          <p:cNvSpPr txBox="1"/>
          <p:nvPr/>
        </p:nvSpPr>
        <p:spPr>
          <a:xfrm>
            <a:off x="1172515" y="1859776"/>
            <a:ext cx="6124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Vout</a:t>
            </a:r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44AC43F3-296D-AFB3-97A7-A0FE1B596E19}"/>
              </a:ext>
            </a:extLst>
          </p:cNvPr>
          <p:cNvSpPr txBox="1"/>
          <p:nvPr/>
        </p:nvSpPr>
        <p:spPr>
          <a:xfrm>
            <a:off x="1361588" y="3061258"/>
            <a:ext cx="6124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IL</a:t>
            </a:r>
            <a:endParaRPr lang="zh-TW" altLang="en-US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79C9B6D3-C765-34CA-93BB-128B9D4B5B7C}"/>
              </a:ext>
            </a:extLst>
          </p:cNvPr>
          <p:cNvSpPr txBox="1"/>
          <p:nvPr/>
        </p:nvSpPr>
        <p:spPr>
          <a:xfrm>
            <a:off x="1253981" y="4346374"/>
            <a:ext cx="612457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zh-TW" b="1">
                <a:ea typeface="新細明體"/>
              </a:rPr>
              <a:t>Vcom</a:t>
            </a:r>
            <a:endParaRPr lang="zh-TW" altLang="en-US">
              <a:ea typeface="新細明體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C101E21E-185D-9686-9F2B-0EB8DB55157E}"/>
              </a:ext>
            </a:extLst>
          </p:cNvPr>
          <p:cNvSpPr txBox="1"/>
          <p:nvPr/>
        </p:nvSpPr>
        <p:spPr>
          <a:xfrm>
            <a:off x="1168178" y="5427051"/>
            <a:ext cx="6124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Vramp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22968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4E2F0-79AD-CF68-FBE3-5DF37E02F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A1DB1B6-5C19-79C7-7FE7-490A60F8F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11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BD9702B-D960-1E70-FA04-780C4D674044}"/>
              </a:ext>
            </a:extLst>
          </p:cNvPr>
          <p:cNvSpPr txBox="1"/>
          <p:nvPr/>
        </p:nvSpPr>
        <p:spPr>
          <a:xfrm>
            <a:off x="151597" y="128154"/>
            <a:ext cx="78070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latin typeface="+mj-lt"/>
                <a:cs typeface="Arial" panose="020B0604020202020204" pitchFamily="34" charset="0"/>
              </a:rPr>
              <a:t>Behavior Model Simulation @ Steady State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5E5A8638-37B1-5BDC-E920-DF6E26C28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142" y="854109"/>
            <a:ext cx="7245515" cy="5791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146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DE6398-2AEE-0037-41EF-D77ACAA66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" y="-25241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3200" b="1" dirty="0"/>
              <a:t>Transient Response @ Step Down 4A </a:t>
            </a:r>
            <a:r>
              <a:rPr lang="zh-TW" altLang="en-US" sz="3200" b="1" dirty="0"/>
              <a:t>→ </a:t>
            </a:r>
            <a:r>
              <a:rPr lang="en-US" altLang="zh-TW" sz="3200" b="1" dirty="0"/>
              <a:t>1A</a:t>
            </a:r>
            <a:endParaRPr lang="zh-TW" altLang="en-US" sz="3200" b="1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5885E360-2508-6EE3-C69E-EF97FCB8D7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8972" y="1000632"/>
            <a:ext cx="7601928" cy="5428238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667B193-561B-3A4E-45A6-7B8B479C6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b="1" smtClean="0">
                <a:solidFill>
                  <a:prstClr val="black">
                    <a:tint val="75000"/>
                  </a:prstClr>
                </a:solidFill>
                <a:latin typeface="+mj-lt"/>
              </a:rPr>
              <a:pPr defTabSz="514350">
                <a:defRPr/>
              </a:pPr>
              <a:t>12</a:t>
            </a:fld>
            <a:endParaRPr lang="zh-TW" altLang="en-US" b="1">
              <a:solidFill>
                <a:prstClr val="black">
                  <a:tint val="75000"/>
                </a:prstClr>
              </a:solidFill>
              <a:latin typeface="+mj-lt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C374C40-7525-5800-CF0D-3C7E759203F6}"/>
              </a:ext>
            </a:extLst>
          </p:cNvPr>
          <p:cNvSpPr txBox="1"/>
          <p:nvPr/>
        </p:nvSpPr>
        <p:spPr>
          <a:xfrm>
            <a:off x="1170966" y="1308616"/>
            <a:ext cx="6124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Duty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561FC34-9874-AD18-264E-B4B2A3DF271A}"/>
              </a:ext>
            </a:extLst>
          </p:cNvPr>
          <p:cNvSpPr txBox="1"/>
          <p:nvPr/>
        </p:nvSpPr>
        <p:spPr>
          <a:xfrm>
            <a:off x="1296539" y="2234684"/>
            <a:ext cx="6124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Io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8B53F49-8896-88FD-EEFE-75AAB8F8C11B}"/>
              </a:ext>
            </a:extLst>
          </p:cNvPr>
          <p:cNvSpPr txBox="1"/>
          <p:nvPr/>
        </p:nvSpPr>
        <p:spPr>
          <a:xfrm>
            <a:off x="1107466" y="3160752"/>
            <a:ext cx="6124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Vout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964B7E3-EF6E-E311-EBD8-71FEB8355ADF}"/>
              </a:ext>
            </a:extLst>
          </p:cNvPr>
          <p:cNvSpPr txBox="1"/>
          <p:nvPr/>
        </p:nvSpPr>
        <p:spPr>
          <a:xfrm>
            <a:off x="1296539" y="3971941"/>
            <a:ext cx="6124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IL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19DC5C3-D96D-E53A-F352-A6B06C4F1EAE}"/>
              </a:ext>
            </a:extLst>
          </p:cNvPr>
          <p:cNvSpPr txBox="1"/>
          <p:nvPr/>
        </p:nvSpPr>
        <p:spPr>
          <a:xfrm>
            <a:off x="891566" y="4783130"/>
            <a:ext cx="6124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Vo , Vcom</a:t>
            </a:r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47C88A8A-A745-41C3-43E4-456681AFE3CB}"/>
              </a:ext>
            </a:extLst>
          </p:cNvPr>
          <p:cNvSpPr txBox="1"/>
          <p:nvPr/>
        </p:nvSpPr>
        <p:spPr>
          <a:xfrm>
            <a:off x="1056666" y="5594319"/>
            <a:ext cx="6124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Vramp</a:t>
            </a:r>
            <a:endParaRPr lang="zh-TW" altLang="en-US" dirty="0"/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47AF8C5E-5C97-44A1-3E7F-9DFD5F043CD0}"/>
              </a:ext>
            </a:extLst>
          </p:cNvPr>
          <p:cNvCxnSpPr>
            <a:cxnSpLocks/>
          </p:cNvCxnSpPr>
          <p:nvPr/>
        </p:nvCxnSpPr>
        <p:spPr>
          <a:xfrm flipH="1">
            <a:off x="5108532" y="1073149"/>
            <a:ext cx="14613" cy="5355721"/>
          </a:xfrm>
          <a:prstGeom prst="line">
            <a:avLst/>
          </a:prstGeom>
          <a:ln w="19050"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9EBD9DBE-2225-9B9F-5178-075CD5DEA0F8}"/>
              </a:ext>
            </a:extLst>
          </p:cNvPr>
          <p:cNvCxnSpPr>
            <a:cxnSpLocks/>
          </p:cNvCxnSpPr>
          <p:nvPr/>
        </p:nvCxnSpPr>
        <p:spPr>
          <a:xfrm flipH="1">
            <a:off x="7535983" y="1142120"/>
            <a:ext cx="14613" cy="5355721"/>
          </a:xfrm>
          <a:prstGeom prst="line">
            <a:avLst/>
          </a:prstGeom>
          <a:ln w="19050"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67BB0E35-A18B-8D15-7CE7-6F2DD58A5CE9}"/>
              </a:ext>
            </a:extLst>
          </p:cNvPr>
          <p:cNvSpPr txBox="1"/>
          <p:nvPr/>
        </p:nvSpPr>
        <p:spPr>
          <a:xfrm>
            <a:off x="9740900" y="2883753"/>
            <a:ext cx="2412838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b="1" dirty="0"/>
              <a:t>Overshoot =</a:t>
            </a:r>
            <a:r>
              <a:rPr lang="zh-TW" altLang="en-US" b="1" dirty="0"/>
              <a:t> </a:t>
            </a:r>
            <a:r>
              <a:rPr lang="en-US" altLang="zh-TW" b="1" dirty="0"/>
              <a:t>1.5mV</a:t>
            </a:r>
          </a:p>
          <a:p>
            <a:pPr>
              <a:lnSpc>
                <a:spcPct val="150000"/>
              </a:lnSpc>
            </a:pPr>
            <a:r>
              <a:rPr lang="en-US" altLang="zh-TW" b="1" dirty="0"/>
              <a:t>S</a:t>
            </a:r>
            <a:r>
              <a:rPr lang="zh-TW" altLang="en-US" b="1" dirty="0"/>
              <a:t>ettling time = </a:t>
            </a:r>
            <a:r>
              <a:rPr lang="en-US" altLang="zh-TW" b="1" dirty="0"/>
              <a:t>20.38</a:t>
            </a:r>
            <a:r>
              <a:rPr lang="zh-TW" altLang="en-US" b="1" dirty="0"/>
              <a:t>u</a:t>
            </a:r>
            <a:r>
              <a:rPr lang="en-US" altLang="zh-TW" b="1" dirty="0"/>
              <a:t>s</a:t>
            </a:r>
            <a:endParaRPr lang="zh-TW" altLang="en-US" b="1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9E444FEE-BF5A-4247-1B7C-D65911771CBD}"/>
              </a:ext>
            </a:extLst>
          </p:cNvPr>
          <p:cNvSpPr txBox="1"/>
          <p:nvPr/>
        </p:nvSpPr>
        <p:spPr>
          <a:xfrm>
            <a:off x="5993300" y="6313175"/>
            <a:ext cx="61256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20.38</a:t>
            </a:r>
            <a:r>
              <a:rPr lang="zh-TW" altLang="en-US" b="1" dirty="0"/>
              <a:t>u</a:t>
            </a:r>
            <a:r>
              <a:rPr lang="en-US" altLang="zh-TW" b="1" dirty="0"/>
              <a:t>s</a:t>
            </a:r>
            <a:endParaRPr lang="zh-TW" altLang="en-US" b="1" dirty="0"/>
          </a:p>
        </p:txBody>
      </p: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BAD48246-1498-3EDF-0FA9-718FF05D14C5}"/>
              </a:ext>
            </a:extLst>
          </p:cNvPr>
          <p:cNvCxnSpPr>
            <a:cxnSpLocks/>
          </p:cNvCxnSpPr>
          <p:nvPr/>
        </p:nvCxnSpPr>
        <p:spPr>
          <a:xfrm>
            <a:off x="5108532" y="6297935"/>
            <a:ext cx="2427451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028C1773-3E5D-EA0D-C534-3E74CC656DAB}"/>
              </a:ext>
            </a:extLst>
          </p:cNvPr>
          <p:cNvCxnSpPr>
            <a:cxnSpLocks/>
          </p:cNvCxnSpPr>
          <p:nvPr/>
        </p:nvCxnSpPr>
        <p:spPr>
          <a:xfrm>
            <a:off x="5539722" y="2990850"/>
            <a:ext cx="0" cy="43815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7CD0F44E-3EB4-5DCD-C3ED-654DDC353663}"/>
              </a:ext>
            </a:extLst>
          </p:cNvPr>
          <p:cNvSpPr txBox="1"/>
          <p:nvPr/>
        </p:nvSpPr>
        <p:spPr>
          <a:xfrm>
            <a:off x="5667979" y="2883753"/>
            <a:ext cx="61219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b="1" dirty="0"/>
              <a:t>1.5mV</a:t>
            </a:r>
            <a:endParaRPr lang="zh-TW" altLang="en-US" sz="16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1F3C59F2-FF3F-4DA3-B6B4-7DE8FBE344A9}"/>
              </a:ext>
            </a:extLst>
          </p:cNvPr>
          <p:cNvSpPr txBox="1"/>
          <p:nvPr/>
        </p:nvSpPr>
        <p:spPr>
          <a:xfrm>
            <a:off x="11220407" y="3714751"/>
            <a:ext cx="61256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/>
              <a:t>(</a:t>
            </a:r>
            <a:r>
              <a:rPr lang="en-US" altLang="zh-TW" b="1" dirty="0"/>
              <a:t>6</a:t>
            </a:r>
            <a:r>
              <a:rPr lang="zh-TW" altLang="en-US" b="1" dirty="0"/>
              <a:t>Tsw )</a:t>
            </a:r>
          </a:p>
        </p:txBody>
      </p:sp>
    </p:spTree>
    <p:extLst>
      <p:ext uri="{BB962C8B-B14F-4D97-AF65-F5344CB8AC3E}">
        <p14:creationId xmlns:p14="http://schemas.microsoft.com/office/powerpoint/2010/main" val="3241668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5E13E-CBF2-9FEB-71CB-7ABCDC30C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FC589C94-02A2-E3B2-3C22-F619BFF93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590" y="909999"/>
            <a:ext cx="7116383" cy="5471416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BE6A6A80-00CD-B9EE-84BB-2FB27ED9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" y="-25241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3200" b="1" dirty="0"/>
              <a:t>Transient Response @ Step Down 4A </a:t>
            </a:r>
            <a:r>
              <a:rPr lang="zh-TW" altLang="en-US" sz="3200" b="1" dirty="0"/>
              <a:t>→ </a:t>
            </a:r>
            <a:r>
              <a:rPr lang="en-US" altLang="zh-TW" sz="3200" b="1" dirty="0"/>
              <a:t>1A</a:t>
            </a:r>
            <a:endParaRPr lang="zh-TW" altLang="en-US" sz="3200" b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86AEDCB-17F6-99A0-1DA5-E48D5F77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5133" y="6150025"/>
            <a:ext cx="2743200" cy="365125"/>
          </a:xfrm>
        </p:spPr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b="1" smtClean="0">
                <a:solidFill>
                  <a:prstClr val="black">
                    <a:tint val="75000"/>
                  </a:prstClr>
                </a:solidFill>
                <a:latin typeface="+mj-lt"/>
              </a:rPr>
              <a:pPr defTabSz="514350">
                <a:defRPr/>
              </a:pPr>
              <a:t>13</a:t>
            </a:fld>
            <a:endParaRPr lang="zh-TW" altLang="en-US" b="1">
              <a:solidFill>
                <a:prstClr val="black">
                  <a:tint val="75000"/>
                </a:prstClr>
              </a:solidFill>
              <a:latin typeface="+mj-lt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4865302-A72B-5F3C-0ADA-4A4392F262C1}"/>
              </a:ext>
            </a:extLst>
          </p:cNvPr>
          <p:cNvSpPr txBox="1"/>
          <p:nvPr/>
        </p:nvSpPr>
        <p:spPr>
          <a:xfrm>
            <a:off x="1170966" y="1308616"/>
            <a:ext cx="6124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Duty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08B3FCF-EE85-26D0-2E4D-9B29A7BE84F3}"/>
              </a:ext>
            </a:extLst>
          </p:cNvPr>
          <p:cNvSpPr txBox="1"/>
          <p:nvPr/>
        </p:nvSpPr>
        <p:spPr>
          <a:xfrm>
            <a:off x="1296539" y="2234684"/>
            <a:ext cx="6124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Io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63E8D8F-7353-3B42-D053-009F4262CAA5}"/>
              </a:ext>
            </a:extLst>
          </p:cNvPr>
          <p:cNvSpPr txBox="1"/>
          <p:nvPr/>
        </p:nvSpPr>
        <p:spPr>
          <a:xfrm>
            <a:off x="1107466" y="3160752"/>
            <a:ext cx="6124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Vout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D84241F-6585-72DA-782E-321D1A5C39FC}"/>
              </a:ext>
            </a:extLst>
          </p:cNvPr>
          <p:cNvSpPr txBox="1"/>
          <p:nvPr/>
        </p:nvSpPr>
        <p:spPr>
          <a:xfrm>
            <a:off x="1296539" y="3971941"/>
            <a:ext cx="6124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IL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CE87E2D-9C71-8E94-16A7-DEC0103138D6}"/>
              </a:ext>
            </a:extLst>
          </p:cNvPr>
          <p:cNvSpPr txBox="1"/>
          <p:nvPr/>
        </p:nvSpPr>
        <p:spPr>
          <a:xfrm>
            <a:off x="891566" y="4783130"/>
            <a:ext cx="6124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Vo , Vcom</a:t>
            </a:r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9B80989-3EF8-51BF-4B92-D16AE037C03E}"/>
              </a:ext>
            </a:extLst>
          </p:cNvPr>
          <p:cNvSpPr txBox="1"/>
          <p:nvPr/>
        </p:nvSpPr>
        <p:spPr>
          <a:xfrm>
            <a:off x="1056666" y="5594319"/>
            <a:ext cx="6124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Vramp</a:t>
            </a:r>
            <a:endParaRPr lang="zh-TW" altLang="en-US" dirty="0"/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52429480-0B89-3687-5FC8-3EE5AB39AFE9}"/>
              </a:ext>
            </a:extLst>
          </p:cNvPr>
          <p:cNvCxnSpPr>
            <a:cxnSpLocks/>
          </p:cNvCxnSpPr>
          <p:nvPr/>
        </p:nvCxnSpPr>
        <p:spPr>
          <a:xfrm flipH="1">
            <a:off x="4983036" y="866822"/>
            <a:ext cx="4642" cy="5564458"/>
          </a:xfrm>
          <a:prstGeom prst="line">
            <a:avLst/>
          </a:prstGeom>
          <a:ln w="19050"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18885565-DD64-F02C-F833-9DB446349170}"/>
              </a:ext>
            </a:extLst>
          </p:cNvPr>
          <p:cNvCxnSpPr>
            <a:cxnSpLocks/>
          </p:cNvCxnSpPr>
          <p:nvPr/>
        </p:nvCxnSpPr>
        <p:spPr>
          <a:xfrm>
            <a:off x="7415129" y="935793"/>
            <a:ext cx="11643" cy="5474717"/>
          </a:xfrm>
          <a:prstGeom prst="line">
            <a:avLst/>
          </a:prstGeom>
          <a:ln w="19050"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A6330D96-7E14-CCF9-BB40-12AEA868BE0C}"/>
              </a:ext>
            </a:extLst>
          </p:cNvPr>
          <p:cNvSpPr txBox="1"/>
          <p:nvPr/>
        </p:nvSpPr>
        <p:spPr>
          <a:xfrm>
            <a:off x="5883881" y="6311809"/>
            <a:ext cx="61256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18.43</a:t>
            </a:r>
            <a:r>
              <a:rPr lang="zh-TW" altLang="en-US" b="1" dirty="0"/>
              <a:t>u</a:t>
            </a:r>
            <a:r>
              <a:rPr lang="en-US" altLang="zh-TW" b="1" dirty="0"/>
              <a:t>s</a:t>
            </a:r>
            <a:endParaRPr lang="zh-TW" altLang="en-US" b="1" dirty="0"/>
          </a:p>
        </p:txBody>
      </p: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CBC876B6-2EE0-8C20-FEF7-400B2A9E85A0}"/>
              </a:ext>
            </a:extLst>
          </p:cNvPr>
          <p:cNvCxnSpPr>
            <a:cxnSpLocks/>
          </p:cNvCxnSpPr>
          <p:nvPr/>
        </p:nvCxnSpPr>
        <p:spPr>
          <a:xfrm>
            <a:off x="4971058" y="6282713"/>
            <a:ext cx="2427451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9CF20701-0ACF-5A5D-00E6-28A02F18D15F}"/>
              </a:ext>
            </a:extLst>
          </p:cNvPr>
          <p:cNvCxnSpPr>
            <a:cxnSpLocks/>
          </p:cNvCxnSpPr>
          <p:nvPr/>
        </p:nvCxnSpPr>
        <p:spPr>
          <a:xfrm>
            <a:off x="5118910" y="3119645"/>
            <a:ext cx="0" cy="43815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6F4275E3-76B1-474B-BC7B-D4C4E0731A5F}"/>
              </a:ext>
            </a:extLst>
          </p:cNvPr>
          <p:cNvSpPr txBox="1"/>
          <p:nvPr/>
        </p:nvSpPr>
        <p:spPr>
          <a:xfrm>
            <a:off x="5302736" y="3333661"/>
            <a:ext cx="61219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b="1" dirty="0"/>
              <a:t>1.8mV</a:t>
            </a:r>
            <a:endParaRPr lang="zh-TW" altLang="en-US" sz="1600" b="1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1E5B5641-E459-4FF3-B3AC-E4EECBFEECBB}"/>
              </a:ext>
            </a:extLst>
          </p:cNvPr>
          <p:cNvSpPr txBox="1"/>
          <p:nvPr/>
        </p:nvSpPr>
        <p:spPr>
          <a:xfrm>
            <a:off x="9659491" y="2988815"/>
            <a:ext cx="2412838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b="1" dirty="0"/>
              <a:t>Overshoot =</a:t>
            </a:r>
            <a:r>
              <a:rPr lang="zh-TW" altLang="en-US" b="1" dirty="0"/>
              <a:t> </a:t>
            </a:r>
            <a:r>
              <a:rPr lang="en-US" altLang="zh-TW" b="1" dirty="0"/>
              <a:t>1.8mV</a:t>
            </a:r>
          </a:p>
          <a:p>
            <a:pPr>
              <a:lnSpc>
                <a:spcPct val="150000"/>
              </a:lnSpc>
            </a:pPr>
            <a:r>
              <a:rPr lang="en-US" altLang="zh-TW" b="1" dirty="0"/>
              <a:t>S</a:t>
            </a:r>
            <a:r>
              <a:rPr lang="zh-TW" altLang="en-US" b="1" dirty="0"/>
              <a:t>ettling time = </a:t>
            </a:r>
            <a:r>
              <a:rPr lang="en-US" altLang="zh-TW" b="1" dirty="0"/>
              <a:t>18.43</a:t>
            </a:r>
            <a:r>
              <a:rPr lang="zh-TW" altLang="en-US" b="1" dirty="0"/>
              <a:t>u</a:t>
            </a:r>
            <a:r>
              <a:rPr lang="en-US" altLang="zh-TW" b="1" dirty="0"/>
              <a:t>s</a:t>
            </a:r>
            <a:endParaRPr lang="zh-TW" altLang="en-US" b="1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0B9CB78C-629A-B2D2-F15E-7551DC874589}"/>
              </a:ext>
            </a:extLst>
          </p:cNvPr>
          <p:cNvSpPr txBox="1"/>
          <p:nvPr/>
        </p:nvSpPr>
        <p:spPr>
          <a:xfrm>
            <a:off x="11125200" y="3783003"/>
            <a:ext cx="61256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/>
              <a:t>(</a:t>
            </a:r>
            <a:r>
              <a:rPr lang="en-US" altLang="zh-TW" b="1" dirty="0"/>
              <a:t>5</a:t>
            </a:r>
            <a:r>
              <a:rPr lang="zh-TW" altLang="en-US" b="1" dirty="0"/>
              <a:t>Tsw )</a:t>
            </a:r>
          </a:p>
        </p:txBody>
      </p:sp>
    </p:spTree>
    <p:extLst>
      <p:ext uri="{BB962C8B-B14F-4D97-AF65-F5344CB8AC3E}">
        <p14:creationId xmlns:p14="http://schemas.microsoft.com/office/powerpoint/2010/main" val="3991733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EFED1-09D5-8F93-EC70-B5CD9DF64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186942-754F-B21A-A3FF-E4C087C41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03" y="0"/>
            <a:ext cx="11479794" cy="769546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To-do item</a:t>
            </a:r>
            <a:endParaRPr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CA1F1A-4EF1-F235-06CC-A87D2FEAC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103" y="977774"/>
            <a:ext cx="11479794" cy="5199189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cs typeface="Arial" panose="020B0604020202020204" pitchFamily="34" charset="0"/>
              </a:rPr>
              <a:t>I</a:t>
            </a:r>
            <a:r>
              <a:rPr lang="en-US" altLang="zh-TW" sz="3200" b="1" dirty="0"/>
              <a:t>C subblock design and simulation</a:t>
            </a:r>
            <a:endParaRPr lang="en-US" altLang="zh-TW" sz="3200" b="1" dirty="0">
              <a:cs typeface="Arial" panose="020B0604020202020204" pitchFamily="34" charset="0"/>
            </a:endParaRPr>
          </a:p>
          <a:p>
            <a:r>
              <a:rPr lang="en-US" altLang="zh-TW" sz="3200" b="1" dirty="0"/>
              <a:t>Specifications for subblocks</a:t>
            </a:r>
            <a:br>
              <a:rPr lang="en" altLang="zh-TW" sz="3200" b="1" dirty="0">
                <a:cs typeface="Arial" panose="020B0604020202020204" pitchFamily="34" charset="0"/>
              </a:rPr>
            </a:br>
            <a:endParaRPr lang="zh-TW" altLang="en-US" sz="3200" b="1" dirty="0"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7400548-1A26-647A-62B4-2ED1E85C0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2"/>
            <a:ext cx="3225297" cy="365125"/>
          </a:xfrm>
        </p:spPr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14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950882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73597</TotalTime>
  <Words>432</Words>
  <Application>Microsoft Office PowerPoint</Application>
  <PresentationFormat>寬螢幕</PresentationFormat>
  <Paragraphs>109</Paragraphs>
  <Slides>14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1" baseType="lpstr">
      <vt:lpstr>新細明體</vt:lpstr>
      <vt:lpstr>Arial</vt:lpstr>
      <vt:lpstr>Calibri</vt:lpstr>
      <vt:lpstr>Calibri Light</vt:lpstr>
      <vt:lpstr>Wingdings</vt:lpstr>
      <vt:lpstr>1_Office 佈景主題</vt:lpstr>
      <vt:lpstr>Equation</vt:lpstr>
      <vt:lpstr>PEIC Final Project  Project plan and topics</vt:lpstr>
      <vt:lpstr>Outline</vt:lpstr>
      <vt:lpstr>Project</vt:lpstr>
      <vt:lpstr>Spec. </vt:lpstr>
      <vt:lpstr>V2COT Small-Signal Control to Output Transfer Function </vt:lpstr>
      <vt:lpstr>V2COT Small-Signal Control to Output Transfer Function </vt:lpstr>
      <vt:lpstr>V2COT Small-Signal Control to Output Transfer Function </vt:lpstr>
      <vt:lpstr>Compensator Design </vt:lpstr>
      <vt:lpstr>Loop Gain Transfer Function</vt:lpstr>
      <vt:lpstr>Behavior Model Simulation @ Start-Up</vt:lpstr>
      <vt:lpstr>PowerPoint 簡報</vt:lpstr>
      <vt:lpstr>Transient Response @ Step Down 4A → 1A</vt:lpstr>
      <vt:lpstr>Transient Response @ Step Down 4A → 1A</vt:lpstr>
      <vt:lpstr>To-do item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report</dc:title>
  <dc:creator>張育誠</dc:creator>
  <cp:lastModifiedBy>howard chang</cp:lastModifiedBy>
  <cp:revision>698</cp:revision>
  <dcterms:created xsi:type="dcterms:W3CDTF">2020-07-04T17:19:57Z</dcterms:created>
  <dcterms:modified xsi:type="dcterms:W3CDTF">2026-06-06T12:57:15Z</dcterms:modified>
</cp:coreProperties>
</file>