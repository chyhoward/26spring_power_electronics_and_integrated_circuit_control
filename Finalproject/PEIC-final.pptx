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3"/>
  </p:notesMasterIdLst>
  <p:sldIdLst>
    <p:sldId id="256" r:id="rId2"/>
    <p:sldId id="258" r:id="rId3"/>
    <p:sldId id="289" r:id="rId4"/>
    <p:sldId id="259" r:id="rId5"/>
    <p:sldId id="270" r:id="rId6"/>
    <p:sldId id="292" r:id="rId7"/>
    <p:sldId id="271" r:id="rId8"/>
    <p:sldId id="293" r:id="rId9"/>
    <p:sldId id="315" r:id="rId10"/>
    <p:sldId id="269" r:id="rId11"/>
    <p:sldId id="295" r:id="rId12"/>
    <p:sldId id="296" r:id="rId13"/>
    <p:sldId id="297" r:id="rId14"/>
    <p:sldId id="279" r:id="rId15"/>
    <p:sldId id="298" r:id="rId16"/>
    <p:sldId id="299" r:id="rId17"/>
    <p:sldId id="300" r:id="rId18"/>
    <p:sldId id="301" r:id="rId19"/>
    <p:sldId id="302" r:id="rId20"/>
    <p:sldId id="280" r:id="rId21"/>
    <p:sldId id="286" r:id="rId22"/>
    <p:sldId id="287" r:id="rId23"/>
    <p:sldId id="277" r:id="rId24"/>
    <p:sldId id="310" r:id="rId25"/>
    <p:sldId id="290" r:id="rId26"/>
    <p:sldId id="313" r:id="rId27"/>
    <p:sldId id="314" r:id="rId28"/>
    <p:sldId id="309" r:id="rId29"/>
    <p:sldId id="303" r:id="rId30"/>
    <p:sldId id="304" r:id="rId31"/>
    <p:sldId id="291" r:id="rId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son.Liu 劉展佑" initials="B劉" lastIdx="1" clrIdx="0">
    <p:extLst>
      <p:ext uri="{19B8F6BF-5375-455C-9EA6-DF929625EA0E}">
        <p15:presenceInfo xmlns:p15="http://schemas.microsoft.com/office/powerpoint/2012/main" userId="Benson.Liu 劉展佑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01E3"/>
    <a:srgbClr val="6600FF"/>
    <a:srgbClr val="2ACA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7021D-AF3E-2DCA-FFF8-2FA66E939F0A}" v="1" dt="2026-05-20T05:29:57.186"/>
    <p1510:client id="{E9D5C69D-0287-12B8-CC81-058D22025AC1}" v="76" dt="2026-05-20T07:24:58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01" autoAdjust="0"/>
    <p:restoredTop sz="92121" autoAdjust="0"/>
  </p:normalViewPr>
  <p:slideViewPr>
    <p:cSldViewPr snapToGrid="0">
      <p:cViewPr varScale="1">
        <p:scale>
          <a:sx n="133" d="100"/>
          <a:sy n="133" d="100"/>
        </p:scale>
        <p:origin x="1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son.Liu 劉展佑" userId="S::benson.liu@powerforest.com::b91776e8-4c5a-43b1-a733-626c908ed86f" providerId="AD" clId="Web-{E9D5C69D-0287-12B8-CC81-058D22025AC1}"/>
    <pc:docChg chg="addSld delSld modSld">
      <pc:chgData name="Benson.Liu 劉展佑" userId="S::benson.liu@powerforest.com::b91776e8-4c5a-43b1-a733-626c908ed86f" providerId="AD" clId="Web-{E9D5C69D-0287-12B8-CC81-058D22025AC1}" dt="2026-05-20T07:24:58.979" v="71" actId="1076"/>
      <pc:docMkLst>
        <pc:docMk/>
      </pc:docMkLst>
      <pc:sldChg chg="modSp">
        <pc:chgData name="Benson.Liu 劉展佑" userId="S::benson.liu@powerforest.com::b91776e8-4c5a-43b1-a733-626c908ed86f" providerId="AD" clId="Web-{E9D5C69D-0287-12B8-CC81-058D22025AC1}" dt="2026-05-20T05:47:42.035" v="23"/>
        <pc:sldMkLst>
          <pc:docMk/>
          <pc:sldMk cId="1955254817" sldId="271"/>
        </pc:sldMkLst>
        <pc:graphicFrameChg chg="modGraphic">
          <ac:chgData name="Benson.Liu 劉展佑" userId="S::benson.liu@powerforest.com::b91776e8-4c5a-43b1-a733-626c908ed86f" providerId="AD" clId="Web-{E9D5C69D-0287-12B8-CC81-058D22025AC1}" dt="2026-05-20T05:47:42.035" v="23"/>
          <ac:graphicFrameMkLst>
            <pc:docMk/>
            <pc:sldMk cId="1955254817" sldId="271"/>
            <ac:graphicFrameMk id="7" creationId="{056928A8-A4F0-4364-934D-6B2C90E852AE}"/>
          </ac:graphicFrameMkLst>
        </pc:graphicFrameChg>
        <pc:graphicFrameChg chg="mod modGraphic">
          <ac:chgData name="Benson.Liu 劉展佑" userId="S::benson.liu@powerforest.com::b91776e8-4c5a-43b1-a733-626c908ed86f" providerId="AD" clId="Web-{E9D5C69D-0287-12B8-CC81-058D22025AC1}" dt="2026-05-20T05:47:36.519" v="22"/>
          <ac:graphicFrameMkLst>
            <pc:docMk/>
            <pc:sldMk cId="1955254817" sldId="271"/>
            <ac:graphicFrameMk id="8" creationId="{5C00B23D-FAE7-4449-97BE-131B97ABF3E7}"/>
          </ac:graphicFrameMkLst>
        </pc:graphicFrameChg>
      </pc:sldChg>
      <pc:sldChg chg="addSp delSp modSp">
        <pc:chgData name="Benson.Liu 劉展佑" userId="S::benson.liu@powerforest.com::b91776e8-4c5a-43b1-a733-626c908ed86f" providerId="AD" clId="Web-{E9D5C69D-0287-12B8-CC81-058D22025AC1}" dt="2026-05-20T07:24:58.979" v="71" actId="1076"/>
        <pc:sldMkLst>
          <pc:docMk/>
          <pc:sldMk cId="2222968213" sldId="285"/>
        </pc:sldMkLst>
        <pc:spChg chg="del">
          <ac:chgData name="Benson.Liu 劉展佑" userId="S::benson.liu@powerforest.com::b91776e8-4c5a-43b1-a733-626c908ed86f" providerId="AD" clId="Web-{E9D5C69D-0287-12B8-CC81-058D22025AC1}" dt="2026-05-20T07:22:06.957" v="24"/>
          <ac:spMkLst>
            <pc:docMk/>
            <pc:sldMk cId="2222968213" sldId="285"/>
            <ac:spMk id="3" creationId="{6B36907F-38F5-CD8D-DD01-F19860063840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8"/>
          <ac:spMkLst>
            <pc:docMk/>
            <pc:sldMk cId="2222968213" sldId="285"/>
            <ac:spMk id="9" creationId="{5E8B0A35-3FF8-D9E8-A539-3A86FEE8D212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7"/>
          <ac:spMkLst>
            <pc:docMk/>
            <pc:sldMk cId="2222968213" sldId="285"/>
            <ac:spMk id="11" creationId="{A3548ADE-E751-13E0-8910-752C15DB23AB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6"/>
          <ac:spMkLst>
            <pc:docMk/>
            <pc:sldMk cId="2222968213" sldId="285"/>
            <ac:spMk id="13" creationId="{48BBE204-2774-84EE-B7F2-FA53FA8C6A86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5"/>
          <ac:spMkLst>
            <pc:docMk/>
            <pc:sldMk cId="2222968213" sldId="285"/>
            <ac:spMk id="15" creationId="{EF026C9E-5587-A545-336F-043E22247785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4"/>
          <ac:spMkLst>
            <pc:docMk/>
            <pc:sldMk cId="2222968213" sldId="285"/>
            <ac:spMk id="17" creationId="{AD5C9AAC-2DA8-A09B-3F02-401ECB8318B4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3"/>
          <ac:spMkLst>
            <pc:docMk/>
            <pc:sldMk cId="2222968213" sldId="285"/>
            <ac:spMk id="19" creationId="{E82DC0E0-7D66-7376-ED9C-FA616DB74AB7}"/>
          </ac:spMkLst>
        </pc:spChg>
        <pc:spChg chg="add del mod">
          <ac:chgData name="Benson.Liu 劉展佑" userId="S::benson.liu@powerforest.com::b91776e8-4c5a-43b1-a733-626c908ed86f" providerId="AD" clId="Web-{E9D5C69D-0287-12B8-CC81-058D22025AC1}" dt="2026-05-20T07:23:17.350" v="66"/>
          <ac:spMkLst>
            <pc:docMk/>
            <pc:sldMk cId="2222968213" sldId="285"/>
            <ac:spMk id="21" creationId="{4E60D716-9361-F966-AF04-4F17CD2A572A}"/>
          </ac:spMkLst>
        </pc:spChg>
        <pc:spChg chg="add del mod">
          <ac:chgData name="Benson.Liu 劉展佑" userId="S::benson.liu@powerforest.com::b91776e8-4c5a-43b1-a733-626c908ed86f" providerId="AD" clId="Web-{E9D5C69D-0287-12B8-CC81-058D22025AC1}" dt="2026-05-20T07:23:10.006" v="64"/>
          <ac:spMkLst>
            <pc:docMk/>
            <pc:sldMk cId="2222968213" sldId="285"/>
            <ac:spMk id="23" creationId="{1A11AF41-E845-1D59-4705-142CC5BBBD46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16.194" v="65" actId="1076"/>
          <ac:spMkLst>
            <pc:docMk/>
            <pc:sldMk cId="2222968213" sldId="285"/>
            <ac:spMk id="25" creationId="{E60AB0E0-29C7-CBA1-5A86-3F01139035AA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22.413" v="67" actId="1076"/>
          <ac:spMkLst>
            <pc:docMk/>
            <pc:sldMk cId="2222968213" sldId="285"/>
            <ac:spMk id="27" creationId="{44AC43F3-296D-AFB3-97A7-A0FE1B596E19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31.585" v="70" actId="1076"/>
          <ac:spMkLst>
            <pc:docMk/>
            <pc:sldMk cId="2222968213" sldId="285"/>
            <ac:spMk id="29" creationId="{79C9B6D3-C765-34CA-93BB-128B9D4B5B7C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4:58.979" v="71" actId="1076"/>
          <ac:spMkLst>
            <pc:docMk/>
            <pc:sldMk cId="2222968213" sldId="285"/>
            <ac:spMk id="31" creationId="{C101E21E-185D-9686-9F2B-0EB8DB55157E}"/>
          </ac:spMkLst>
        </pc:spChg>
        <pc:picChg chg="add mod ord">
          <ac:chgData name="Benson.Liu 劉展佑" userId="S::benson.liu@powerforest.com::b91776e8-4c5a-43b1-a733-626c908ed86f" providerId="AD" clId="Web-{E9D5C69D-0287-12B8-CC81-058D22025AC1}" dt="2026-05-20T07:22:32.301" v="35" actId="1076"/>
          <ac:picMkLst>
            <pc:docMk/>
            <pc:sldMk cId="2222968213" sldId="285"/>
            <ac:picMk id="2" creationId="{1BEB2A60-9420-98AF-DFE8-1B59772BB907}"/>
          </ac:picMkLst>
        </pc:picChg>
        <pc:picChg chg="add del">
          <ac:chgData name="Benson.Liu 劉展佑" userId="S::benson.liu@powerforest.com::b91776e8-4c5a-43b1-a733-626c908ed86f" providerId="AD" clId="Web-{E9D5C69D-0287-12B8-CC81-058D22025AC1}" dt="2026-05-20T07:22:42.536" v="49"/>
          <ac:picMkLst>
            <pc:docMk/>
            <pc:sldMk cId="2222968213" sldId="285"/>
            <ac:picMk id="7" creationId="{686206E1-6537-7D03-24B2-A86F153C79F0}"/>
          </ac:picMkLst>
        </pc:picChg>
      </pc:sldChg>
      <pc:sldChg chg="add del">
        <pc:chgData name="Benson.Liu 劉展佑" userId="S::benson.liu@powerforest.com::b91776e8-4c5a-43b1-a733-626c908ed86f" providerId="AD" clId="Web-{E9D5C69D-0287-12B8-CC81-058D22025AC1}" dt="2026-05-20T07:22:49.646" v="51"/>
        <pc:sldMkLst>
          <pc:docMk/>
          <pc:sldMk cId="3037639399" sldId="286"/>
        </pc:sldMkLst>
      </pc:sldChg>
    </pc:docChg>
  </pc:docChgLst>
  <pc:docChgLst>
    <pc:chgData name="Benson.Liu 劉展佑" userId="S::benson.liu@powerforest.com::b91776e8-4c5a-43b1-a733-626c908ed86f" providerId="AD" clId="Web-{0447021D-AF3E-2DCA-FFF8-2FA66E939F0A}"/>
    <pc:docChg chg="delSld">
      <pc:chgData name="Benson.Liu 劉展佑" userId="S::benson.liu@powerforest.com::b91776e8-4c5a-43b1-a733-626c908ed86f" providerId="AD" clId="Web-{0447021D-AF3E-2DCA-FFF8-2FA66E939F0A}" dt="2026-05-20T05:29:57.186" v="0"/>
      <pc:docMkLst>
        <pc:docMk/>
      </pc:docMkLst>
      <pc:sldChg chg="del">
        <pc:chgData name="Benson.Liu 劉展佑" userId="S::benson.liu@powerforest.com::b91776e8-4c5a-43b1-a733-626c908ed86f" providerId="AD" clId="Web-{0447021D-AF3E-2DCA-FFF8-2FA66E939F0A}" dt="2026-05-20T05:29:57.186" v="0"/>
        <pc:sldMkLst>
          <pc:docMk/>
          <pc:sldMk cId="2519298699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5779F-1EFE-4485-A906-EA001590265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2100C-E61B-46DE-8874-8E13D526C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961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2100C-E61B-46DE-8874-8E13D526CEC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9205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2100C-E61B-46DE-8874-8E13D526CECF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0971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63E31C6-1C2A-4845-89E3-6FEE68952421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6/10/26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7243" y="6128125"/>
            <a:ext cx="3129441" cy="60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8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3B36FF9-F2FD-472F-9F28-9BAB14879814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6/10/26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65908" y="766119"/>
            <a:ext cx="1201282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905" y="6514646"/>
            <a:ext cx="1449859" cy="2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4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F11803AF-592B-4257-A081-034C072C49E3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6/10/26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03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0A936868-B880-4C54-94E9-9D2CBD5F13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6/10/26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37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55162B58-7F80-4C12-8718-64E81B38B08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6/10/26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17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B2D2E963-980B-4545-9A70-B0AC38981181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6/10/26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49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933A61A-76B4-4091-9561-163C5F11ED0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6/10/26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9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37833D00-0694-467E-A8FA-EE9D39B3C9AD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6/10/26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64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85704E46-176E-4573-986F-A1A769C0F9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6/10/26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43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D4184016-4B19-4BEE-AB13-6E8811836C88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6/10/26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9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5B09A94-DFE2-43CA-ABD2-1489230DBAE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6/10/26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1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3FE331E-C5A7-4440-8D60-35C922ABA37D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6/10/26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DE" altLang="zh-TW" sz="1050" b="1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18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w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w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7.png"/><Relationship Id="rId7" Type="http://schemas.openxmlformats.org/officeDocument/2006/relationships/image" Target="../media/image18.w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0.wmf"/><Relationship Id="rId5" Type="http://schemas.openxmlformats.org/officeDocument/2006/relationships/image" Target="../media/image11.png"/><Relationship Id="rId10" Type="http://schemas.openxmlformats.org/officeDocument/2006/relationships/oleObject" Target="../embeddings/oleObject7.bin"/><Relationship Id="rId4" Type="http://schemas.openxmlformats.org/officeDocument/2006/relationships/image" Target="../media/image12.png"/><Relationship Id="rId9" Type="http://schemas.openxmlformats.org/officeDocument/2006/relationships/image" Target="../media/image1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329156-FD61-E59B-DE1B-F3A12526B3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PEIC Final Project </a:t>
            </a:r>
            <a:b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Project plan and topics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53E221-1CAD-4186-EF0F-6C668CE9E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849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Group1: 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邱于瑄、林均翰、劉展佑、張顥譽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Presenter: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林均翰、劉展佑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Date: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2026.06.11</a:t>
            </a:r>
            <a:endParaRPr lang="zh-TW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39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037238-2FE0-57F4-D1F3-1FF9401C0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659133-D6AA-0540-919D-6D2C6F0A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spec.</a:t>
            </a:r>
            <a:endParaRPr lang="en" altLang="zh-TW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 model simulation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 subblock analysis and simulation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zh-TW" altLang="en-US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7AD0A6-C11F-10D3-9524-383322A8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52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EE8F-AFEF-4ADD-72AD-D3AC0FC02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6228B-C7B6-EB4C-9694-C6866B94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928B06-6F00-9B98-D1AF-8B23FF5E9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spec.</a:t>
            </a:r>
            <a:endParaRPr lang="en" altLang="zh-TW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 model simulation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 subblock analysis and simulation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zh-TW" altLang="en-US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E24E91-7856-04ED-3273-BBCA1255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3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768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CFFC-ABFA-EEB3-7876-08CC44F9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5BD1A-229F-0D04-2FFA-38C1F6DC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Project Plan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13569-E4DE-DF51-0379-1C4EA5B33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TW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Constant ON-Time </a:t>
            </a: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for point of load (POL)</a:t>
            </a:r>
            <a:r>
              <a:rPr lang="zh-TW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buck</a:t>
            </a:r>
          </a:p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Ultrafast Transient Response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Simple Implementation (no current sensing resistor)</a:t>
            </a:r>
          </a:p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endParaRPr lang="en" altLang="zh-TW" dirty="0"/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Vin = 12V, Vo = 1.2V</a:t>
            </a:r>
            <a:r>
              <a:rPr lang="zh-TW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Io = 1A to 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4A in</a:t>
            </a:r>
          </a:p>
          <a:p>
            <a:pPr lvl="1"/>
            <a:r>
              <a:rPr lang="en" altLang="zh-TW">
                <a:latin typeface="Arial" panose="020B0604020202020204" pitchFamily="34" charset="0"/>
                <a:cs typeface="Arial" panose="020B0604020202020204" pitchFamily="34" charset="0"/>
              </a:rPr>
              <a:t>CPU </a:t>
            </a:r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or GPU in mobile device</a:t>
            </a:r>
            <a:b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64B115-BD69-F02F-36E8-436CF769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4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AA500E2-CD92-1832-E009-2CDB2BEF9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098" y="3929112"/>
            <a:ext cx="4614641" cy="233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77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6BB0C-6AEC-AF0D-8EFB-6F158C08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A688C9-C916-0CA5-A6B5-172D61E6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Challenge of COT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24699E-C540-D43B-141E-510ED741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5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A7F1DA1-26D6-3ECE-DC55-F7FEFFAA1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1" t="2964" r="13599" b="1719"/>
          <a:stretch>
            <a:fillRect/>
          </a:stretch>
        </p:blipFill>
        <p:spPr>
          <a:xfrm>
            <a:off x="8519130" y="2846176"/>
            <a:ext cx="3672649" cy="379235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496BD2C-4F9F-7B43-8D93-BAA5E2476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0904" y="792230"/>
            <a:ext cx="2076037" cy="2018736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E45E532E-9BBB-55BE-5B81-D379A522A36D}"/>
              </a:ext>
            </a:extLst>
          </p:cNvPr>
          <p:cNvSpPr txBox="1">
            <a:spLocks/>
          </p:cNvSpPr>
          <p:nvPr/>
        </p:nvSpPr>
        <p:spPr>
          <a:xfrm>
            <a:off x="356103" y="977774"/>
            <a:ext cx="7642491" cy="519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Subharmonic Oscillation:</a:t>
            </a:r>
          </a:p>
          <a:p>
            <a:pPr lvl="1"/>
            <a:r>
              <a:rPr lang="en" altLang="zh-TW" sz="2000" dirty="0"/>
              <a:t>Both the </a:t>
            </a:r>
            <a:r>
              <a:rPr lang="en" altLang="zh-TW" sz="2000" b="1" dirty="0"/>
              <a:t>inductor current </a:t>
            </a:r>
            <a:r>
              <a:rPr lang="en" altLang="zh-TW" sz="2000" dirty="0"/>
              <a:t>and </a:t>
            </a:r>
            <a:r>
              <a:rPr lang="en" altLang="zh-TW" sz="2000" b="1" dirty="0"/>
              <a:t>the capacitor voltage ripple</a:t>
            </a:r>
            <a:r>
              <a:rPr lang="en" altLang="zh-TW" sz="2000" dirty="0"/>
              <a:t> information is fed back to the modulator</a:t>
            </a:r>
          </a:p>
          <a:p>
            <a:pPr lvl="1"/>
            <a:r>
              <a:rPr lang="en" altLang="zh-TW" sz="2000" b="1" dirty="0"/>
              <a:t>Delay due to the capacitor ripple </a:t>
            </a:r>
            <a:r>
              <a:rPr lang="en" altLang="zh-TW" sz="2000" dirty="0"/>
              <a:t>results in sub-harmonic oscillation</a:t>
            </a:r>
          </a:p>
          <a:p>
            <a:pPr lvl="1"/>
            <a:r>
              <a:rPr lang="en" altLang="zh-TW" sz="2000" dirty="0"/>
              <a:t>Subharmonic oscillation occurs when the ceramic capacitor is used, since the capacitor voltage ripple is relatively too large</a:t>
            </a:r>
          </a:p>
          <a:p>
            <a:r>
              <a:rPr lang="en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</a:p>
          <a:p>
            <a:pPr lvl="1"/>
            <a:r>
              <a:rPr lang="en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Add </a:t>
            </a:r>
            <a:r>
              <a:rPr lang="en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external ramp </a:t>
            </a:r>
            <a:r>
              <a:rPr lang="en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to compensate the delay resulted from capacitor voltage ripple</a:t>
            </a:r>
          </a:p>
          <a:p>
            <a:pPr lvl="1"/>
            <a:r>
              <a:rPr lang="en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Advantage: </a:t>
            </a:r>
          </a:p>
          <a:p>
            <a:pPr lvl="2"/>
            <a:r>
              <a:rPr lang="en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TW" sz="16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mple to implement</a:t>
            </a:r>
          </a:p>
          <a:p>
            <a:pPr lvl="2"/>
            <a:r>
              <a:rPr lang="en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No current sensing needed</a:t>
            </a:r>
          </a:p>
          <a:p>
            <a:pPr lvl="1"/>
            <a:endParaRPr lang="en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2331E4C-0AD5-760E-9582-9D0883BF10FB}"/>
              </a:ext>
            </a:extLst>
          </p:cNvPr>
          <p:cNvSpPr txBox="1"/>
          <p:nvPr/>
        </p:nvSpPr>
        <p:spPr>
          <a:xfrm>
            <a:off x="1849120" y="6538914"/>
            <a:ext cx="10728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1000" dirty="0"/>
              <a:t>Li, Jian, and Fred C. Lee. "Modeling of ${\rm V}^{2} $ Current-Mode Control." </a:t>
            </a:r>
            <a:r>
              <a:rPr lang="en" altLang="zh-TW" sz="1000" i="1" dirty="0"/>
              <a:t>IEEE Transactions on Circuits and Systems I: Regular Papers</a:t>
            </a:r>
            <a:r>
              <a:rPr lang="en" altLang="zh-TW" sz="1000" dirty="0"/>
              <a:t> 57.9 (2010): 2552-2563.</a:t>
            </a:r>
            <a:endParaRPr kumimoji="1" lang="zh-TW" alt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74A9E0F-1B15-8104-8DD6-80D3354EFE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17" t="2017"/>
          <a:stretch>
            <a:fillRect/>
          </a:stretch>
        </p:blipFill>
        <p:spPr>
          <a:xfrm>
            <a:off x="4140657" y="4446176"/>
            <a:ext cx="4378473" cy="191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260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FD770-65CB-FD11-8B07-A81A0BBD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302BB-5C58-81DD-0AB7-ADC396E04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430620-D42F-57D3-7263-A9AE42BF9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Project spec.</a:t>
            </a:r>
            <a:endParaRPr lang="en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 model simulation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 subblock analysis and simulation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zh-TW" altLang="en-US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9A5302-1551-A108-F9C7-8FDBBD626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6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22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9">
            <a:extLst>
              <a:ext uri="{FF2B5EF4-FFF2-40B4-BE49-F238E27FC236}">
                <a16:creationId xmlns:a16="http://schemas.microsoft.com/office/drawing/2014/main" id="{056928A8-A4F0-4364-934D-6B2C90E85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609673"/>
              </p:ext>
            </p:extLst>
          </p:nvPr>
        </p:nvGraphicFramePr>
        <p:xfrm>
          <a:off x="5857170" y="2025099"/>
          <a:ext cx="6015271" cy="3996714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3682119">
                  <a:extLst>
                    <a:ext uri="{9D8B030D-6E8A-4147-A177-3AD203B41FA5}">
                      <a16:colId xmlns:a16="http://schemas.microsoft.com/office/drawing/2014/main" val="2817255913"/>
                    </a:ext>
                  </a:extLst>
                </a:gridCol>
                <a:gridCol w="2333152">
                  <a:extLst>
                    <a:ext uri="{9D8B030D-6E8A-4147-A177-3AD203B41FA5}">
                      <a16:colId xmlns:a16="http://schemas.microsoft.com/office/drawing/2014/main" val="3028181272"/>
                    </a:ext>
                  </a:extLst>
                </a:gridCol>
              </a:tblGrid>
              <a:tr h="3760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Topology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Buck Converter</a:t>
                      </a:r>
                      <a:endParaRPr lang="zh-TW" altLang="en-US" sz="20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147335"/>
                  </a:ext>
                </a:extLst>
              </a:tr>
              <a:tr h="401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voltage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12623"/>
                  </a:ext>
                </a:extLst>
              </a:tr>
              <a:tr h="401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voltage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1.2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183922"/>
                  </a:ext>
                </a:extLst>
              </a:tr>
              <a:tr h="4019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current I</a:t>
                      </a:r>
                      <a:r>
                        <a:rPr lang="en-US" altLang="zh-TW" sz="20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zh-TW" altLang="en-US" sz="2000" b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 A</a:t>
                      </a:r>
                      <a:endParaRPr lang="zh-TW" altLang="en-US" sz="2000" b="1" i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1786"/>
                  </a:ext>
                </a:extLst>
              </a:tr>
              <a:tr h="3760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Inductance </a:t>
                      </a:r>
                      <a:r>
                        <a:rPr lang="en-US" altLang="zh-TW" sz="2000" b="1" i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1.8</a:t>
                      </a:r>
                      <a:r>
                        <a:rPr lang="zh-TW" altLang="en-US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i="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μH</a:t>
                      </a:r>
                      <a:endParaRPr lang="zh-TW" altLang="en-US" sz="2000" b="1" i="0" kern="1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05953"/>
                  </a:ext>
                </a:extLst>
              </a:tr>
              <a:tr h="37602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Capacitor C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800 </a:t>
                      </a:r>
                      <a:r>
                        <a:rPr lang="en-US" altLang="zh-TW" sz="2000" b="1" i="0" kern="120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uF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198080"/>
                  </a:ext>
                </a:extLst>
              </a:tr>
              <a:tr h="3760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ESR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175 u</a:t>
                      </a:r>
                      <a:r>
                        <a:rPr lang="el-GR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Ω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493102"/>
                  </a:ext>
                </a:extLst>
              </a:tr>
              <a:tr h="4019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ramp slope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3S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350 mV/us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884183"/>
                  </a:ext>
                </a:extLst>
              </a:tr>
              <a:tr h="401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Switching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frequency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TW" altLang="en-US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kHz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646280"/>
                  </a:ext>
                </a:extLst>
              </a:tr>
              <a:tr h="401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voltage </a:t>
                      </a:r>
                      <a:r>
                        <a:rPr lang="en-US" altLang="zh-TW" sz="2000" b="1" i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ripple</a:t>
                      </a:r>
                      <a:endParaRPr lang="zh-TW" altLang="en-US" sz="2000" b="1" i="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0.0012V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349586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D4CAF312-4EAD-C0A0-415D-E54B3F086E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7" t="2017"/>
          <a:stretch>
            <a:fillRect/>
          </a:stretch>
        </p:blipFill>
        <p:spPr>
          <a:xfrm>
            <a:off x="319558" y="2833787"/>
            <a:ext cx="5453878" cy="237933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352C1F9-E2E9-0B1A-FEB9-437529613543}"/>
              </a:ext>
            </a:extLst>
          </p:cNvPr>
          <p:cNvSpPr txBox="1"/>
          <p:nvPr/>
        </p:nvSpPr>
        <p:spPr>
          <a:xfrm>
            <a:off x="2141492" y="5342351"/>
            <a:ext cx="1810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/>
              <a:t>Our Topology</a:t>
            </a:r>
            <a:endParaRPr lang="zh-TW" altLang="en-US" sz="20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E5C2C41-0428-F41E-0F97-38E116656861}"/>
              </a:ext>
            </a:extLst>
          </p:cNvPr>
          <p:cNvSpPr txBox="1"/>
          <p:nvPr/>
        </p:nvSpPr>
        <p:spPr>
          <a:xfrm>
            <a:off x="7959799" y="1555315"/>
            <a:ext cx="1810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/>
              <a:t>Project spec</a:t>
            </a:r>
            <a:endParaRPr lang="zh-TW" altLang="en-US" sz="2000" b="1" dirty="0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CBAE2205-D6DE-0374-5687-F955C9D5DB9C}"/>
              </a:ext>
            </a:extLst>
          </p:cNvPr>
          <p:cNvSpPr txBox="1">
            <a:spLocks/>
          </p:cNvSpPr>
          <p:nvPr/>
        </p:nvSpPr>
        <p:spPr>
          <a:xfrm>
            <a:off x="356103" y="0"/>
            <a:ext cx="11479794" cy="76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b="1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254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8E412-BB56-2F30-394F-8BFA27C3E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DF8A3-D2BB-B734-376A-8BAFB355E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21B90E-B5D2-0351-F18C-1342E7709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spec.</a:t>
            </a:r>
            <a:endParaRPr lang="en" altLang="zh-TW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Behavior model simulation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 subblock analysis and simulation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zh-TW" altLang="en-US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ED39E8-4177-C3D1-E344-C1BA2355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8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984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A0063E-029D-9C9C-3CDF-454107AF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Architecture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AE4D15-B571-C5F0-204E-A0C69BEA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92F9CD2-65B3-416C-F2A0-566C1309EA7B}"/>
              </a:ext>
            </a:extLst>
          </p:cNvPr>
          <p:cNvCxnSpPr>
            <a:cxnSpLocks/>
          </p:cNvCxnSpPr>
          <p:nvPr/>
        </p:nvCxnSpPr>
        <p:spPr>
          <a:xfrm>
            <a:off x="1838848" y="1797277"/>
            <a:ext cx="8561196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8387E0E-A03A-179E-1558-33806C653500}"/>
              </a:ext>
            </a:extLst>
          </p:cNvPr>
          <p:cNvSpPr/>
          <p:nvPr/>
        </p:nvSpPr>
        <p:spPr>
          <a:xfrm>
            <a:off x="2799901" y="1436696"/>
            <a:ext cx="2099570" cy="70224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Stage</a:t>
            </a:r>
            <a:endParaRPr lang="zh-TW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7D98ED0-FB87-F23D-B9D3-22C6F55A1223}"/>
              </a:ext>
            </a:extLst>
          </p:cNvPr>
          <p:cNvSpPr/>
          <p:nvPr/>
        </p:nvSpPr>
        <p:spPr>
          <a:xfrm>
            <a:off x="7639926" y="1436696"/>
            <a:ext cx="2099570" cy="70224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  <a:endParaRPr lang="zh-TW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D305D19-47CA-04CF-F60E-4CBF25F1AC8E}"/>
              </a:ext>
            </a:extLst>
          </p:cNvPr>
          <p:cNvSpPr txBox="1"/>
          <p:nvPr/>
        </p:nvSpPr>
        <p:spPr>
          <a:xfrm>
            <a:off x="1173131" y="1556989"/>
            <a:ext cx="961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/>
              <a:t>V</a:t>
            </a:r>
            <a:r>
              <a:rPr lang="en-US" altLang="zh-TW" sz="2400" b="1" baseline="-25000" dirty="0"/>
              <a:t>IN</a:t>
            </a:r>
            <a:endParaRPr lang="zh-TW" altLang="en-US" sz="2400" b="1" baseline="-25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A29EB36-70EA-D21D-2C2E-B24F9CDD43E2}"/>
              </a:ext>
            </a:extLst>
          </p:cNvPr>
          <p:cNvSpPr txBox="1"/>
          <p:nvPr/>
        </p:nvSpPr>
        <p:spPr>
          <a:xfrm>
            <a:off x="10538342" y="1566444"/>
            <a:ext cx="961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/>
              <a:t>V</a:t>
            </a:r>
            <a:r>
              <a:rPr lang="en-US" altLang="zh-TW" sz="2400" b="1" baseline="-25000" dirty="0"/>
              <a:t>OUT</a:t>
            </a:r>
            <a:endParaRPr lang="zh-TW" altLang="en-US" sz="2400" b="1" baseline="-25000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4A6E296-D807-868B-1A23-D5FADE7A101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985686" y="3002945"/>
            <a:ext cx="1728000" cy="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5CE8C5D-3C5B-A8AC-D84B-84ACAF5A6BE6}"/>
              </a:ext>
            </a:extLst>
          </p:cNvPr>
          <p:cNvSpPr/>
          <p:nvPr/>
        </p:nvSpPr>
        <p:spPr>
          <a:xfrm>
            <a:off x="8160600" y="4057127"/>
            <a:ext cx="2111038" cy="7789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Type-I Compensation</a:t>
            </a:r>
            <a:endParaRPr lang="zh-TW" alt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C59E9EE-8F8E-D758-F2CD-6E8F001D5827}"/>
              </a:ext>
            </a:extLst>
          </p:cNvPr>
          <p:cNvSpPr txBox="1"/>
          <p:nvPr/>
        </p:nvSpPr>
        <p:spPr>
          <a:xfrm>
            <a:off x="10767231" y="3260003"/>
            <a:ext cx="13121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/>
              <a:t>Sensing Feedback</a:t>
            </a:r>
          </a:p>
          <a:p>
            <a:pPr algn="ctr"/>
            <a:r>
              <a:rPr lang="en-US" altLang="zh-TW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16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endParaRPr lang="en-US" altLang="zh-TW" sz="16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2D1016CD-4531-8196-B5EF-0AC4A0855257}"/>
              </a:ext>
            </a:extLst>
          </p:cNvPr>
          <p:cNvSpPr/>
          <p:nvPr/>
        </p:nvSpPr>
        <p:spPr>
          <a:xfrm>
            <a:off x="8160600" y="5113597"/>
            <a:ext cx="2111038" cy="7789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Ramp Generator</a:t>
            </a:r>
            <a:endParaRPr lang="zh-TW" alt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ACD54AFC-AD5A-F46B-863C-6D96519E7ACE}"/>
              </a:ext>
            </a:extLst>
          </p:cNvPr>
          <p:cNvSpPr/>
          <p:nvPr/>
        </p:nvSpPr>
        <p:spPr>
          <a:xfrm>
            <a:off x="6382100" y="4636772"/>
            <a:ext cx="1346402" cy="7789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Summer</a:t>
            </a:r>
            <a:endParaRPr lang="zh-TW" alt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DB23E5A1-1C36-C143-BB91-21E22637623E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 flipV="1">
            <a:off x="5634281" y="3737056"/>
            <a:ext cx="5132951" cy="885475"/>
          </a:xfrm>
          <a:prstGeom prst="bentConnector3">
            <a:avLst>
              <a:gd name="adj1" fmla="val 9988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接點: 肘形 36">
            <a:extLst>
              <a:ext uri="{FF2B5EF4-FFF2-40B4-BE49-F238E27FC236}">
                <a16:creationId xmlns:a16="http://schemas.microsoft.com/office/drawing/2014/main" id="{25571231-7751-734F-A4EE-1554EC2D920C}"/>
              </a:ext>
            </a:extLst>
          </p:cNvPr>
          <p:cNvCxnSpPr>
            <a:cxnSpLocks/>
            <a:stCxn id="32" idx="1"/>
            <a:endCxn id="33" idx="3"/>
          </p:cNvCxnSpPr>
          <p:nvPr/>
        </p:nvCxnSpPr>
        <p:spPr>
          <a:xfrm rot="10800000">
            <a:off x="7728502" y="5026239"/>
            <a:ext cx="432098" cy="476825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44DA2747-2CBA-C931-D506-3213BC1CDD67}"/>
              </a:ext>
            </a:extLst>
          </p:cNvPr>
          <p:cNvSpPr/>
          <p:nvPr/>
        </p:nvSpPr>
        <p:spPr>
          <a:xfrm>
            <a:off x="4128879" y="4636771"/>
            <a:ext cx="1821123" cy="7789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Comparator</a:t>
            </a:r>
            <a:endParaRPr lang="zh-TW" alt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51A99614-F9D0-695F-23BC-FBFCD5D13443}"/>
              </a:ext>
            </a:extLst>
          </p:cNvPr>
          <p:cNvSpPr/>
          <p:nvPr/>
        </p:nvSpPr>
        <p:spPr>
          <a:xfrm>
            <a:off x="1634556" y="4636771"/>
            <a:ext cx="1821123" cy="77893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Timing Generator</a:t>
            </a:r>
            <a:endParaRPr lang="zh-TW" alt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8" name="接點: 肘形 57">
            <a:extLst>
              <a:ext uri="{FF2B5EF4-FFF2-40B4-BE49-F238E27FC236}">
                <a16:creationId xmlns:a16="http://schemas.microsoft.com/office/drawing/2014/main" id="{F7B7A8E2-CCE1-E958-29CD-0EC238507639}"/>
              </a:ext>
            </a:extLst>
          </p:cNvPr>
          <p:cNvCxnSpPr>
            <a:cxnSpLocks/>
            <a:stCxn id="14" idx="1"/>
            <a:endCxn id="33" idx="3"/>
          </p:cNvCxnSpPr>
          <p:nvPr/>
        </p:nvCxnSpPr>
        <p:spPr>
          <a:xfrm rot="10800000" flipV="1">
            <a:off x="7728502" y="4446592"/>
            <a:ext cx="432098" cy="579645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C1111BAE-BC81-3082-0C6D-60E297E29885}"/>
              </a:ext>
            </a:extLst>
          </p:cNvPr>
          <p:cNvCxnSpPr>
            <a:cxnSpLocks/>
            <a:stCxn id="33" idx="1"/>
            <a:endCxn id="41" idx="3"/>
          </p:cNvCxnSpPr>
          <p:nvPr/>
        </p:nvCxnSpPr>
        <p:spPr>
          <a:xfrm rot="10800000">
            <a:off x="5950002" y="5026238"/>
            <a:ext cx="432098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C02C7811-EC5F-1918-B8E6-6B9F016B75D0}"/>
              </a:ext>
            </a:extLst>
          </p:cNvPr>
          <p:cNvSpPr/>
          <p:nvPr/>
        </p:nvSpPr>
        <p:spPr>
          <a:xfrm>
            <a:off x="2939124" y="3192124"/>
            <a:ext cx="1821123" cy="77893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RS Latch</a:t>
            </a:r>
            <a:endParaRPr lang="zh-TW" alt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9" name="接點: 肘形 68">
            <a:extLst>
              <a:ext uri="{FF2B5EF4-FFF2-40B4-BE49-F238E27FC236}">
                <a16:creationId xmlns:a16="http://schemas.microsoft.com/office/drawing/2014/main" id="{EBF1CA85-02C8-4461-02B4-AEBB90C6F0F1}"/>
              </a:ext>
            </a:extLst>
          </p:cNvPr>
          <p:cNvCxnSpPr>
            <a:cxnSpLocks/>
            <a:stCxn id="41" idx="0"/>
            <a:endCxn id="68" idx="2"/>
          </p:cNvCxnSpPr>
          <p:nvPr/>
        </p:nvCxnSpPr>
        <p:spPr>
          <a:xfrm rot="16200000" flipV="1">
            <a:off x="4111706" y="3709035"/>
            <a:ext cx="665716" cy="1189755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接點: 肘形 71">
            <a:extLst>
              <a:ext uri="{FF2B5EF4-FFF2-40B4-BE49-F238E27FC236}">
                <a16:creationId xmlns:a16="http://schemas.microsoft.com/office/drawing/2014/main" id="{063F27F5-C64D-DDBB-FF40-5238F9D08533}"/>
              </a:ext>
            </a:extLst>
          </p:cNvPr>
          <p:cNvCxnSpPr>
            <a:cxnSpLocks/>
            <a:stCxn id="54" idx="0"/>
            <a:endCxn id="68" idx="2"/>
          </p:cNvCxnSpPr>
          <p:nvPr/>
        </p:nvCxnSpPr>
        <p:spPr>
          <a:xfrm rot="5400000" flipH="1" flipV="1">
            <a:off x="2864544" y="3651629"/>
            <a:ext cx="665716" cy="130456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手繪多邊形: 圖案 76">
            <a:extLst>
              <a:ext uri="{FF2B5EF4-FFF2-40B4-BE49-F238E27FC236}">
                <a16:creationId xmlns:a16="http://schemas.microsoft.com/office/drawing/2014/main" id="{D2D69C99-EDA3-AD65-DBFE-0745C5DD97E1}"/>
              </a:ext>
            </a:extLst>
          </p:cNvPr>
          <p:cNvSpPr/>
          <p:nvPr/>
        </p:nvSpPr>
        <p:spPr>
          <a:xfrm>
            <a:off x="1253046" y="2577854"/>
            <a:ext cx="3888712" cy="3452116"/>
          </a:xfrm>
          <a:custGeom>
            <a:avLst/>
            <a:gdLst>
              <a:gd name="csX0" fmla="*/ 0 w 3888712"/>
              <a:gd name="csY0" fmla="*/ 0 h 3436537"/>
              <a:gd name="csX1" fmla="*/ 3888712 w 3888712"/>
              <a:gd name="csY1" fmla="*/ 0 h 3436537"/>
              <a:gd name="csX2" fmla="*/ 3888712 w 3888712"/>
              <a:gd name="csY2" fmla="*/ 1577592 h 3436537"/>
              <a:gd name="csX3" fmla="*/ 2280976 w 3888712"/>
              <a:gd name="csY3" fmla="*/ 1577592 h 3436537"/>
              <a:gd name="csX4" fmla="*/ 2280976 w 3888712"/>
              <a:gd name="csY4" fmla="*/ 3436537 h 3436537"/>
              <a:gd name="csX5" fmla="*/ 0 w 3888712"/>
              <a:gd name="csY5" fmla="*/ 3436537 h 3436537"/>
              <a:gd name="csX6" fmla="*/ 0 w 3888712"/>
              <a:gd name="csY6" fmla="*/ 0 h 3436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88712" h="3436537">
                <a:moveTo>
                  <a:pt x="0" y="0"/>
                </a:moveTo>
                <a:lnTo>
                  <a:pt x="3888712" y="0"/>
                </a:lnTo>
                <a:lnTo>
                  <a:pt x="3888712" y="1577592"/>
                </a:lnTo>
                <a:lnTo>
                  <a:pt x="2280976" y="1577592"/>
                </a:lnTo>
                <a:lnTo>
                  <a:pt x="2280976" y="3436537"/>
                </a:lnTo>
                <a:lnTo>
                  <a:pt x="0" y="3436537"/>
                </a:lnTo>
                <a:lnTo>
                  <a:pt x="0" y="0"/>
                </a:lnTo>
                <a:close/>
              </a:path>
            </a:pathLst>
          </a:custGeom>
          <a:noFill/>
          <a:ln w="571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手繪多邊形: 圖案 77">
            <a:extLst>
              <a:ext uri="{FF2B5EF4-FFF2-40B4-BE49-F238E27FC236}">
                <a16:creationId xmlns:a16="http://schemas.microsoft.com/office/drawing/2014/main" id="{9ED87269-76D7-CDFA-DE6B-93D7DB0E1C18}"/>
              </a:ext>
            </a:extLst>
          </p:cNvPr>
          <p:cNvSpPr/>
          <p:nvPr/>
        </p:nvSpPr>
        <p:spPr>
          <a:xfrm>
            <a:off x="3813151" y="2801854"/>
            <a:ext cx="6818006" cy="3416440"/>
          </a:xfrm>
          <a:custGeom>
            <a:avLst/>
            <a:gdLst>
              <a:gd name="csX0" fmla="*/ 1617785 w 7033846"/>
              <a:gd name="csY0" fmla="*/ 0 h 3416440"/>
              <a:gd name="csX1" fmla="*/ 7033846 w 7033846"/>
              <a:gd name="csY1" fmla="*/ 0 h 3416440"/>
              <a:gd name="csX2" fmla="*/ 7033846 w 7033846"/>
              <a:gd name="csY2" fmla="*/ 3416440 h 3416440"/>
              <a:gd name="csX3" fmla="*/ 0 w 7033846"/>
              <a:gd name="csY3" fmla="*/ 3416440 h 3416440"/>
              <a:gd name="csX4" fmla="*/ 0 w 7033846"/>
              <a:gd name="csY4" fmla="*/ 1607736 h 3416440"/>
              <a:gd name="csX5" fmla="*/ 1637881 w 7033846"/>
              <a:gd name="csY5" fmla="*/ 1607736 h 3416440"/>
              <a:gd name="csX6" fmla="*/ 1617785 w 7033846"/>
              <a:gd name="csY6" fmla="*/ 0 h 3416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033846" h="3416440">
                <a:moveTo>
                  <a:pt x="1617785" y="0"/>
                </a:moveTo>
                <a:lnTo>
                  <a:pt x="7033846" y="0"/>
                </a:lnTo>
                <a:lnTo>
                  <a:pt x="7033846" y="3416440"/>
                </a:lnTo>
                <a:lnTo>
                  <a:pt x="0" y="3416440"/>
                </a:lnTo>
                <a:lnTo>
                  <a:pt x="0" y="1607736"/>
                </a:lnTo>
                <a:lnTo>
                  <a:pt x="1637881" y="1607736"/>
                </a:lnTo>
                <a:lnTo>
                  <a:pt x="1617785" y="0"/>
                </a:lnTo>
                <a:close/>
              </a:path>
            </a:pathLst>
          </a:custGeom>
          <a:noFill/>
          <a:ln w="5715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9FEDC420-54FF-54D2-9197-8FB4E5BBDB85}"/>
              </a:ext>
            </a:extLst>
          </p:cNvPr>
          <p:cNvSpPr txBox="1"/>
          <p:nvPr/>
        </p:nvSpPr>
        <p:spPr>
          <a:xfrm>
            <a:off x="1412474" y="2728813"/>
            <a:ext cx="1836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Logic Control</a:t>
            </a:r>
            <a:endParaRPr lang="zh-TW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9B6B0E65-2F37-6799-0C0E-7494DDCB456F}"/>
              </a:ext>
            </a:extLst>
          </p:cNvPr>
          <p:cNvSpPr txBox="1"/>
          <p:nvPr/>
        </p:nvSpPr>
        <p:spPr>
          <a:xfrm>
            <a:off x="8550146" y="2826985"/>
            <a:ext cx="2217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Compensation &amp; Modulator</a:t>
            </a:r>
            <a:endParaRPr lang="zh-TW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1" name="接點: 肘形 90">
            <a:extLst>
              <a:ext uri="{FF2B5EF4-FFF2-40B4-BE49-F238E27FC236}">
                <a16:creationId xmlns:a16="http://schemas.microsoft.com/office/drawing/2014/main" id="{88B94BEC-42FD-2721-870F-9731ABD216FD}"/>
              </a:ext>
            </a:extLst>
          </p:cNvPr>
          <p:cNvCxnSpPr>
            <a:cxnSpLocks/>
            <a:stCxn id="19" idx="2"/>
            <a:endCxn id="14" idx="3"/>
          </p:cNvCxnSpPr>
          <p:nvPr/>
        </p:nvCxnSpPr>
        <p:spPr>
          <a:xfrm rot="5400000">
            <a:off x="10731229" y="3754519"/>
            <a:ext cx="232483" cy="1151664"/>
          </a:xfrm>
          <a:prstGeom prst="bent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403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1F2ED91-8CF1-AEC9-6E43-BCEDEBE82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285" y="843765"/>
            <a:ext cx="7864810" cy="573007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D3EEDD-8A04-4E18-AE5A-C8782EBB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CABEC7B-5D30-BB3A-6E6D-5F9569B3B670}"/>
              </a:ext>
            </a:extLst>
          </p:cNvPr>
          <p:cNvSpPr txBox="1"/>
          <p:nvPr/>
        </p:nvSpPr>
        <p:spPr>
          <a:xfrm>
            <a:off x="1488108" y="1369415"/>
            <a:ext cx="1838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Power Stage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EB2AC64-D946-DF70-DBF3-E75D6E427337}"/>
              </a:ext>
            </a:extLst>
          </p:cNvPr>
          <p:cNvSpPr txBox="1"/>
          <p:nvPr/>
        </p:nvSpPr>
        <p:spPr>
          <a:xfrm>
            <a:off x="8691417" y="2774252"/>
            <a:ext cx="1838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Compensater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2878898-B48F-5745-BF83-9C47DD21B655}"/>
              </a:ext>
            </a:extLst>
          </p:cNvPr>
          <p:cNvSpPr txBox="1"/>
          <p:nvPr/>
        </p:nvSpPr>
        <p:spPr>
          <a:xfrm>
            <a:off x="6989301" y="5024465"/>
            <a:ext cx="22906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External Ramp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D982436-C088-ABBC-2BE8-515201AEA098}"/>
              </a:ext>
            </a:extLst>
          </p:cNvPr>
          <p:cNvSpPr txBox="1"/>
          <p:nvPr/>
        </p:nvSpPr>
        <p:spPr>
          <a:xfrm>
            <a:off x="5338615" y="6207358"/>
            <a:ext cx="3352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COT Generator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0D14F0A-BC5C-6069-3102-7DD3A10BB65B}"/>
              </a:ext>
            </a:extLst>
          </p:cNvPr>
          <p:cNvSpPr txBox="1"/>
          <p:nvPr/>
        </p:nvSpPr>
        <p:spPr>
          <a:xfrm>
            <a:off x="1175588" y="3308693"/>
            <a:ext cx="3352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Comparator</a:t>
            </a:r>
            <a:endParaRPr lang="zh-TW" altLang="en-US" sz="20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88934BA4-19AC-8CEC-464B-1CBB5120A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Behavior model simulation (SIMPLIS)</a:t>
            </a:r>
          </a:p>
        </p:txBody>
      </p:sp>
    </p:spTree>
    <p:extLst>
      <p:ext uri="{BB962C8B-B14F-4D97-AF65-F5344CB8AC3E}">
        <p14:creationId xmlns:p14="http://schemas.microsoft.com/office/powerpoint/2010/main" val="2055916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187ED-FAEC-49BF-0E13-06CF7A34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8129-1063-47A7-6452-056E11D8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TW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COT Small-Signal Control to Output Transfer Function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F039C2-D377-7B92-7302-B2F59FB5C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-US" altLang="zh-TW" sz="24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zh-TW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vc</a:t>
            </a:r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 Control to Output Transfer Function</a:t>
            </a:r>
          </a:p>
          <a:p>
            <a:endParaRPr lang="en-US" altLang="zh-TW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TW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</a:rPr>
              <a:t>The ESR of ceramic capacitors and TON are small, and can be simplified to:</a:t>
            </a:r>
            <a:b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A59951-CCB5-FB9A-F267-ADD3392A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11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2481673B-D8C5-7401-A16D-91C01A26F0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984975"/>
              </p:ext>
            </p:extLst>
          </p:nvPr>
        </p:nvGraphicFramePr>
        <p:xfrm>
          <a:off x="616357" y="1335671"/>
          <a:ext cx="5548536" cy="1119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27600" imgH="1155600" progId="Equation.DSMT4">
                  <p:embed/>
                </p:oleObj>
              </mc:Choice>
              <mc:Fallback>
                <p:oleObj name="Equation" r:id="rId2" imgW="5727600" imgH="1155600" progId="Equation.DSMT4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C41D7168-13A1-06F9-EB1D-67BA3E3C23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6357" y="1335671"/>
                        <a:ext cx="5548536" cy="11195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9C6D85E9-701B-4996-6E58-595F52EF8C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887577"/>
              </p:ext>
            </p:extLst>
          </p:nvPr>
        </p:nvGraphicFramePr>
        <p:xfrm>
          <a:off x="692831" y="2984326"/>
          <a:ext cx="6190222" cy="143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14720" imgH="1143000" progId="Equation.DSMT4">
                  <p:embed/>
                </p:oleObj>
              </mc:Choice>
              <mc:Fallback>
                <p:oleObj name="Equation" r:id="rId4" imgW="4914720" imgH="1143000" progId="Equation.DSMT4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90188720-6653-FB71-3B82-5C7A50597D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2831" y="2984326"/>
                        <a:ext cx="6190222" cy="143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8A620F72-51A5-7E61-40A3-4A3E467882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879013"/>
              </p:ext>
            </p:extLst>
          </p:nvPr>
        </p:nvGraphicFramePr>
        <p:xfrm>
          <a:off x="616357" y="4705859"/>
          <a:ext cx="3014435" cy="1354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14600" imgH="1130040" progId="Equation.DSMT4">
                  <p:embed/>
                </p:oleObj>
              </mc:Choice>
              <mc:Fallback>
                <p:oleObj name="Equation" r:id="rId6" imgW="2514600" imgH="1130040" progId="Equation.DSMT4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AE908502-F8CB-7A0A-6755-20AD5F687F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6357" y="4705859"/>
                        <a:ext cx="3014435" cy="13549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66E16488-2379-AD31-2C73-8449117EF1B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50660"/>
          <a:stretch>
            <a:fillRect/>
          </a:stretch>
        </p:blipFill>
        <p:spPr>
          <a:xfrm>
            <a:off x="7832859" y="3023781"/>
            <a:ext cx="4339766" cy="167141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3B1F3CD-0F74-C12D-E2FC-6D1476D6C61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9691"/>
          <a:stretch>
            <a:fillRect/>
          </a:stretch>
        </p:blipFill>
        <p:spPr>
          <a:xfrm>
            <a:off x="7858495" y="4784885"/>
            <a:ext cx="4256200" cy="167141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6F692C4-7D06-F433-03A2-F794FE24D16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992"/>
          <a:stretch>
            <a:fillRect/>
          </a:stretch>
        </p:blipFill>
        <p:spPr>
          <a:xfrm>
            <a:off x="3819257" y="4952394"/>
            <a:ext cx="3996847" cy="121440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C133941-7C1B-24ED-7545-054F4BBD0EBE}"/>
              </a:ext>
            </a:extLst>
          </p:cNvPr>
          <p:cNvSpPr/>
          <p:nvPr/>
        </p:nvSpPr>
        <p:spPr>
          <a:xfrm>
            <a:off x="3785671" y="4897677"/>
            <a:ext cx="3996847" cy="12792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5C27665-B255-B7C3-6EA3-17648490F7B0}"/>
              </a:ext>
            </a:extLst>
          </p:cNvPr>
          <p:cNvSpPr txBox="1"/>
          <p:nvPr/>
        </p:nvSpPr>
        <p:spPr>
          <a:xfrm>
            <a:off x="4619843" y="6190457"/>
            <a:ext cx="2333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rgbClr val="FF0000"/>
                </a:solidFill>
              </a:rPr>
              <a:t>Double complex poles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6F8653-C766-DEEE-AA75-0F17654705FD}"/>
              </a:ext>
            </a:extLst>
          </p:cNvPr>
          <p:cNvSpPr/>
          <p:nvPr/>
        </p:nvSpPr>
        <p:spPr>
          <a:xfrm>
            <a:off x="582770" y="4672232"/>
            <a:ext cx="2423477" cy="38202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1381AAA-5CD7-85F4-2411-13B3D8A52295}"/>
              </a:ext>
            </a:extLst>
          </p:cNvPr>
          <p:cNvSpPr txBox="1"/>
          <p:nvPr/>
        </p:nvSpPr>
        <p:spPr>
          <a:xfrm>
            <a:off x="7164889" y="1434006"/>
            <a:ext cx="5007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S</a:t>
            </a:r>
            <a:r>
              <a:rPr lang="en-US" altLang="zh-TW" b="1" baseline="-25000" dirty="0"/>
              <a:t>e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r>
              <a:rPr lang="en-US" altLang="zh-TW" b="1" dirty="0"/>
              <a:t>the slope of the external ramp during off-time </a:t>
            </a:r>
          </a:p>
          <a:p>
            <a:r>
              <a:rPr lang="en-US" altLang="zh-TW" b="1" dirty="0"/>
              <a:t>S</a:t>
            </a:r>
            <a:r>
              <a:rPr lang="en-US" altLang="zh-TW" b="1" baseline="-25000" dirty="0"/>
              <a:t>f</a:t>
            </a:r>
            <a:r>
              <a:rPr lang="en-US" altLang="zh-TW" b="1" dirty="0"/>
              <a:t> = </a:t>
            </a:r>
            <a:r>
              <a:rPr lang="en-US" altLang="zh-TW" b="1" dirty="0" err="1"/>
              <a:t>RC</a:t>
            </a:r>
            <a:r>
              <a:rPr lang="en-US" altLang="zh-TW" b="1" baseline="-25000" dirty="0" err="1"/>
              <a:t>o</a:t>
            </a:r>
            <a:r>
              <a:rPr lang="en-US" altLang="zh-TW" b="1" dirty="0" err="1"/>
              <a:t>V</a:t>
            </a:r>
            <a:r>
              <a:rPr lang="en-US" altLang="zh-TW" b="1" baseline="-25000" dirty="0" err="1"/>
              <a:t>o</a:t>
            </a:r>
            <a:r>
              <a:rPr lang="en-US" altLang="zh-TW" b="1" baseline="-25000" dirty="0"/>
              <a:t> </a:t>
            </a:r>
            <a:r>
              <a:rPr lang="en-US" altLang="zh-TW" b="1" dirty="0"/>
              <a:t>/ L</a:t>
            </a:r>
            <a:r>
              <a:rPr lang="en-US" altLang="zh-TW" b="1" baseline="-25000" dirty="0"/>
              <a:t>s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216007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26B5E-8984-1BFE-D832-E9D731A9D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5A8789-D840-1C7C-39AB-B38C30367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zh-TW" sz="32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vc</a:t>
            </a:r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 under different ramp slope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B2F813F0-DA7B-5C85-7C85-17FC6F41D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617" y="1044375"/>
            <a:ext cx="3910833" cy="3106549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8318EBC8-61DB-A581-7FC4-D81A1B8A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0" y="1105148"/>
            <a:ext cx="3630671" cy="3045776"/>
          </a:xfrm>
          <a:prstGeom prst="rect">
            <a:avLst/>
          </a:prstGeom>
        </p:spPr>
      </p:pic>
      <p:graphicFrame>
        <p:nvGraphicFramePr>
          <p:cNvPr id="18" name="物件 17">
            <a:extLst>
              <a:ext uri="{FF2B5EF4-FFF2-40B4-BE49-F238E27FC236}">
                <a16:creationId xmlns:a16="http://schemas.microsoft.com/office/drawing/2014/main" id="{AFE1A8CF-6292-5CB6-3C5C-83E56883D3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449164"/>
              </p:ext>
            </p:extLst>
          </p:nvPr>
        </p:nvGraphicFramePr>
        <p:xfrm>
          <a:off x="5605965" y="3028515"/>
          <a:ext cx="914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81440" progId="Equation.DSMT4">
                  <p:embed/>
                </p:oleObj>
              </mc:Choice>
              <mc:Fallback>
                <p:oleObj name="Equation" r:id="rId4" imgW="914400" imgH="181440" progId="Equation.DSMT4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3D4074C4-CDEF-FE41-E39A-DBAC04CE6A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05965" y="3028515"/>
                        <a:ext cx="914400" cy="18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AEED7F24-3526-D0CF-1EF2-3980863C8898}"/>
              </a:ext>
            </a:extLst>
          </p:cNvPr>
          <p:cNvSpPr txBox="1"/>
          <p:nvPr/>
        </p:nvSpPr>
        <p:spPr>
          <a:xfrm>
            <a:off x="5447215" y="4268205"/>
            <a:ext cx="6175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S</a:t>
            </a:r>
            <a:r>
              <a:rPr lang="en-US" altLang="zh-TW" sz="2000" b="1" baseline="-25000" dirty="0"/>
              <a:t>e </a:t>
            </a:r>
            <a:r>
              <a:rPr lang="en-US" altLang="zh-TW" sz="2000" b="1" dirty="0"/>
              <a:t>&gt; S</a:t>
            </a:r>
            <a:r>
              <a:rPr lang="en-US" altLang="zh-TW" sz="2000" b="1" baseline="-25000" dirty="0"/>
              <a:t>e_K</a:t>
            </a:r>
            <a:r>
              <a:rPr lang="en-US" altLang="zh-TW" sz="2000" b="1" dirty="0"/>
              <a:t> = 3S</a:t>
            </a:r>
            <a:r>
              <a:rPr lang="en-US" altLang="zh-TW" sz="2000" b="1" baseline="-25000" dirty="0"/>
              <a:t>f</a:t>
            </a:r>
            <a:endParaRPr lang="zh-TW" altLang="en-US" sz="2000" baseline="-25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E2FADFA-1247-6CE3-07EE-2D3B48E78C4C}"/>
              </a:ext>
            </a:extLst>
          </p:cNvPr>
          <p:cNvSpPr txBox="1"/>
          <p:nvPr/>
        </p:nvSpPr>
        <p:spPr>
          <a:xfrm>
            <a:off x="1508627" y="4268205"/>
            <a:ext cx="1530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S</a:t>
            </a:r>
            <a:r>
              <a:rPr lang="en-US" altLang="zh-TW" sz="2000" b="1" baseline="-25000" dirty="0"/>
              <a:t>e </a:t>
            </a:r>
            <a:r>
              <a:rPr lang="en-US" altLang="zh-TW" sz="2000" b="1" dirty="0"/>
              <a:t>= S</a:t>
            </a:r>
            <a:r>
              <a:rPr lang="en-US" altLang="zh-TW" sz="2000" b="1" baseline="-25000" dirty="0"/>
              <a:t>f </a:t>
            </a:r>
            <a:r>
              <a:rPr lang="zh-TW" altLang="en-US" sz="2000" b="1" baseline="-25000" dirty="0"/>
              <a:t> </a:t>
            </a:r>
            <a:r>
              <a:rPr lang="en-US" altLang="zh-TW" sz="2000" b="1" dirty="0"/>
              <a:t>&lt; S</a:t>
            </a:r>
            <a:r>
              <a:rPr lang="en-US" altLang="zh-TW" sz="2000" b="1" baseline="-25000" dirty="0"/>
              <a:t>e_K</a:t>
            </a:r>
            <a:endParaRPr lang="zh-TW" altLang="en-US" sz="2000" baseline="-25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A84F4E2-53E7-A4F3-D4BE-E313E94A2C6D}"/>
              </a:ext>
            </a:extLst>
          </p:cNvPr>
          <p:cNvSpPr txBox="1"/>
          <p:nvPr/>
        </p:nvSpPr>
        <p:spPr>
          <a:xfrm>
            <a:off x="356103" y="4902953"/>
            <a:ext cx="4119562" cy="1254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Insufficient External Ramp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PM too low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System instability</a:t>
            </a:r>
            <a:endParaRPr lang="zh-TW" altLang="en-US" sz="1600" b="1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EF65F5-0DB0-17AC-3617-A7116F2A921D}"/>
              </a:ext>
            </a:extLst>
          </p:cNvPr>
          <p:cNvSpPr txBox="1"/>
          <p:nvPr/>
        </p:nvSpPr>
        <p:spPr>
          <a:xfrm>
            <a:off x="4629653" y="4902953"/>
            <a:ext cx="4119562" cy="1254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Sufficient External Ramp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Sufficient PM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System stability</a:t>
            </a:r>
            <a:endParaRPr lang="zh-TW" altLang="en-US" sz="1600" b="1" dirty="0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C74556EE-E598-4198-C2DE-4601CBA08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507" y="968290"/>
            <a:ext cx="4031293" cy="3106549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DF65CF39-6FE9-2DA2-0428-A4588C39E45F}"/>
              </a:ext>
            </a:extLst>
          </p:cNvPr>
          <p:cNvSpPr txBox="1"/>
          <p:nvPr/>
        </p:nvSpPr>
        <p:spPr>
          <a:xfrm>
            <a:off x="9574212" y="4236890"/>
            <a:ext cx="17591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S</a:t>
            </a:r>
            <a:r>
              <a:rPr lang="en-US" altLang="zh-TW" sz="2000" b="1" baseline="-25000" dirty="0"/>
              <a:t>e </a:t>
            </a:r>
            <a:r>
              <a:rPr lang="en-US" altLang="zh-TW" sz="2000" b="1" dirty="0"/>
              <a:t>&gt; S</a:t>
            </a:r>
            <a:r>
              <a:rPr lang="en-US" altLang="zh-TW" sz="2000" b="1" baseline="-25000" dirty="0"/>
              <a:t>e_K</a:t>
            </a:r>
            <a:r>
              <a:rPr lang="en-US" altLang="zh-TW" sz="2000" b="1" dirty="0"/>
              <a:t> = 15S</a:t>
            </a:r>
            <a:r>
              <a:rPr lang="en-US" altLang="zh-TW" sz="2000" b="1" baseline="-25000" dirty="0"/>
              <a:t>f</a:t>
            </a:r>
            <a:endParaRPr lang="zh-TW" altLang="en-US" sz="2000" baseline="-250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966F0C5-52B0-6D2B-EC56-467971891256}"/>
              </a:ext>
            </a:extLst>
          </p:cNvPr>
          <p:cNvSpPr txBox="1"/>
          <p:nvPr/>
        </p:nvSpPr>
        <p:spPr>
          <a:xfrm>
            <a:off x="8655050" y="4871638"/>
            <a:ext cx="4119562" cy="1254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Excessive External Ramp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Bandwidth limitations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Poor transient response</a:t>
            </a:r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54496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20FAC-5FA9-2C56-9CD5-9C509A09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9A403-AC43-A55E-78F5-DD790C80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Gvc</a:t>
            </a:r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 under different ramp slope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CBD0F3BC-3415-9527-2D26-DD91DFC0B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617" y="1044375"/>
            <a:ext cx="3910833" cy="3106549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2263C109-77E3-E8AB-CDCA-588659EDB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0" y="1105148"/>
            <a:ext cx="3630671" cy="3045776"/>
          </a:xfrm>
          <a:prstGeom prst="rect">
            <a:avLst/>
          </a:prstGeom>
        </p:spPr>
      </p:pic>
      <p:graphicFrame>
        <p:nvGraphicFramePr>
          <p:cNvPr id="18" name="物件 17">
            <a:extLst>
              <a:ext uri="{FF2B5EF4-FFF2-40B4-BE49-F238E27FC236}">
                <a16:creationId xmlns:a16="http://schemas.microsoft.com/office/drawing/2014/main" id="{66DA084C-B181-5B57-EBC8-20C05CF3A9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5965" y="3028515"/>
          <a:ext cx="914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81440" progId="Equation.DSMT4">
                  <p:embed/>
                </p:oleObj>
              </mc:Choice>
              <mc:Fallback>
                <p:oleObj name="Equation" r:id="rId4" imgW="914400" imgH="181440" progId="Equation.DSMT4">
                  <p:embed/>
                  <p:pic>
                    <p:nvPicPr>
                      <p:cNvPr id="18" name="物件 17">
                        <a:extLst>
                          <a:ext uri="{FF2B5EF4-FFF2-40B4-BE49-F238E27FC236}">
                            <a16:creationId xmlns:a16="http://schemas.microsoft.com/office/drawing/2014/main" id="{AFE1A8CF-6292-5CB6-3C5C-83E56883D3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05965" y="3028515"/>
                        <a:ext cx="914400" cy="18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CF3ADF97-0AA6-4973-EFB5-10AF26A4EE40}"/>
              </a:ext>
            </a:extLst>
          </p:cNvPr>
          <p:cNvSpPr txBox="1"/>
          <p:nvPr/>
        </p:nvSpPr>
        <p:spPr>
          <a:xfrm>
            <a:off x="5447215" y="4268205"/>
            <a:ext cx="6175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S</a:t>
            </a:r>
            <a:r>
              <a:rPr lang="en-US" altLang="zh-TW" sz="2000" b="1" baseline="-25000" dirty="0"/>
              <a:t>e </a:t>
            </a:r>
            <a:r>
              <a:rPr lang="en-US" altLang="zh-TW" sz="2000" b="1" dirty="0"/>
              <a:t>&gt; S</a:t>
            </a:r>
            <a:r>
              <a:rPr lang="en-US" altLang="zh-TW" sz="2000" b="1" baseline="-25000" dirty="0"/>
              <a:t>e_K</a:t>
            </a:r>
            <a:r>
              <a:rPr lang="en-US" altLang="zh-TW" sz="2000" b="1" dirty="0"/>
              <a:t> = 3S</a:t>
            </a:r>
            <a:r>
              <a:rPr lang="en-US" altLang="zh-TW" sz="2000" b="1" baseline="-25000" dirty="0"/>
              <a:t>f</a:t>
            </a:r>
            <a:endParaRPr lang="zh-TW" altLang="en-US" sz="2000" baseline="-25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43B2E2B-AD66-8685-4A42-4790F76ECB43}"/>
              </a:ext>
            </a:extLst>
          </p:cNvPr>
          <p:cNvSpPr txBox="1"/>
          <p:nvPr/>
        </p:nvSpPr>
        <p:spPr>
          <a:xfrm>
            <a:off x="1508627" y="4268205"/>
            <a:ext cx="1530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S</a:t>
            </a:r>
            <a:r>
              <a:rPr lang="en-US" altLang="zh-TW" sz="2000" b="1" baseline="-25000" dirty="0"/>
              <a:t>e </a:t>
            </a:r>
            <a:r>
              <a:rPr lang="en-US" altLang="zh-TW" sz="2000" b="1" dirty="0"/>
              <a:t>= S</a:t>
            </a:r>
            <a:r>
              <a:rPr lang="en-US" altLang="zh-TW" sz="2000" b="1" baseline="-25000" dirty="0"/>
              <a:t>f </a:t>
            </a:r>
            <a:r>
              <a:rPr lang="zh-TW" altLang="en-US" sz="2000" b="1" baseline="-25000" dirty="0"/>
              <a:t> </a:t>
            </a:r>
            <a:r>
              <a:rPr lang="en-US" altLang="zh-TW" sz="2000" b="1" dirty="0"/>
              <a:t>&lt; S</a:t>
            </a:r>
            <a:r>
              <a:rPr lang="en-US" altLang="zh-TW" sz="2000" b="1" baseline="-25000" dirty="0"/>
              <a:t>e_K</a:t>
            </a:r>
            <a:endParaRPr lang="zh-TW" altLang="en-US" sz="2000" baseline="-25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2713BCF-5D27-85CC-06AC-DF0ED178812A}"/>
              </a:ext>
            </a:extLst>
          </p:cNvPr>
          <p:cNvSpPr txBox="1"/>
          <p:nvPr/>
        </p:nvSpPr>
        <p:spPr>
          <a:xfrm>
            <a:off x="356103" y="4902953"/>
            <a:ext cx="4119562" cy="1254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Insufficient External Ramp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PM too low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System instability</a:t>
            </a:r>
            <a:endParaRPr lang="zh-TW" altLang="en-US" sz="1600" b="1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B5F192F-3A60-C412-498D-D42904E45DF4}"/>
              </a:ext>
            </a:extLst>
          </p:cNvPr>
          <p:cNvSpPr txBox="1"/>
          <p:nvPr/>
        </p:nvSpPr>
        <p:spPr>
          <a:xfrm>
            <a:off x="4629653" y="4902953"/>
            <a:ext cx="4119562" cy="1254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Sufficient External Ramp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Sufficient PM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System stability</a:t>
            </a:r>
            <a:endParaRPr lang="zh-TW" altLang="en-US" sz="1600" b="1" dirty="0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DF4C2049-6963-C345-CBA0-08E63D4BCA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507" y="968290"/>
            <a:ext cx="4031293" cy="3106549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465A87B5-0AA1-6790-A8E4-FCA195564B8C}"/>
              </a:ext>
            </a:extLst>
          </p:cNvPr>
          <p:cNvSpPr txBox="1"/>
          <p:nvPr/>
        </p:nvSpPr>
        <p:spPr>
          <a:xfrm>
            <a:off x="9574212" y="4236890"/>
            <a:ext cx="17591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S</a:t>
            </a:r>
            <a:r>
              <a:rPr lang="en-US" altLang="zh-TW" sz="2000" b="1" baseline="-25000" dirty="0"/>
              <a:t>e </a:t>
            </a:r>
            <a:r>
              <a:rPr lang="en-US" altLang="zh-TW" sz="2000" b="1" dirty="0"/>
              <a:t>&gt; S</a:t>
            </a:r>
            <a:r>
              <a:rPr lang="en-US" altLang="zh-TW" sz="2000" b="1" baseline="-25000" dirty="0"/>
              <a:t>e_K</a:t>
            </a:r>
            <a:r>
              <a:rPr lang="en-US" altLang="zh-TW" sz="2000" b="1" dirty="0"/>
              <a:t> = 15S</a:t>
            </a:r>
            <a:r>
              <a:rPr lang="en-US" altLang="zh-TW" sz="2000" b="1" baseline="-25000" dirty="0"/>
              <a:t>f</a:t>
            </a:r>
            <a:endParaRPr lang="zh-TW" altLang="en-US" sz="2000" baseline="-250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CD42702-2A61-47DF-80EE-36FCE98287C7}"/>
              </a:ext>
            </a:extLst>
          </p:cNvPr>
          <p:cNvSpPr txBox="1"/>
          <p:nvPr/>
        </p:nvSpPr>
        <p:spPr>
          <a:xfrm>
            <a:off x="8655050" y="4871638"/>
            <a:ext cx="4119562" cy="1254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Excessive External Ramp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Bandwidth limitations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Poor transient response</a:t>
            </a:r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175887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群組 38">
            <a:extLst>
              <a:ext uri="{FF2B5EF4-FFF2-40B4-BE49-F238E27FC236}">
                <a16:creationId xmlns:a16="http://schemas.microsoft.com/office/drawing/2014/main" id="{B4EC5B2A-2887-7F54-741D-FE451D5F8B69}"/>
              </a:ext>
            </a:extLst>
          </p:cNvPr>
          <p:cNvGrpSpPr/>
          <p:nvPr/>
        </p:nvGrpSpPr>
        <p:grpSpPr>
          <a:xfrm>
            <a:off x="4774553" y="3621575"/>
            <a:ext cx="3792961" cy="3040750"/>
            <a:chOff x="4774553" y="3621575"/>
            <a:chExt cx="3792961" cy="3040750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8EC578EB-0859-C34D-96DB-B3564D4F3454}"/>
                </a:ext>
              </a:extLst>
            </p:cNvPr>
            <p:cNvGrpSpPr/>
            <p:nvPr/>
          </p:nvGrpSpPr>
          <p:grpSpPr>
            <a:xfrm>
              <a:off x="4774553" y="3621575"/>
              <a:ext cx="3792961" cy="3040750"/>
              <a:chOff x="5060682" y="3680727"/>
              <a:chExt cx="3792961" cy="3040750"/>
            </a:xfrm>
          </p:grpSpPr>
          <p:pic>
            <p:nvPicPr>
              <p:cNvPr id="1026" name="Picture 2" descr="基于运放的Type-I、Type-II、Type-III 补偿器传递函数推导– 学习随笔">
                <a:extLst>
                  <a:ext uri="{FF2B5EF4-FFF2-40B4-BE49-F238E27FC236}">
                    <a16:creationId xmlns:a16="http://schemas.microsoft.com/office/drawing/2014/main" id="{AEA2BE94-2909-757A-05E2-1EECFA06BA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60682" y="3680727"/>
                <a:ext cx="3792961" cy="29224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C56DFB08-A019-F8F3-6844-A5B139224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2835" y="5492750"/>
                <a:ext cx="606439" cy="1228727"/>
              </a:xfrm>
              <a:prstGeom prst="rect">
                <a:avLst/>
              </a:prstGeom>
            </p:spPr>
          </p:pic>
        </p:grp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B6540BB4-48E9-BE46-BAFC-81376C83C32F}"/>
                </a:ext>
              </a:extLst>
            </p:cNvPr>
            <p:cNvSpPr txBox="1"/>
            <p:nvPr/>
          </p:nvSpPr>
          <p:spPr>
            <a:xfrm>
              <a:off x="6002161" y="3660510"/>
              <a:ext cx="9459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800" baseline="-25000" dirty="0"/>
                <a:t>Type I</a:t>
              </a:r>
              <a:endParaRPr lang="zh-TW" altLang="en-US" sz="2800" dirty="0"/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5F7DE1F3-7DF9-780E-9D81-830760527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4527"/>
            <a:ext cx="5060682" cy="4019925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BCE45EF8-9818-5EBD-A3A7-43B80EA9D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97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/>
              <a:t>Compensator Design</a:t>
            </a:r>
            <a:br>
              <a:rPr lang="zh-TW" altLang="en-US" sz="3200" b="1" dirty="0"/>
            </a:br>
            <a:endParaRPr lang="zh-TW" altLang="en-US" sz="3200" b="1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55BA406-F536-DDDE-F622-9EFB7D2954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92"/>
          <a:stretch>
            <a:fillRect/>
          </a:stretch>
        </p:blipFill>
        <p:spPr>
          <a:xfrm>
            <a:off x="531917" y="5141950"/>
            <a:ext cx="3996847" cy="121440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512FDAD-54DA-E964-E20B-98FEF312567A}"/>
              </a:ext>
            </a:extLst>
          </p:cNvPr>
          <p:cNvSpPr txBox="1"/>
          <p:nvPr/>
        </p:nvSpPr>
        <p:spPr>
          <a:xfrm>
            <a:off x="7027996" y="2899850"/>
            <a:ext cx="43440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f</a:t>
            </a:r>
            <a:r>
              <a:rPr lang="en-US" altLang="zh-TW" sz="2000" b="1" baseline="-25000" dirty="0"/>
              <a:t>sw </a:t>
            </a:r>
            <a:r>
              <a:rPr lang="en-US" altLang="zh-TW" sz="2000" b="1" dirty="0"/>
              <a:t>=300 kHz , Set f</a:t>
            </a:r>
            <a:r>
              <a:rPr lang="en-US" altLang="zh-TW" sz="2000" b="1" baseline="-25000" dirty="0"/>
              <a:t>c</a:t>
            </a:r>
            <a:r>
              <a:rPr lang="en-US" altLang="zh-TW" sz="2000" b="1" dirty="0"/>
              <a:t>=0.1 f</a:t>
            </a:r>
            <a:r>
              <a:rPr lang="en-US" altLang="zh-TW" sz="2000" b="1" baseline="-25000" dirty="0"/>
              <a:t>sw</a:t>
            </a:r>
            <a:r>
              <a:rPr lang="en-US" altLang="zh-TW" sz="2000" b="1" dirty="0"/>
              <a:t> , f</a:t>
            </a:r>
            <a:r>
              <a:rPr lang="en-US" altLang="zh-TW" sz="2000" b="1" baseline="-25000" dirty="0"/>
              <a:t>sw</a:t>
            </a:r>
            <a:r>
              <a:rPr lang="en-US" altLang="zh-TW" sz="2000" b="1" dirty="0"/>
              <a:t>=30kHz</a:t>
            </a:r>
            <a:endParaRPr lang="zh-TW" altLang="en-US" sz="20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4E9BA21-5EC3-483C-B630-8BC00B9292F4}"/>
              </a:ext>
            </a:extLst>
          </p:cNvPr>
          <p:cNvSpPr txBox="1"/>
          <p:nvPr/>
        </p:nvSpPr>
        <p:spPr>
          <a:xfrm>
            <a:off x="5455828" y="894527"/>
            <a:ext cx="7347396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At low frequency (before 1/2 f</a:t>
            </a:r>
            <a:r>
              <a:rPr lang="en-US" altLang="zh-TW" baseline="-25000" dirty="0"/>
              <a:t>sw</a:t>
            </a:r>
            <a:r>
              <a:rPr lang="en-US" altLang="zh-TW" dirty="0"/>
              <a:t>), both Gain and Phase are 0.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      Therefore, compensat</a:t>
            </a:r>
            <a:r>
              <a:rPr lang="en-US" altLang="zh-TW" dirty="0"/>
              <a:t>or</a:t>
            </a:r>
            <a:r>
              <a:rPr lang="zh-TW" altLang="en-US" dirty="0"/>
              <a:t> can be achieved through an </a:t>
            </a:r>
            <a:r>
              <a:rPr lang="zh-TW" altLang="en-US" b="1" dirty="0"/>
              <a:t>integrator.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93FE122-2D4C-B040-5616-16A166D7B395}"/>
              </a:ext>
            </a:extLst>
          </p:cNvPr>
          <p:cNvSpPr txBox="1"/>
          <p:nvPr/>
        </p:nvSpPr>
        <p:spPr>
          <a:xfrm>
            <a:off x="5523205" y="1980258"/>
            <a:ext cx="6515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The bandwidth design avoids phase </a:t>
            </a:r>
            <a:r>
              <a:rPr lang="en-US" altLang="zh-TW" dirty="0"/>
              <a:t>margin</a:t>
            </a:r>
            <a:r>
              <a:rPr lang="zh-TW" altLang="en-US" dirty="0"/>
              <a:t> insufficiency caused by double poles at 30kHz.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341CFB7E-F3DB-706A-FEC3-E00B8CCD8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58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E223143F-AC98-F87A-6508-DF65310F0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58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0" name="物件 29">
            <a:extLst>
              <a:ext uri="{FF2B5EF4-FFF2-40B4-BE49-F238E27FC236}">
                <a16:creationId xmlns:a16="http://schemas.microsoft.com/office/drawing/2014/main" id="{EF7B576B-11B5-DA7C-BBC7-5AB95B1602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193759"/>
              </p:ext>
            </p:extLst>
          </p:nvPr>
        </p:nvGraphicFramePr>
        <p:xfrm>
          <a:off x="8990662" y="3758095"/>
          <a:ext cx="1147526" cy="563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600" imgH="355320" progId="Equation.DSMT4">
                  <p:embed/>
                </p:oleObj>
              </mc:Choice>
              <mc:Fallback>
                <p:oleObj name="Equation" r:id="rId6" imgW="7236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90662" y="3758095"/>
                        <a:ext cx="1147526" cy="563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物件 32">
            <a:extLst>
              <a:ext uri="{FF2B5EF4-FFF2-40B4-BE49-F238E27FC236}">
                <a16:creationId xmlns:a16="http://schemas.microsoft.com/office/drawing/2014/main" id="{3268EBD0-0664-F255-6C19-AE12D25A33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305853"/>
              </p:ext>
            </p:extLst>
          </p:nvPr>
        </p:nvGraphicFramePr>
        <p:xfrm>
          <a:off x="8156455" y="5337663"/>
          <a:ext cx="3963466" cy="625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720" imgH="380880" progId="Equation.DSMT4">
                  <p:embed/>
                </p:oleObj>
              </mc:Choice>
              <mc:Fallback>
                <p:oleObj name="Equation" r:id="rId8" imgW="2412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156455" y="5337663"/>
                        <a:ext cx="3963466" cy="625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物件 33">
            <a:extLst>
              <a:ext uri="{FF2B5EF4-FFF2-40B4-BE49-F238E27FC236}">
                <a16:creationId xmlns:a16="http://schemas.microsoft.com/office/drawing/2014/main" id="{383C7F70-DCC3-FD05-6CBD-BB49B160AA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063461"/>
              </p:ext>
            </p:extLst>
          </p:nvPr>
        </p:nvGraphicFramePr>
        <p:xfrm>
          <a:off x="8220849" y="4516140"/>
          <a:ext cx="3817441" cy="625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23800" imgH="380880" progId="Equation.DSMT4">
                  <p:embed/>
                </p:oleObj>
              </mc:Choice>
              <mc:Fallback>
                <p:oleObj name="Equation" r:id="rId10" imgW="2323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220849" y="4516140"/>
                        <a:ext cx="3817441" cy="625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F4451597-232E-8144-4222-DBDD14B6D0F3}"/>
              </a:ext>
            </a:extLst>
          </p:cNvPr>
          <p:cNvCxnSpPr/>
          <p:nvPr/>
        </p:nvCxnSpPr>
        <p:spPr>
          <a:xfrm>
            <a:off x="3521412" y="5505856"/>
            <a:ext cx="940341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5AFC0645-7B01-5CA1-890B-489D4AA36017}"/>
              </a:ext>
            </a:extLst>
          </p:cNvPr>
          <p:cNvCxnSpPr/>
          <p:nvPr/>
        </p:nvCxnSpPr>
        <p:spPr>
          <a:xfrm>
            <a:off x="3414408" y="6340140"/>
            <a:ext cx="940341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024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C235-5E0B-4BE5-D7E1-0212728E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74F1B1-F452-0F58-B0B3-D778B7F48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Loop Gain Transfer Function</a:t>
            </a:r>
          </a:p>
        </p:txBody>
      </p:sp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A12D35CC-93BE-EF62-A93D-A37650126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446434"/>
              </p:ext>
            </p:extLst>
          </p:nvPr>
        </p:nvGraphicFramePr>
        <p:xfrm>
          <a:off x="6096000" y="3443118"/>
          <a:ext cx="5476324" cy="1223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81280" imgH="799920" progId="Equation.DSMT4">
                  <p:embed/>
                </p:oleObj>
              </mc:Choice>
              <mc:Fallback>
                <p:oleObj name="Equation" r:id="rId2" imgW="3581280" imgH="799920" progId="Equation.DSMT4">
                  <p:embed/>
                  <p:pic>
                    <p:nvPicPr>
                      <p:cNvPr id="8" name="物件 7">
                        <a:extLst>
                          <a:ext uri="{FF2B5EF4-FFF2-40B4-BE49-F238E27FC236}">
                            <a16:creationId xmlns:a16="http://schemas.microsoft.com/office/drawing/2014/main" id="{A12D35CC-93BE-EF62-A93D-A376501264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0" y="3443118"/>
                        <a:ext cx="5476324" cy="12234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C7B4951C-0E5F-E0F4-8219-FFB7D2585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240" y="1378382"/>
            <a:ext cx="4568265" cy="209945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D8C1882-A277-51E3-8598-5D07A611EFC2}"/>
              </a:ext>
            </a:extLst>
          </p:cNvPr>
          <p:cNvSpPr txBox="1"/>
          <p:nvPr/>
        </p:nvSpPr>
        <p:spPr>
          <a:xfrm>
            <a:off x="7565796" y="4971786"/>
            <a:ext cx="34606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Crossover Frequency : 31kHz</a:t>
            </a:r>
          </a:p>
          <a:p>
            <a:r>
              <a:rPr lang="en-US" altLang="zh-TW" sz="2000" b="1" dirty="0"/>
              <a:t>Gain Margin :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17.1 dB</a:t>
            </a:r>
          </a:p>
          <a:p>
            <a:r>
              <a:rPr lang="en-US" altLang="zh-TW" sz="2000" b="1" dirty="0"/>
              <a:t>Phase Margin : 89.4 degree </a:t>
            </a:r>
            <a:endParaRPr lang="zh-TW" altLang="en-US" sz="20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E8099D2-F0A7-9209-9C5B-7ABF7065C03B}"/>
              </a:ext>
            </a:extLst>
          </p:cNvPr>
          <p:cNvSpPr txBox="1"/>
          <p:nvPr/>
        </p:nvSpPr>
        <p:spPr>
          <a:xfrm>
            <a:off x="7565796" y="853771"/>
            <a:ext cx="3125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Type 1 Compensator Circuit</a:t>
            </a:r>
            <a:endParaRPr lang="zh-TW" altLang="en-US" sz="2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38E463A-4DB3-AA8A-C5F9-C972CBEE68DA}"/>
              </a:ext>
            </a:extLst>
          </p:cNvPr>
          <p:cNvSpPr txBox="1"/>
          <p:nvPr/>
        </p:nvSpPr>
        <p:spPr>
          <a:xfrm>
            <a:off x="2187490" y="1147550"/>
            <a:ext cx="1570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Loop Gain</a:t>
            </a:r>
            <a:endParaRPr lang="zh-TW" altLang="en-US" sz="24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00CE02A2-F4B4-DAB1-B9B1-08139901A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567" y="1665946"/>
            <a:ext cx="5346164" cy="4384125"/>
          </a:xfrm>
          <a:prstGeom prst="rect">
            <a:avLst/>
          </a:prstGeom>
        </p:spPr>
      </p:pic>
      <p:sp>
        <p:nvSpPr>
          <p:cNvPr id="3" name="箭號: 向右 2">
            <a:extLst>
              <a:ext uri="{FF2B5EF4-FFF2-40B4-BE49-F238E27FC236}">
                <a16:creationId xmlns:a16="http://schemas.microsoft.com/office/drawing/2014/main" id="{3A1ABCE9-284E-CB67-3090-DDB53A8562B5}"/>
              </a:ext>
            </a:extLst>
          </p:cNvPr>
          <p:cNvSpPr/>
          <p:nvPr/>
        </p:nvSpPr>
        <p:spPr>
          <a:xfrm>
            <a:off x="6394720" y="5428126"/>
            <a:ext cx="695194" cy="2379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433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B8F0E-D04F-65BA-8596-B7B12A5C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3D3C61-5E22-0D98-F938-5916C48B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Behavior Model Simulation</a:t>
            </a:r>
          </a:p>
        </p:txBody>
      </p:sp>
      <p:pic>
        <p:nvPicPr>
          <p:cNvPr id="4" name="內容版面配置區 1" descr="一張含有 行, 螢幕擷取畫面, 平行, 繪圖 的圖片&#10;&#10;AI 產生的內容可能不正確。">
            <a:extLst>
              <a:ext uri="{FF2B5EF4-FFF2-40B4-BE49-F238E27FC236}">
                <a16:creationId xmlns:a16="http://schemas.microsoft.com/office/drawing/2014/main" id="{1BEB2A60-9420-98AF-DFE8-1B59772BB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559" y="1763302"/>
            <a:ext cx="5569965" cy="4100521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E60AB0E0-29C7-CBA1-5A86-3F01139035AA}"/>
              </a:ext>
            </a:extLst>
          </p:cNvPr>
          <p:cNvSpPr txBox="1"/>
          <p:nvPr/>
        </p:nvSpPr>
        <p:spPr>
          <a:xfrm>
            <a:off x="-49859" y="2460977"/>
            <a:ext cx="769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/>
              <a:t>Vout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4AC43F3-296D-AFB3-97A7-A0FE1B596E19}"/>
              </a:ext>
            </a:extLst>
          </p:cNvPr>
          <p:cNvSpPr txBox="1"/>
          <p:nvPr/>
        </p:nvSpPr>
        <p:spPr>
          <a:xfrm>
            <a:off x="135491" y="3390969"/>
            <a:ext cx="398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/>
              <a:t>IL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9C9B6D3-C765-34CA-93BB-128B9D4B5B7C}"/>
              </a:ext>
            </a:extLst>
          </p:cNvPr>
          <p:cNvSpPr txBox="1"/>
          <p:nvPr/>
        </p:nvSpPr>
        <p:spPr>
          <a:xfrm>
            <a:off x="-28408" y="4139695"/>
            <a:ext cx="769019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TW" b="1" dirty="0" err="1">
                <a:ea typeface="新細明體"/>
              </a:rPr>
              <a:t>Vcom</a:t>
            </a:r>
            <a:endParaRPr lang="zh-TW" altLang="en-US" dirty="0">
              <a:ea typeface="新細明體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101E21E-185D-9686-9F2B-0EB8DB55157E}"/>
              </a:ext>
            </a:extLst>
          </p:cNvPr>
          <p:cNvSpPr txBox="1"/>
          <p:nvPr/>
        </p:nvSpPr>
        <p:spPr>
          <a:xfrm>
            <a:off x="-49859" y="5001759"/>
            <a:ext cx="854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/>
              <a:t>Vramp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5A8638-37B1-5BDC-E920-DF6E26C28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296" y="1553688"/>
            <a:ext cx="5521213" cy="441322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FAEA9BB-CF93-8689-BB94-D9B08C00FAE6}"/>
              </a:ext>
            </a:extLst>
          </p:cNvPr>
          <p:cNvSpPr txBox="1"/>
          <p:nvPr/>
        </p:nvSpPr>
        <p:spPr>
          <a:xfrm>
            <a:off x="2936869" y="5918548"/>
            <a:ext cx="117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@ Startup</a:t>
            </a:r>
            <a:endParaRPr lang="zh-TW" altLang="en-US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F3DE6EB-9048-26C8-C0B3-3EDC2760C7F2}"/>
              </a:ext>
            </a:extLst>
          </p:cNvPr>
          <p:cNvSpPr txBox="1"/>
          <p:nvPr/>
        </p:nvSpPr>
        <p:spPr>
          <a:xfrm>
            <a:off x="8441795" y="5918548"/>
            <a:ext cx="170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@ Steady State</a:t>
            </a:r>
            <a:endParaRPr lang="zh-TW" altLang="en-US" b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BCC511B-5358-5147-6DAA-C9AA99935960}"/>
              </a:ext>
            </a:extLst>
          </p:cNvPr>
          <p:cNvSpPr txBox="1"/>
          <p:nvPr/>
        </p:nvSpPr>
        <p:spPr>
          <a:xfrm>
            <a:off x="5990837" y="5186425"/>
            <a:ext cx="854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/>
              <a:t>Vramp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DF09641-CCA6-C34D-0882-986C9336A719}"/>
              </a:ext>
            </a:extLst>
          </p:cNvPr>
          <p:cNvSpPr txBox="1"/>
          <p:nvPr/>
        </p:nvSpPr>
        <p:spPr>
          <a:xfrm>
            <a:off x="6033738" y="4008003"/>
            <a:ext cx="769019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TW" b="1" dirty="0" err="1">
                <a:ea typeface="新細明體"/>
              </a:rPr>
              <a:t>Vcom</a:t>
            </a:r>
            <a:endParaRPr lang="zh-TW" altLang="en-US" dirty="0">
              <a:ea typeface="新細明體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CE12655-C8C6-D43C-1C10-2B211471A3F2}"/>
              </a:ext>
            </a:extLst>
          </p:cNvPr>
          <p:cNvSpPr txBox="1"/>
          <p:nvPr/>
        </p:nvSpPr>
        <p:spPr>
          <a:xfrm>
            <a:off x="6211251" y="3418792"/>
            <a:ext cx="398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/>
              <a:t>IL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05A1C79-13C5-A44B-8F16-9F445A7B2F17}"/>
              </a:ext>
            </a:extLst>
          </p:cNvPr>
          <p:cNvSpPr txBox="1"/>
          <p:nvPr/>
        </p:nvSpPr>
        <p:spPr>
          <a:xfrm>
            <a:off x="6025901" y="2221715"/>
            <a:ext cx="769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/>
              <a:t>Vout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3176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27793-2749-2006-BB1D-1DFAC847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66A81A-F486-C2F0-5EAC-B66F920DD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Behavior Model Simulation</a:t>
            </a:r>
            <a:r>
              <a:rPr lang="zh-TW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– Load transient (4A</a:t>
            </a:r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1</a:t>
            </a:r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pic>
        <p:nvPicPr>
          <p:cNvPr id="12" name="內容版面配置區 5">
            <a:extLst>
              <a:ext uri="{FF2B5EF4-FFF2-40B4-BE49-F238E27FC236}">
                <a16:creationId xmlns:a16="http://schemas.microsoft.com/office/drawing/2014/main" id="{5885E360-2508-6EE3-C69E-EF97FCB8D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972" y="1000632"/>
            <a:ext cx="7601928" cy="5428238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C374C40-7525-5800-CF0D-3C7E759203F6}"/>
              </a:ext>
            </a:extLst>
          </p:cNvPr>
          <p:cNvSpPr txBox="1"/>
          <p:nvPr/>
        </p:nvSpPr>
        <p:spPr>
          <a:xfrm>
            <a:off x="1170966" y="1308616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Duty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561FC34-9874-AD18-264E-B4B2A3DF271A}"/>
              </a:ext>
            </a:extLst>
          </p:cNvPr>
          <p:cNvSpPr txBox="1"/>
          <p:nvPr/>
        </p:nvSpPr>
        <p:spPr>
          <a:xfrm>
            <a:off x="1296539" y="2234684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Io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8B53F49-8896-88FD-EEFE-75AAB8F8C11B}"/>
              </a:ext>
            </a:extLst>
          </p:cNvPr>
          <p:cNvSpPr txBox="1"/>
          <p:nvPr/>
        </p:nvSpPr>
        <p:spPr>
          <a:xfrm>
            <a:off x="1107466" y="3160752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Vout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964B7E3-EF6E-E311-EBD8-71FEB8355ADF}"/>
              </a:ext>
            </a:extLst>
          </p:cNvPr>
          <p:cNvSpPr txBox="1"/>
          <p:nvPr/>
        </p:nvSpPr>
        <p:spPr>
          <a:xfrm>
            <a:off x="1296539" y="3971941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IL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19DC5C3-D96D-E53A-F352-A6B06C4F1EAE}"/>
              </a:ext>
            </a:extLst>
          </p:cNvPr>
          <p:cNvSpPr txBox="1"/>
          <p:nvPr/>
        </p:nvSpPr>
        <p:spPr>
          <a:xfrm>
            <a:off x="891566" y="4783130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Vo , Vcom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7C88A8A-A745-41C3-43E4-456681AFE3CB}"/>
              </a:ext>
            </a:extLst>
          </p:cNvPr>
          <p:cNvSpPr txBox="1"/>
          <p:nvPr/>
        </p:nvSpPr>
        <p:spPr>
          <a:xfrm>
            <a:off x="1056666" y="5594319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Vramp</a:t>
            </a:r>
            <a:endParaRPr lang="zh-TW" altLang="en-US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47AF8C5E-5C97-44A1-3E7F-9DFD5F043CD0}"/>
              </a:ext>
            </a:extLst>
          </p:cNvPr>
          <p:cNvCxnSpPr>
            <a:cxnSpLocks/>
          </p:cNvCxnSpPr>
          <p:nvPr/>
        </p:nvCxnSpPr>
        <p:spPr>
          <a:xfrm flipH="1">
            <a:off x="5108532" y="1073149"/>
            <a:ext cx="14613" cy="5355721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9EBD9DBE-2225-9B9F-5178-075CD5DEA0F8}"/>
              </a:ext>
            </a:extLst>
          </p:cNvPr>
          <p:cNvCxnSpPr>
            <a:cxnSpLocks/>
          </p:cNvCxnSpPr>
          <p:nvPr/>
        </p:nvCxnSpPr>
        <p:spPr>
          <a:xfrm flipH="1">
            <a:off x="7535983" y="1142120"/>
            <a:ext cx="14613" cy="5355721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7BB0E35-A18B-8D15-7CE7-6F2DD58A5CE9}"/>
              </a:ext>
            </a:extLst>
          </p:cNvPr>
          <p:cNvSpPr txBox="1"/>
          <p:nvPr/>
        </p:nvSpPr>
        <p:spPr>
          <a:xfrm>
            <a:off x="9740900" y="2883753"/>
            <a:ext cx="241283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/>
              <a:t>Overshoot =</a:t>
            </a:r>
            <a:r>
              <a:rPr lang="zh-TW" altLang="en-US" b="1" dirty="0"/>
              <a:t> </a:t>
            </a:r>
            <a:r>
              <a:rPr lang="en-US" altLang="zh-TW" b="1" dirty="0"/>
              <a:t>1.5mV</a:t>
            </a:r>
          </a:p>
          <a:p>
            <a:pPr>
              <a:lnSpc>
                <a:spcPct val="150000"/>
              </a:lnSpc>
            </a:pPr>
            <a:r>
              <a:rPr lang="en-US" altLang="zh-TW" b="1" dirty="0"/>
              <a:t>S</a:t>
            </a:r>
            <a:r>
              <a:rPr lang="zh-TW" altLang="en-US" b="1" dirty="0"/>
              <a:t>ettling time = </a:t>
            </a:r>
            <a:r>
              <a:rPr lang="en-US" altLang="zh-TW" b="1" dirty="0"/>
              <a:t>20.38</a:t>
            </a:r>
            <a:r>
              <a:rPr lang="zh-TW" altLang="en-US" b="1" dirty="0"/>
              <a:t>u</a:t>
            </a:r>
            <a:r>
              <a:rPr lang="en-US" altLang="zh-TW" b="1" dirty="0"/>
              <a:t>s</a:t>
            </a:r>
            <a:endParaRPr lang="zh-TW" altLang="en-US" b="1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E444FEE-BF5A-4247-1B7C-D65911771CBD}"/>
              </a:ext>
            </a:extLst>
          </p:cNvPr>
          <p:cNvSpPr txBox="1"/>
          <p:nvPr/>
        </p:nvSpPr>
        <p:spPr>
          <a:xfrm>
            <a:off x="5993300" y="6313175"/>
            <a:ext cx="968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20.38</a:t>
            </a:r>
            <a:r>
              <a:rPr lang="zh-TW" altLang="en-US" b="1" dirty="0"/>
              <a:t>u</a:t>
            </a:r>
            <a:r>
              <a:rPr lang="en-US" altLang="zh-TW" b="1" dirty="0"/>
              <a:t>s</a:t>
            </a:r>
            <a:endParaRPr lang="zh-TW" altLang="en-US" b="1" dirty="0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BAD48246-1498-3EDF-0FA9-718FF05D14C5}"/>
              </a:ext>
            </a:extLst>
          </p:cNvPr>
          <p:cNvCxnSpPr>
            <a:cxnSpLocks/>
          </p:cNvCxnSpPr>
          <p:nvPr/>
        </p:nvCxnSpPr>
        <p:spPr>
          <a:xfrm>
            <a:off x="5108532" y="6297935"/>
            <a:ext cx="242745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028C1773-3E5D-EA0D-C534-3E74CC656DAB}"/>
              </a:ext>
            </a:extLst>
          </p:cNvPr>
          <p:cNvCxnSpPr>
            <a:cxnSpLocks/>
          </p:cNvCxnSpPr>
          <p:nvPr/>
        </p:nvCxnSpPr>
        <p:spPr>
          <a:xfrm>
            <a:off x="5539722" y="2990850"/>
            <a:ext cx="0" cy="43815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CD0F44E-3EB4-5DCD-C3ED-654DDC353663}"/>
              </a:ext>
            </a:extLst>
          </p:cNvPr>
          <p:cNvSpPr txBox="1"/>
          <p:nvPr/>
        </p:nvSpPr>
        <p:spPr>
          <a:xfrm>
            <a:off x="5667979" y="2883753"/>
            <a:ext cx="6121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1.5mV</a:t>
            </a:r>
            <a:endParaRPr lang="zh-TW" altLang="en-US" sz="16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F3C59F2-FF3F-4DA3-B6B4-7DE8FBE344A9}"/>
              </a:ext>
            </a:extLst>
          </p:cNvPr>
          <p:cNvSpPr txBox="1"/>
          <p:nvPr/>
        </p:nvSpPr>
        <p:spPr>
          <a:xfrm>
            <a:off x="11220407" y="3714751"/>
            <a:ext cx="84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(</a:t>
            </a:r>
            <a:r>
              <a:rPr lang="en-US" altLang="zh-TW" b="1" dirty="0"/>
              <a:t>6</a:t>
            </a:r>
            <a:r>
              <a:rPr lang="zh-TW" altLang="en-US" b="1" dirty="0"/>
              <a:t>Tsw )</a:t>
            </a:r>
          </a:p>
        </p:txBody>
      </p:sp>
    </p:spTree>
    <p:extLst>
      <p:ext uri="{BB962C8B-B14F-4D97-AF65-F5344CB8AC3E}">
        <p14:creationId xmlns:p14="http://schemas.microsoft.com/office/powerpoint/2010/main" val="1659115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642E9-6BE6-70B6-E391-EE36BDD16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A7B81-96CF-3135-97EB-0392C28A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Behavior Model Simulation</a:t>
            </a:r>
            <a:r>
              <a:rPr lang="zh-TW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– Load transient (1A</a:t>
            </a:r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4</a:t>
            </a:r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C589C94-02A2-E3B2-3C22-F619BFF93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590" y="909999"/>
            <a:ext cx="7116383" cy="547141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4865302-A72B-5F3C-0ADA-4A4392F262C1}"/>
              </a:ext>
            </a:extLst>
          </p:cNvPr>
          <p:cNvSpPr txBox="1"/>
          <p:nvPr/>
        </p:nvSpPr>
        <p:spPr>
          <a:xfrm>
            <a:off x="1170966" y="1308616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Duty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08B3FCF-EE85-26D0-2E4D-9B29A7BE84F3}"/>
              </a:ext>
            </a:extLst>
          </p:cNvPr>
          <p:cNvSpPr txBox="1"/>
          <p:nvPr/>
        </p:nvSpPr>
        <p:spPr>
          <a:xfrm>
            <a:off x="1296539" y="2234684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Io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63E8D8F-7353-3B42-D053-009F4262CAA5}"/>
              </a:ext>
            </a:extLst>
          </p:cNvPr>
          <p:cNvSpPr txBox="1"/>
          <p:nvPr/>
        </p:nvSpPr>
        <p:spPr>
          <a:xfrm>
            <a:off x="1107466" y="3160752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Vout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D84241F-6585-72DA-782E-321D1A5C39FC}"/>
              </a:ext>
            </a:extLst>
          </p:cNvPr>
          <p:cNvSpPr txBox="1"/>
          <p:nvPr/>
        </p:nvSpPr>
        <p:spPr>
          <a:xfrm>
            <a:off x="1296539" y="3971941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IL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CE87E2D-9C71-8E94-16A7-DEC0103138D6}"/>
              </a:ext>
            </a:extLst>
          </p:cNvPr>
          <p:cNvSpPr txBox="1"/>
          <p:nvPr/>
        </p:nvSpPr>
        <p:spPr>
          <a:xfrm>
            <a:off x="891566" y="4783130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Vo , Vcom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9B80989-3EF8-51BF-4B92-D16AE037C03E}"/>
              </a:ext>
            </a:extLst>
          </p:cNvPr>
          <p:cNvSpPr txBox="1"/>
          <p:nvPr/>
        </p:nvSpPr>
        <p:spPr>
          <a:xfrm>
            <a:off x="1056666" y="5594319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Vramp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2429480-0B89-3687-5FC8-3EE5AB39AFE9}"/>
              </a:ext>
            </a:extLst>
          </p:cNvPr>
          <p:cNvCxnSpPr>
            <a:cxnSpLocks/>
          </p:cNvCxnSpPr>
          <p:nvPr/>
        </p:nvCxnSpPr>
        <p:spPr>
          <a:xfrm flipH="1">
            <a:off x="4983036" y="866822"/>
            <a:ext cx="4642" cy="5564458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8885565-DD64-F02C-F833-9DB446349170}"/>
              </a:ext>
            </a:extLst>
          </p:cNvPr>
          <p:cNvCxnSpPr>
            <a:cxnSpLocks/>
          </p:cNvCxnSpPr>
          <p:nvPr/>
        </p:nvCxnSpPr>
        <p:spPr>
          <a:xfrm>
            <a:off x="7415129" y="935793"/>
            <a:ext cx="11643" cy="5474717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6330D96-7E14-CCF9-BB40-12AEA868BE0C}"/>
              </a:ext>
            </a:extLst>
          </p:cNvPr>
          <p:cNvSpPr txBox="1"/>
          <p:nvPr/>
        </p:nvSpPr>
        <p:spPr>
          <a:xfrm>
            <a:off x="5883881" y="6311809"/>
            <a:ext cx="943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18.43</a:t>
            </a:r>
            <a:r>
              <a:rPr lang="zh-TW" altLang="en-US" b="1" dirty="0"/>
              <a:t>u</a:t>
            </a:r>
            <a:r>
              <a:rPr lang="en-US" altLang="zh-TW" b="1" dirty="0"/>
              <a:t>s</a:t>
            </a:r>
            <a:endParaRPr lang="zh-TW" altLang="en-US" b="1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BC876B6-2EE0-8C20-FEF7-400B2A9E85A0}"/>
              </a:ext>
            </a:extLst>
          </p:cNvPr>
          <p:cNvCxnSpPr>
            <a:cxnSpLocks/>
          </p:cNvCxnSpPr>
          <p:nvPr/>
        </p:nvCxnSpPr>
        <p:spPr>
          <a:xfrm>
            <a:off x="4971058" y="6282713"/>
            <a:ext cx="242745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F20701-0ACF-5A5D-00E6-28A02F18D15F}"/>
              </a:ext>
            </a:extLst>
          </p:cNvPr>
          <p:cNvCxnSpPr>
            <a:cxnSpLocks/>
          </p:cNvCxnSpPr>
          <p:nvPr/>
        </p:nvCxnSpPr>
        <p:spPr>
          <a:xfrm>
            <a:off x="5118910" y="3119645"/>
            <a:ext cx="0" cy="43815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F4275E3-76B1-474B-BC7B-D4C4E0731A5F}"/>
              </a:ext>
            </a:extLst>
          </p:cNvPr>
          <p:cNvSpPr txBox="1"/>
          <p:nvPr/>
        </p:nvSpPr>
        <p:spPr>
          <a:xfrm>
            <a:off x="5302736" y="3333661"/>
            <a:ext cx="6121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1.8mV</a:t>
            </a:r>
            <a:endParaRPr lang="zh-TW" altLang="en-US" sz="1600" b="1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5B5641-E459-4FF3-B3AC-E4EECBFEECBB}"/>
              </a:ext>
            </a:extLst>
          </p:cNvPr>
          <p:cNvSpPr txBox="1"/>
          <p:nvPr/>
        </p:nvSpPr>
        <p:spPr>
          <a:xfrm>
            <a:off x="9659491" y="2988815"/>
            <a:ext cx="241283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/>
              <a:t>Overshoot =</a:t>
            </a:r>
            <a:r>
              <a:rPr lang="zh-TW" altLang="en-US" b="1" dirty="0"/>
              <a:t> </a:t>
            </a:r>
            <a:r>
              <a:rPr lang="en-US" altLang="zh-TW" b="1" dirty="0"/>
              <a:t>1.8mV</a:t>
            </a:r>
          </a:p>
          <a:p>
            <a:pPr>
              <a:lnSpc>
                <a:spcPct val="150000"/>
              </a:lnSpc>
            </a:pPr>
            <a:r>
              <a:rPr lang="en-US" altLang="zh-TW" b="1" dirty="0"/>
              <a:t>S</a:t>
            </a:r>
            <a:r>
              <a:rPr lang="zh-TW" altLang="en-US" b="1" dirty="0"/>
              <a:t>ettling time = </a:t>
            </a:r>
            <a:r>
              <a:rPr lang="en-US" altLang="zh-TW" b="1" dirty="0"/>
              <a:t>18.43</a:t>
            </a:r>
            <a:r>
              <a:rPr lang="zh-TW" altLang="en-US" b="1" dirty="0"/>
              <a:t>u</a:t>
            </a:r>
            <a:r>
              <a:rPr lang="en-US" altLang="zh-TW" b="1" dirty="0"/>
              <a:t>s</a:t>
            </a:r>
            <a:endParaRPr lang="zh-TW" altLang="en-US" b="1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B9CB78C-629A-B2D2-F15E-7551DC874589}"/>
              </a:ext>
            </a:extLst>
          </p:cNvPr>
          <p:cNvSpPr txBox="1"/>
          <p:nvPr/>
        </p:nvSpPr>
        <p:spPr>
          <a:xfrm>
            <a:off x="11125200" y="3783003"/>
            <a:ext cx="852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(</a:t>
            </a:r>
            <a:r>
              <a:rPr lang="en-US" altLang="zh-TW" b="1" dirty="0"/>
              <a:t>5</a:t>
            </a:r>
            <a:r>
              <a:rPr lang="zh-TW" altLang="en-US" b="1" dirty="0"/>
              <a:t>Tsw )</a:t>
            </a:r>
          </a:p>
        </p:txBody>
      </p:sp>
    </p:spTree>
    <p:extLst>
      <p:ext uri="{BB962C8B-B14F-4D97-AF65-F5344CB8AC3E}">
        <p14:creationId xmlns:p14="http://schemas.microsoft.com/office/powerpoint/2010/main" val="948096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2724D-FA8A-213F-EF46-6DFB07E62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CAEE6-FBB7-B3B6-BD13-27D5299F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D37325-48C4-D14E-7187-8E182CBE4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spec.</a:t>
            </a:r>
            <a:endParaRPr lang="en" altLang="zh-TW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 model simulation</a:t>
            </a: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IC subblock analysis and simulation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zh-TW" altLang="en-US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84838E-6CF0-0905-E7F3-125764E5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19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504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FED1-09D5-8F93-EC70-B5CD9DF6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27259F9-187F-C1B3-7F3F-8CBD403C7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146" y="1368448"/>
            <a:ext cx="7808074" cy="524276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1186942-754F-B21A-A3FF-E4C087C4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Transistor-level subblock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400548-1A26-647A-62B4-2ED1E85C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20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6D8802D-6767-8FDB-DBBA-0063AFFD35FC}"/>
              </a:ext>
            </a:extLst>
          </p:cNvPr>
          <p:cNvSpPr txBox="1"/>
          <p:nvPr/>
        </p:nvSpPr>
        <p:spPr>
          <a:xfrm>
            <a:off x="7964306" y="3107376"/>
            <a:ext cx="1838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OPA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DE61F2A-3A83-24F5-B95A-2CD60E246F9F}"/>
              </a:ext>
            </a:extLst>
          </p:cNvPr>
          <p:cNvSpPr txBox="1"/>
          <p:nvPr/>
        </p:nvSpPr>
        <p:spPr>
          <a:xfrm>
            <a:off x="1116903" y="3616701"/>
            <a:ext cx="3352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High Speed Comparator</a:t>
            </a:r>
            <a:endParaRPr lang="zh-TW" altLang="en-US" sz="20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AA2FADA-4D6C-0852-2E2A-58582429CC02}"/>
              </a:ext>
            </a:extLst>
          </p:cNvPr>
          <p:cNvSpPr txBox="1"/>
          <p:nvPr/>
        </p:nvSpPr>
        <p:spPr>
          <a:xfrm>
            <a:off x="6314245" y="6071147"/>
            <a:ext cx="2120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Current Source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0C85C5F-2687-2A39-319B-F619F70DFDBB}"/>
              </a:ext>
            </a:extLst>
          </p:cNvPr>
          <p:cNvSpPr txBox="1"/>
          <p:nvPr/>
        </p:nvSpPr>
        <p:spPr>
          <a:xfrm>
            <a:off x="632564" y="1196236"/>
            <a:ext cx="2160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Process: N16ADFP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386646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6ACF1-1A2F-2DA7-859B-FFF88207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D74D3-D7F6-EC05-97C1-8E9E19741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High Speed Comparator 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AE8CED-3F41-478F-F6FE-BFE3CF57D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-US" altLang="zh-TW" b="1" dirty="0">
                <a:cs typeface="Arial" panose="020B0604020202020204" pitchFamily="34" charset="0"/>
              </a:rPr>
              <a:t>Spec: </a:t>
            </a:r>
          </a:p>
          <a:p>
            <a:pPr lvl="1"/>
            <a:r>
              <a:rPr lang="en-US" altLang="zh-TW" sz="2000" b="1" dirty="0"/>
              <a:t>Hysteresis: 5 mV -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20 mV, Propagation Delay: &lt;1ns</a:t>
            </a:r>
          </a:p>
          <a:p>
            <a:pPr lvl="1"/>
            <a:r>
              <a:rPr lang="en-US" altLang="zh-TW" sz="2000" b="1" dirty="0">
                <a:cs typeface="Arial" panose="020B0604020202020204" pitchFamily="34" charset="0"/>
              </a:rPr>
              <a:t>VDD = 1V, </a:t>
            </a:r>
            <a:r>
              <a:rPr lang="en-US" altLang="zh-TW" sz="2000" b="1" dirty="0" err="1">
                <a:cs typeface="Arial" panose="020B0604020202020204" pitchFamily="34" charset="0"/>
              </a:rPr>
              <a:t>Iref</a:t>
            </a:r>
            <a:r>
              <a:rPr lang="en-US" altLang="zh-TW" sz="2000" b="1" dirty="0">
                <a:cs typeface="Arial" panose="020B0604020202020204" pitchFamily="34" charset="0"/>
              </a:rPr>
              <a:t> = 60uA</a:t>
            </a:r>
            <a:br>
              <a:rPr lang="en" altLang="zh-TW" sz="2800" b="1" dirty="0">
                <a:cs typeface="Arial" panose="020B0604020202020204" pitchFamily="34" charset="0"/>
              </a:rPr>
            </a:br>
            <a:endParaRPr lang="zh-TW" altLang="en-US" sz="2800" b="1" dirty="0"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880421-0DBE-2BE5-1E0C-42AA8275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21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24EFA06-9BEB-E770-F0D8-5D2A3E474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86" y="2136058"/>
            <a:ext cx="7074329" cy="4249133"/>
          </a:xfrm>
          <a:prstGeom prst="rect">
            <a:avLst/>
          </a:prstGeom>
        </p:spPr>
      </p:pic>
      <p:pic>
        <p:nvPicPr>
          <p:cNvPr id="7" name="圖片 6" descr="Comparator circuit schematic. | Download Scientific Diagram">
            <a:extLst>
              <a:ext uri="{FF2B5EF4-FFF2-40B4-BE49-F238E27FC236}">
                <a16:creationId xmlns:a16="http://schemas.microsoft.com/office/drawing/2014/main" id="{9129764D-18B4-B399-9D52-4685AF59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288" y="2880987"/>
            <a:ext cx="3498937" cy="222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33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FE147-AD17-69CA-0FB7-CDD271968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122A25-99F8-362B-EAD3-AEA24301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High Speed Comparator - Simulation Result 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6EAD30-B106-9C7B-14B6-BDE3E431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22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A807937-8C2E-6C46-4649-06BDB9D1F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007" y="872612"/>
            <a:ext cx="7215985" cy="296269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44903DE-B6DE-91D7-58BF-BB1AB0F2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42"/>
          <a:stretch>
            <a:fillRect/>
          </a:stretch>
        </p:blipFill>
        <p:spPr>
          <a:xfrm>
            <a:off x="1116192" y="3882981"/>
            <a:ext cx="5373776" cy="247337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2BA57C0-84D8-A534-EE48-9C52C44A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68" r="21200"/>
          <a:stretch>
            <a:fillRect/>
          </a:stretch>
        </p:blipFill>
        <p:spPr>
          <a:xfrm>
            <a:off x="6489969" y="3879207"/>
            <a:ext cx="4445514" cy="2473373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95510C88-6CB8-F5D8-B7AA-FC25419A5462}"/>
              </a:ext>
            </a:extLst>
          </p:cNvPr>
          <p:cNvSpPr txBox="1"/>
          <p:nvPr/>
        </p:nvSpPr>
        <p:spPr>
          <a:xfrm>
            <a:off x="1171976" y="2250310"/>
            <a:ext cx="110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± </a:t>
            </a:r>
            <a:r>
              <a:rPr lang="en-US" altLang="zh-TW" dirty="0"/>
              <a:t>10mV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CBFF3CC-0F4F-1097-2AB3-7CDA41A460A5}"/>
              </a:ext>
            </a:extLst>
          </p:cNvPr>
          <p:cNvSpPr txBox="1"/>
          <p:nvPr/>
        </p:nvSpPr>
        <p:spPr>
          <a:xfrm>
            <a:off x="2408172" y="6404025"/>
            <a:ext cx="278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Propagation delay = 355ps 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925BE45-B879-838F-D144-677C4D8BEF30}"/>
              </a:ext>
            </a:extLst>
          </p:cNvPr>
          <p:cNvSpPr txBox="1"/>
          <p:nvPr/>
        </p:nvSpPr>
        <p:spPr>
          <a:xfrm>
            <a:off x="7317818" y="6404025"/>
            <a:ext cx="278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Propagation delay = 164ps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1199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316A157A-4F12-1AE3-9A3A-394851C96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>
                <a:cs typeface="Arial" panose="020B0604020202020204" pitchFamily="34" charset="0"/>
              </a:rPr>
              <a:t>Folded Cascode Opamp</a:t>
            </a:r>
            <a:endParaRPr lang="en-US" altLang="zh-TW" b="1" dirty="0">
              <a:cs typeface="Arial" panose="020B0604020202020204" pitchFamily="34" charset="0"/>
            </a:endParaRP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1F925F-BDD9-F4E8-B3B8-062E3EFE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8157770-93AD-0A90-E406-D30C6C9A2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40" y="1530417"/>
            <a:ext cx="11178120" cy="466234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53BB83A-C2C9-1FE2-56C7-8984A525E1F9}"/>
              </a:ext>
            </a:extLst>
          </p:cNvPr>
          <p:cNvSpPr txBox="1"/>
          <p:nvPr/>
        </p:nvSpPr>
        <p:spPr>
          <a:xfrm>
            <a:off x="622443" y="3861588"/>
            <a:ext cx="110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Bias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E8773AA-6D5E-1BE8-E831-0F0437430429}"/>
              </a:ext>
            </a:extLst>
          </p:cNvPr>
          <p:cNvSpPr txBox="1"/>
          <p:nvPr/>
        </p:nvSpPr>
        <p:spPr>
          <a:xfrm>
            <a:off x="7655509" y="1543614"/>
            <a:ext cx="168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First Stage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F9F92CE-2DA2-B534-280E-85BB24B8B246}"/>
              </a:ext>
            </a:extLst>
          </p:cNvPr>
          <p:cNvSpPr txBox="1"/>
          <p:nvPr/>
        </p:nvSpPr>
        <p:spPr>
          <a:xfrm>
            <a:off x="9995836" y="1530417"/>
            <a:ext cx="168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Second Stage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91D6FD4D-7911-38CA-6AC0-39A8EAA1A6A6}"/>
              </a:ext>
            </a:extLst>
          </p:cNvPr>
          <p:cNvSpPr txBox="1">
            <a:spLocks/>
          </p:cNvSpPr>
          <p:nvPr/>
        </p:nvSpPr>
        <p:spPr>
          <a:xfrm>
            <a:off x="356103" y="0"/>
            <a:ext cx="11479794" cy="76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OPA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9397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F24B4-6F52-D4A5-6B0C-93192FB8E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DABF1883-3669-3990-AE8A-95612641D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1019035"/>
            <a:ext cx="10515600" cy="4351338"/>
          </a:xfrm>
        </p:spPr>
        <p:txBody>
          <a:bodyPr/>
          <a:lstStyle/>
          <a:p>
            <a:r>
              <a:rPr lang="en-US" altLang="zh-TW" dirty="0"/>
              <a:t>Gain-Bandwidth: 86.28 MHz</a:t>
            </a:r>
          </a:p>
          <a:p>
            <a:r>
              <a:rPr lang="en-US" altLang="zh-TW" dirty="0"/>
              <a:t>Phase Margin: 101.4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∘</a:t>
            </a:r>
            <a:endParaRPr lang="en-US" altLang="zh-TW" dirty="0"/>
          </a:p>
          <a:p>
            <a:r>
              <a:rPr lang="en-US" altLang="zh-TW" dirty="0"/>
              <a:t>Open-Loop Gain: 94.89 dB</a:t>
            </a:r>
          </a:p>
          <a:p>
            <a:r>
              <a:rPr lang="en-US" altLang="zh-TW" dirty="0"/>
              <a:t>CMRR = 101.4dB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1972CC-5963-E66D-F308-6E85AF66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36E7D54-CCEC-B9CE-D3A2-CCA301785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14" y="3721951"/>
            <a:ext cx="2672615" cy="271592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FB3F188-E48E-C406-5EC9-6192B4826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403" y="3627640"/>
            <a:ext cx="8170683" cy="2904542"/>
          </a:xfrm>
          <a:prstGeom prst="rect">
            <a:avLst/>
          </a:prstGeom>
        </p:spPr>
      </p:pic>
      <p:sp>
        <p:nvSpPr>
          <p:cNvPr id="15" name="標題 1">
            <a:extLst>
              <a:ext uri="{FF2B5EF4-FFF2-40B4-BE49-F238E27FC236}">
                <a16:creationId xmlns:a16="http://schemas.microsoft.com/office/drawing/2014/main" id="{A2015983-EAB6-4210-1858-F60ACCF44DB8}"/>
              </a:ext>
            </a:extLst>
          </p:cNvPr>
          <p:cNvSpPr txBox="1">
            <a:spLocks/>
          </p:cNvSpPr>
          <p:nvPr/>
        </p:nvSpPr>
        <p:spPr>
          <a:xfrm>
            <a:off x="356103" y="0"/>
            <a:ext cx="11479794" cy="76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OPA – AC analysis</a:t>
            </a:r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95E18C8B-57E6-AA6D-12C4-013F13873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05"/>
          <a:stretch>
            <a:fillRect/>
          </a:stretch>
        </p:blipFill>
        <p:spPr>
          <a:xfrm>
            <a:off x="5072053" y="829830"/>
            <a:ext cx="6541033" cy="2642941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0B6EA0B6-6389-2273-C115-3F6F64FD2769}"/>
              </a:ext>
            </a:extLst>
          </p:cNvPr>
          <p:cNvSpPr txBox="1"/>
          <p:nvPr/>
        </p:nvSpPr>
        <p:spPr>
          <a:xfrm>
            <a:off x="4123504" y="4265849"/>
            <a:ext cx="189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Av = 94.89dB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6269E3A-DAC0-6814-214F-D6B2247E821C}"/>
              </a:ext>
            </a:extLst>
          </p:cNvPr>
          <p:cNvSpPr txBox="1"/>
          <p:nvPr/>
        </p:nvSpPr>
        <p:spPr>
          <a:xfrm>
            <a:off x="9344733" y="5001041"/>
            <a:ext cx="189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101.4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∘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89BB2A0-710F-7A23-FE79-A04482DDADDD}"/>
              </a:ext>
            </a:extLst>
          </p:cNvPr>
          <p:cNvSpPr txBox="1"/>
          <p:nvPr/>
        </p:nvSpPr>
        <p:spPr>
          <a:xfrm>
            <a:off x="6290109" y="1292252"/>
            <a:ext cx="189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CMRR = 101.4dB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537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889C-3941-B0D4-2586-9FE1197E9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A9D8C5-AD50-6D03-3D98-1DBA9A08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61DDACF2-B635-9DF0-EC79-FDD1FA69E4D4}"/>
              </a:ext>
            </a:extLst>
          </p:cNvPr>
          <p:cNvSpPr txBox="1">
            <a:spLocks/>
          </p:cNvSpPr>
          <p:nvPr/>
        </p:nvSpPr>
        <p:spPr>
          <a:xfrm>
            <a:off x="356103" y="0"/>
            <a:ext cx="11479794" cy="76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Compensator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405DDF7-4BBB-14BF-7713-4E74288C0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869" y="876562"/>
            <a:ext cx="5898931" cy="5695957"/>
          </a:xfrm>
          <a:prstGeom prst="rect">
            <a:avLst/>
          </a:prstGeom>
        </p:spPr>
      </p:pic>
      <p:sp>
        <p:nvSpPr>
          <p:cNvPr id="7" name="內容版面配置區 8">
            <a:extLst>
              <a:ext uri="{FF2B5EF4-FFF2-40B4-BE49-F238E27FC236}">
                <a16:creationId xmlns:a16="http://schemas.microsoft.com/office/drawing/2014/main" id="{437F5C5C-8B3B-0423-FAF7-C1D5E4DE7C97}"/>
              </a:ext>
            </a:extLst>
          </p:cNvPr>
          <p:cNvSpPr txBox="1">
            <a:spLocks/>
          </p:cNvSpPr>
          <p:nvPr/>
        </p:nvSpPr>
        <p:spPr>
          <a:xfrm>
            <a:off x="356103" y="101903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Type I compensator</a:t>
            </a:r>
          </a:p>
          <a:p>
            <a:r>
              <a:rPr lang="en-US" altLang="zh-TW" dirty="0"/>
              <a:t>Gain-Bandwidth: 120.8 kHz</a:t>
            </a:r>
          </a:p>
          <a:p>
            <a:r>
              <a:rPr lang="en-US" altLang="zh-TW" dirty="0"/>
              <a:t>Phase Margin: 47.19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∘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66250E-F476-D4B6-CDA7-0FFF1FC06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99" t="38672" r="1561" b="30127"/>
          <a:stretch>
            <a:fillRect/>
          </a:stretch>
        </p:blipFill>
        <p:spPr>
          <a:xfrm>
            <a:off x="772452" y="3139015"/>
            <a:ext cx="3704955" cy="294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8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1B401-D2E3-AEA7-16C6-C6202806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EB986A-C84C-3B9A-4B2C-5B3DB22B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852ABCB2-E0FF-60D1-75C7-16110C51441D}"/>
              </a:ext>
            </a:extLst>
          </p:cNvPr>
          <p:cNvSpPr txBox="1">
            <a:spLocks/>
          </p:cNvSpPr>
          <p:nvPr/>
        </p:nvSpPr>
        <p:spPr>
          <a:xfrm>
            <a:off x="356103" y="0"/>
            <a:ext cx="11479794" cy="76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Current Source – Schematic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56E247-444B-BAB7-DD46-CE153417E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437" y="2345120"/>
            <a:ext cx="7198944" cy="3937884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7DF4DAE-9AA8-5CA4-43DB-562627443926}"/>
              </a:ext>
            </a:extLst>
          </p:cNvPr>
          <p:cNvSpPr txBox="1">
            <a:spLocks/>
          </p:cNvSpPr>
          <p:nvPr/>
        </p:nvSpPr>
        <p:spPr>
          <a:xfrm>
            <a:off x="356103" y="7695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/>
              <a:t>Resistorless auto bias reference circuit</a:t>
            </a:r>
          </a:p>
          <a:p>
            <a:pPr lvl="1">
              <a:lnSpc>
                <a:spcPct val="150000"/>
              </a:lnSpc>
            </a:pPr>
            <a:r>
              <a:rPr lang="en-US" altLang="zh-TW"/>
              <a:t>Better Component Matching</a:t>
            </a:r>
          </a:p>
          <a:p>
            <a:pPr lvl="1">
              <a:lnSpc>
                <a:spcPct val="150000"/>
              </a:lnSpc>
            </a:pPr>
            <a:r>
              <a:rPr lang="en-US" altLang="zh-TW"/>
              <a:t>Save Space</a:t>
            </a:r>
          </a:p>
          <a:p>
            <a:pPr lvl="1">
              <a:lnSpc>
                <a:spcPct val="150000"/>
              </a:lnSpc>
            </a:pPr>
            <a:r>
              <a:rPr lang="en-US" altLang="zh-TW"/>
              <a:t>Low Power</a:t>
            </a:r>
          </a:p>
          <a:p>
            <a:pPr lvl="1">
              <a:lnSpc>
                <a:spcPct val="150000"/>
              </a:lnSpc>
            </a:pPr>
            <a:r>
              <a:rPr lang="en-US" altLang="zh-TW"/>
              <a:t>No Resistor Error</a:t>
            </a: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2" name="文字方塊 6">
            <a:extLst>
              <a:ext uri="{FF2B5EF4-FFF2-40B4-BE49-F238E27FC236}">
                <a16:creationId xmlns:a16="http://schemas.microsoft.com/office/drawing/2014/main" id="{79A76BC5-D372-BE80-E456-A8C295DBAF1B}"/>
              </a:ext>
            </a:extLst>
          </p:cNvPr>
          <p:cNvSpPr txBox="1"/>
          <p:nvPr/>
        </p:nvSpPr>
        <p:spPr>
          <a:xfrm>
            <a:off x="1624484" y="6473753"/>
            <a:ext cx="9887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</a:rPr>
              <a:t>H.J. </a:t>
            </a:r>
            <a:r>
              <a:rPr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Oguey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</a:rPr>
              <a:t>, D. </a:t>
            </a:r>
            <a:r>
              <a:rPr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Aebicsher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</a:rPr>
              <a:t>, CMOS Current Reference without Resistance,</a:t>
            </a:r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</a:rPr>
              <a:t>IEEE J. Solid-State Circuits, Volume 32, </a:t>
            </a:r>
            <a:r>
              <a:rPr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pag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</a:rPr>
              <a:t>. 1132-1135. 1977.</a:t>
            </a:r>
            <a:endParaRPr lang="zh-TW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519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E0F9E-BEC2-BE3A-76DA-6AA20898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8FBEBB-D53D-D56F-C0CD-64740ACA4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45E3DEDF-37F1-3FDB-C835-FC72FFC3EAF5}"/>
              </a:ext>
            </a:extLst>
          </p:cNvPr>
          <p:cNvSpPr txBox="1">
            <a:spLocks/>
          </p:cNvSpPr>
          <p:nvPr/>
        </p:nvSpPr>
        <p:spPr>
          <a:xfrm>
            <a:off x="356103" y="0"/>
            <a:ext cx="11479794" cy="76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Current Source – Simulation Result</a:t>
            </a:r>
            <a:endParaRPr lang="zh-TW" altLang="en-US" dirty="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C8FC3B39-4BE4-66E7-4C5B-5259F502A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03B16EF-208F-304A-5352-52B684A8D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798" y="1075713"/>
            <a:ext cx="5408954" cy="294404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1E30547-4D87-F382-5774-017E2F107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17" y="2622620"/>
            <a:ext cx="7517213" cy="3754968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cxnSp>
        <p:nvCxnSpPr>
          <p:cNvPr id="8" name="直線單箭頭接點 13">
            <a:extLst>
              <a:ext uri="{FF2B5EF4-FFF2-40B4-BE49-F238E27FC236}">
                <a16:creationId xmlns:a16="http://schemas.microsoft.com/office/drawing/2014/main" id="{4629385A-4EF7-2163-7DD4-3082015EC44A}"/>
              </a:ext>
            </a:extLst>
          </p:cNvPr>
          <p:cNvCxnSpPr/>
          <p:nvPr/>
        </p:nvCxnSpPr>
        <p:spPr>
          <a:xfrm>
            <a:off x="10902462" y="2110154"/>
            <a:ext cx="0" cy="131884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5819E09-6B04-11BC-0642-B9A9B53D69BA}"/>
                  </a:ext>
                </a:extLst>
              </p:cNvPr>
              <p:cNvSpPr txBox="1"/>
              <p:nvPr/>
            </p:nvSpPr>
            <p:spPr>
              <a:xfrm>
                <a:off x="10716329" y="3475975"/>
                <a:ext cx="3722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FFFF00"/>
                    </a:solidFill>
                  </a:rPr>
                  <a:t> </a:t>
                </a:r>
                <a:endParaRPr lang="zh-TW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5819E09-6B04-11BC-0642-B9A9B53D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6329" y="3475975"/>
                <a:ext cx="3722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10B71B92-E1D9-7196-66EC-286CB51DF00A}"/>
              </a:ext>
            </a:extLst>
          </p:cNvPr>
          <p:cNvCxnSpPr/>
          <p:nvPr/>
        </p:nvCxnSpPr>
        <p:spPr>
          <a:xfrm>
            <a:off x="3356150" y="2787253"/>
            <a:ext cx="0" cy="3491326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0A66AABE-4A24-A28A-E81D-6D93342C0DDF}"/>
              </a:ext>
            </a:extLst>
          </p:cNvPr>
          <p:cNvCxnSpPr/>
          <p:nvPr/>
        </p:nvCxnSpPr>
        <p:spPr>
          <a:xfrm>
            <a:off x="5377544" y="2791678"/>
            <a:ext cx="0" cy="3491326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9">
            <a:extLst>
              <a:ext uri="{FF2B5EF4-FFF2-40B4-BE49-F238E27FC236}">
                <a16:creationId xmlns:a16="http://schemas.microsoft.com/office/drawing/2014/main" id="{32820220-BDBB-814B-783D-858830B31DC5}"/>
              </a:ext>
            </a:extLst>
          </p:cNvPr>
          <p:cNvCxnSpPr>
            <a:cxnSpLocks/>
          </p:cNvCxnSpPr>
          <p:nvPr/>
        </p:nvCxnSpPr>
        <p:spPr>
          <a:xfrm>
            <a:off x="3356150" y="4532916"/>
            <a:ext cx="2021394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DE04500-3B0E-FA27-3944-398AEFED3525}"/>
                  </a:ext>
                </a:extLst>
              </p:cNvPr>
              <p:cNvSpPr txBox="1"/>
              <p:nvPr/>
            </p:nvSpPr>
            <p:spPr>
              <a:xfrm>
                <a:off x="3800125" y="4579892"/>
                <a:ext cx="11334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7.72 </m:t>
                      </m:r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𝑛𝑠</m:t>
                      </m:r>
                    </m:oMath>
                  </m:oMathPara>
                </a14:m>
                <a:endParaRPr lang="zh-TW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DE04500-3B0E-FA27-3944-398AEFED3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125" y="4579892"/>
                <a:ext cx="1133445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30B4C0F-467D-84DD-8553-3F7EA0118380}"/>
                  </a:ext>
                </a:extLst>
              </p:cNvPr>
              <p:cNvSpPr txBox="1"/>
              <p:nvPr/>
            </p:nvSpPr>
            <p:spPr>
              <a:xfrm>
                <a:off x="6666306" y="2874988"/>
                <a:ext cx="11334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300.1 </m:t>
                      </m:r>
                      <m:r>
                        <a:rPr lang="zh-TW" alt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30B4C0F-467D-84DD-8553-3F7EA0118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306" y="2874988"/>
                <a:ext cx="1133445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03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98300-F1D1-0D08-4CAC-39D79EAA3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F45E1B-2D3C-2D2D-939F-B28166D34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Transistor Level Block in SIMPLS Simulation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675CED-0EDA-C544-FC59-6FE8BE00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28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CADEEE8-2896-A2D9-B1E1-8B5298E2C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517" y="2258935"/>
            <a:ext cx="4363895" cy="397560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4FBA8A4-2259-A78F-5384-55A7D24E9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130" y="2258935"/>
            <a:ext cx="4400264" cy="3971294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C7DC417-C42C-3DE0-A53B-3E0885203910}"/>
              </a:ext>
            </a:extLst>
          </p:cNvPr>
          <p:cNvSpPr txBox="1"/>
          <p:nvPr/>
        </p:nvSpPr>
        <p:spPr>
          <a:xfrm>
            <a:off x="3626069" y="6287288"/>
            <a:ext cx="1065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4A</a:t>
            </a:r>
            <a:r>
              <a:rPr lang="zh-TW" altLang="en-US" b="1" dirty="0"/>
              <a:t> </a:t>
            </a:r>
            <a:r>
              <a:rPr lang="en-US" altLang="zh-TW" b="1" dirty="0"/>
              <a:t>- 1A </a:t>
            </a:r>
            <a:endParaRPr lang="zh-TW" altLang="en-US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A1413D3-900D-A80F-6714-A55D62B64112}"/>
              </a:ext>
            </a:extLst>
          </p:cNvPr>
          <p:cNvSpPr txBox="1"/>
          <p:nvPr/>
        </p:nvSpPr>
        <p:spPr>
          <a:xfrm>
            <a:off x="8438387" y="6309360"/>
            <a:ext cx="1065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1A</a:t>
            </a:r>
            <a:r>
              <a:rPr lang="zh-TW" altLang="en-US" b="1" dirty="0"/>
              <a:t> </a:t>
            </a:r>
            <a:r>
              <a:rPr lang="en-US" altLang="zh-TW" b="1" dirty="0"/>
              <a:t>- 4A </a:t>
            </a:r>
            <a:endParaRPr lang="zh-TW" altLang="en-US" b="1" dirty="0"/>
          </a:p>
        </p:txBody>
      </p:sp>
      <p:sp>
        <p:nvSpPr>
          <p:cNvPr id="14" name="內容版面配置區 8">
            <a:extLst>
              <a:ext uri="{FF2B5EF4-FFF2-40B4-BE49-F238E27FC236}">
                <a16:creationId xmlns:a16="http://schemas.microsoft.com/office/drawing/2014/main" id="{48CCD118-EEE2-B3EE-6741-DC47092EF39F}"/>
              </a:ext>
            </a:extLst>
          </p:cNvPr>
          <p:cNvSpPr txBox="1">
            <a:spLocks/>
          </p:cNvSpPr>
          <p:nvPr/>
        </p:nvSpPr>
        <p:spPr>
          <a:xfrm>
            <a:off x="356103" y="101903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Step-down load transient: peak at 1.210V, settling time = 0.04ms</a:t>
            </a:r>
          </a:p>
          <a:p>
            <a:r>
              <a:rPr lang="en-US" altLang="zh-TW" dirty="0"/>
              <a:t>Step-up load transient: peak at 1.197V, settling time = 0.1ms</a:t>
            </a:r>
          </a:p>
        </p:txBody>
      </p:sp>
    </p:spTree>
    <p:extLst>
      <p:ext uri="{BB962C8B-B14F-4D97-AF65-F5344CB8AC3E}">
        <p14:creationId xmlns:p14="http://schemas.microsoft.com/office/powerpoint/2010/main" val="433316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AFB25-27A3-BBC2-D4B8-7D36F2145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7FBB83-08AB-8F76-AF5F-7E36F9646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F5BC7D-83BD-2677-702B-634A1F8AB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spec.</a:t>
            </a:r>
            <a:endParaRPr lang="en" altLang="zh-TW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 model simulation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 subblock analysis and simulation</a:t>
            </a: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zh-TW" altLang="en-US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6B10E5-15D8-26A4-1569-314D60EC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29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094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5B616-E32B-7BB3-3849-847CE16F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89D181-8647-EA7E-08A7-F9EB53904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2DEF38-8E15-7B10-D818-71933F9F7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b="1" dirty="0">
                <a:cs typeface="Arial" panose="020B0604020202020204" pitchFamily="34" charset="0"/>
              </a:rPr>
              <a:t>Successfully designed and verified the critical analog sub-blocks for a V</a:t>
            </a:r>
            <a:r>
              <a:rPr lang="en-US" altLang="zh-TW" b="1" baseline="30000" dirty="0">
                <a:cs typeface="Arial" panose="020B0604020202020204" pitchFamily="34" charset="0"/>
              </a:rPr>
              <a:t>2</a:t>
            </a:r>
            <a:r>
              <a:rPr lang="en-US" altLang="zh-TW" b="1" dirty="0">
                <a:cs typeface="Arial" panose="020B0604020202020204" pitchFamily="34" charset="0"/>
              </a:rPr>
              <a:t> Constant ON-Time controlled Buck converter at the transistor level using TSMC 16nm </a:t>
            </a:r>
            <a:r>
              <a:rPr lang="en-US" altLang="zh-TW" b="1" dirty="0" err="1">
                <a:cs typeface="Arial" panose="020B0604020202020204" pitchFamily="34" charset="0"/>
              </a:rPr>
              <a:t>FinFET</a:t>
            </a:r>
            <a:r>
              <a:rPr lang="en-US" altLang="zh-TW" b="1" dirty="0">
                <a:cs typeface="Arial" panose="020B0604020202020204" pitchFamily="34" charset="0"/>
              </a:rPr>
              <a:t> technology.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TW" b="1" dirty="0">
                <a:cs typeface="Arial" panose="020B0604020202020204" pitchFamily="34" charset="0"/>
              </a:rPr>
              <a:t>Successful Transistor-Level Design and Verification of Key Sub-Blocks</a:t>
            </a:r>
            <a:r>
              <a:rPr lang="en-US" altLang="zh-TW" dirty="0"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TW" sz="2800" b="1" dirty="0">
                <a:cs typeface="Arial" panose="020B0604020202020204" pitchFamily="34" charset="0"/>
              </a:rPr>
              <a:t>Folded </a:t>
            </a:r>
            <a:r>
              <a:rPr lang="en-US" altLang="zh-TW" sz="2800" b="1" dirty="0" err="1">
                <a:cs typeface="Arial" panose="020B0604020202020204" pitchFamily="34" charset="0"/>
              </a:rPr>
              <a:t>Cascode</a:t>
            </a:r>
            <a:r>
              <a:rPr lang="en-US" altLang="zh-TW" sz="2800" b="1" dirty="0">
                <a:cs typeface="Arial" panose="020B0604020202020204" pitchFamily="34" charset="0"/>
              </a:rPr>
              <a:t> OPA</a:t>
            </a:r>
            <a:r>
              <a:rPr lang="en-US" altLang="zh-TW" sz="2800" dirty="0">
                <a:cs typeface="Arial" panose="020B0604020202020204" pitchFamily="34" charset="0"/>
              </a:rPr>
              <a:t>: </a:t>
            </a:r>
            <a:r>
              <a:rPr lang="en-US" altLang="zh-TW" dirty="0">
                <a:cs typeface="Arial" panose="020B0604020202020204" pitchFamily="34" charset="0"/>
              </a:rPr>
              <a:t>Achieved a high open-loop gain of 94.89 dB and phase margin of 101.4°.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TW" sz="2800" b="1" dirty="0">
                <a:cs typeface="Arial" panose="020B0604020202020204" pitchFamily="34" charset="0"/>
              </a:rPr>
              <a:t>Type I Compensator</a:t>
            </a:r>
            <a:r>
              <a:rPr lang="en-US" altLang="zh-TW" sz="2800" dirty="0">
                <a:cs typeface="Arial" panose="020B0604020202020204" pitchFamily="34" charset="0"/>
              </a:rPr>
              <a:t>: </a:t>
            </a:r>
            <a:r>
              <a:rPr lang="en-US" altLang="zh-TW" dirty="0">
                <a:cs typeface="Arial" panose="020B0604020202020204" pitchFamily="34" charset="0"/>
              </a:rPr>
              <a:t>Confirmed stable loop response with a Gain-Bandwidth Product of 120.8 kHz.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TW" sz="2800" b="1" dirty="0" err="1">
                <a:cs typeface="Arial" panose="020B0604020202020204" pitchFamily="34" charset="0"/>
              </a:rPr>
              <a:t>Resistorless</a:t>
            </a:r>
            <a:r>
              <a:rPr lang="en-US" altLang="zh-TW" sz="2800" b="1" dirty="0">
                <a:cs typeface="Arial" panose="020B0604020202020204" pitchFamily="34" charset="0"/>
              </a:rPr>
              <a:t> Current Sources</a:t>
            </a:r>
            <a:r>
              <a:rPr lang="en-US" altLang="zh-TW" sz="2800" dirty="0">
                <a:cs typeface="Arial" panose="020B0604020202020204" pitchFamily="34" charset="0"/>
              </a:rPr>
              <a:t>: </a:t>
            </a:r>
            <a:r>
              <a:rPr lang="en-US" altLang="zh-TW" dirty="0">
                <a:cs typeface="Arial" panose="020B0604020202020204" pitchFamily="34" charset="0"/>
              </a:rPr>
              <a:t>Successfully generated reference currents of 300.1 </a:t>
            </a:r>
            <a:r>
              <a:rPr lang="en-US" altLang="zh-TW" dirty="0" err="1">
                <a:cs typeface="Arial" panose="020B0604020202020204" pitchFamily="34" charset="0"/>
              </a:rPr>
              <a:t>μA</a:t>
            </a:r>
            <a:r>
              <a:rPr lang="en-US" altLang="zh-TW" dirty="0">
                <a:cs typeface="Arial" panose="020B0604020202020204" pitchFamily="34" charset="0"/>
              </a:rPr>
              <a:t> without utilizing physical resistors.</a:t>
            </a:r>
            <a:endParaRPr lang="zh-TW" altLang="en-US" sz="2800" dirty="0"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DA487D-0F39-0A7F-775C-3274F3FD7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30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972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2C1B8-66A8-666E-E416-5A0AB043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57D689-3DDB-245A-FAC4-EE8C181C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58668B-C700-5838-5B4E-4D12714F5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Li, Jian, and Fred C. Lee. "Modeling of ${\rm V}^{2} $ Current-Mode Control." IEEE Transactions on Circuits and Systems I: Regular Papers 57.9 (2010): 2552-2563.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H.J. </a:t>
            </a:r>
            <a:r>
              <a:rPr lang="en-US" altLang="zh-TW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Oguey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D. </a:t>
            </a:r>
            <a:r>
              <a:rPr lang="en-US" altLang="zh-TW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Aebicsher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CMOS Current Reference without Resistance, IEEE J. Solid-State Circuits, Volume 32, </a:t>
            </a:r>
            <a:r>
              <a:rPr lang="en-US" altLang="zh-TW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1132-1135. 1977.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029062-579F-E7FA-F49C-E8EF1CBE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31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5714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77435</TotalTime>
  <Words>1078</Words>
  <Application>Microsoft Macintosh PowerPoint</Application>
  <PresentationFormat>寬螢幕</PresentationFormat>
  <Paragraphs>269</Paragraphs>
  <Slides>31</Slides>
  <Notes>2</Notes>
  <HiddenSlides>1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1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Wingdings</vt:lpstr>
      <vt:lpstr>1_Office 佈景主題</vt:lpstr>
      <vt:lpstr>Equation</vt:lpstr>
      <vt:lpstr>PEIC Final Project  Project plan and topics</vt:lpstr>
      <vt:lpstr>Outline</vt:lpstr>
      <vt:lpstr>Outline</vt:lpstr>
      <vt:lpstr>Project Plan</vt:lpstr>
      <vt:lpstr>Challenge of COT</vt:lpstr>
      <vt:lpstr>Outline</vt:lpstr>
      <vt:lpstr>PowerPoint 簡報</vt:lpstr>
      <vt:lpstr>Outline</vt:lpstr>
      <vt:lpstr>System Architecture</vt:lpstr>
      <vt:lpstr>Behavior model simulation (SIMPLIS)</vt:lpstr>
      <vt:lpstr>V2COT Small-Signal Control to Output Transfer Function</vt:lpstr>
      <vt:lpstr>Gvc under different ramp slope</vt:lpstr>
      <vt:lpstr>Gvc under different ramp slope</vt:lpstr>
      <vt:lpstr>Compensator Design </vt:lpstr>
      <vt:lpstr>Loop Gain Transfer Function</vt:lpstr>
      <vt:lpstr>Behavior Model Simulation</vt:lpstr>
      <vt:lpstr>Behavior Model Simulation – Load transient (4A1A)</vt:lpstr>
      <vt:lpstr>Behavior Model Simulation – Load transient (1A4A)</vt:lpstr>
      <vt:lpstr>Outline</vt:lpstr>
      <vt:lpstr>Transistor-level subblock</vt:lpstr>
      <vt:lpstr>High Speed Comparator </vt:lpstr>
      <vt:lpstr>High Speed Comparator - Simulation Result </vt:lpstr>
      <vt:lpstr>PowerPoint 簡報</vt:lpstr>
      <vt:lpstr>PowerPoint 簡報</vt:lpstr>
      <vt:lpstr>PowerPoint 簡報</vt:lpstr>
      <vt:lpstr>PowerPoint 簡報</vt:lpstr>
      <vt:lpstr>PowerPoint 簡報</vt:lpstr>
      <vt:lpstr>Transistor Level Block in SIMPLS Simulation</vt:lpstr>
      <vt:lpstr>Outline</vt:lpstr>
      <vt:lpstr>Conclusion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張育誠</dc:creator>
  <cp:lastModifiedBy>張顥譽</cp:lastModifiedBy>
  <cp:revision>815</cp:revision>
  <dcterms:created xsi:type="dcterms:W3CDTF">2020-07-04T17:19:57Z</dcterms:created>
  <dcterms:modified xsi:type="dcterms:W3CDTF">2026-06-10T14:39:29Z</dcterms:modified>
</cp:coreProperties>
</file>